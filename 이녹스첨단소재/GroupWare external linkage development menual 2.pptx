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27"/>
  </p:notesMasterIdLst>
  <p:sldIdLst>
    <p:sldId id="256" r:id="rId2"/>
    <p:sldId id="257" r:id="rId3"/>
    <p:sldId id="271" r:id="rId4"/>
    <p:sldId id="259" r:id="rId5"/>
    <p:sldId id="260" r:id="rId6"/>
    <p:sldId id="261" r:id="rId7"/>
    <p:sldId id="267" r:id="rId8"/>
    <p:sldId id="263" r:id="rId9"/>
    <p:sldId id="284" r:id="rId10"/>
    <p:sldId id="265" r:id="rId11"/>
    <p:sldId id="268" r:id="rId12"/>
    <p:sldId id="272" r:id="rId13"/>
    <p:sldId id="274" r:id="rId14"/>
    <p:sldId id="275" r:id="rId15"/>
    <p:sldId id="276" r:id="rId16"/>
    <p:sldId id="277" r:id="rId17"/>
    <p:sldId id="278" r:id="rId18"/>
    <p:sldId id="269" r:id="rId19"/>
    <p:sldId id="273" r:id="rId20"/>
    <p:sldId id="279" r:id="rId21"/>
    <p:sldId id="280" r:id="rId22"/>
    <p:sldId id="281" r:id="rId23"/>
    <p:sldId id="282" r:id="rId24"/>
    <p:sldId id="283" r:id="rId25"/>
    <p:sldId id="270" r:id="rId26"/>
  </p:sldIdLst>
  <p:sldSz cx="9144000" cy="6858000" type="screen4x3"/>
  <p:notesSz cx="6858000" cy="9144000"/>
  <p:defaultTextStyle>
    <a:defPPr>
      <a:defRPr lang="en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708" autoAdjust="0"/>
  </p:normalViewPr>
  <p:slideViewPr>
    <p:cSldViewPr>
      <p:cViewPr varScale="1">
        <p:scale>
          <a:sx n="89" d="100"/>
          <a:sy n="89" d="100"/>
        </p:scale>
        <p:origin x="128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D5DB9-2121-427E-90CA-12B7A3FEBC15}" type="datetimeFigureOut">
              <a:rPr lang="ko-KR" altLang="en-US" smtClean="0"/>
              <a:t>2019-05-13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329E5-1045-4192-ABD9-63102C706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147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6329E5-1045-4192-ABD9-63102C706C7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239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2019-05-13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2019-05-13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2019-05-13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2019-05-13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2019-05-13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2019-05-13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2019-05-13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2019-05-13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2019-05-13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2019-05-13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2019-05-13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2019-05-13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1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xmlns:a="http://schemas.openxmlformats.org/drawingml/2006/main" algn="ctr"/>
            <a:r xmlns:a="http://schemas.openxmlformats.org/drawingml/2006/main">
              <a:rPr lang="en" altLang="ko-KR" b="1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SystemEver </a:t>
            </a:r>
            <a:br xmlns:a="http://schemas.openxmlformats.org/drawingml/2006/main">
              <a:rPr lang="en-US" altLang="ko-KR" b="1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 xmlns:a="http://schemas.openxmlformats.org/drawingml/2006/main">
              <a:rPr lang="en" altLang="en-US" b="1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electronic approval</a:t>
            </a:r>
            <a:endParaRPr xmlns:a="http://schemas.openxmlformats.org/drawingml/2006/main" lang="ko-KR" altLang="en-US" b="1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 xmlns:a="http://schemas.openxmlformats.org/drawingml/2006/main">
              <a:rPr lang="en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Already Gold</a:t>
            </a:r>
            <a:endParaRPr xmlns:a="http://schemas.openxmlformats.org/drawingml/2006/main" lang="en-US" altLang="ko-KR" sz="2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 xmlns:a="http://schemas.openxmlformats.org/drawingml/2006/main">
              <a:rPr lang="en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November 27, 2015</a:t>
            </a:r>
            <a:endParaRPr xmlns:a="http://schemas.openxmlformats.org/drawingml/2006/main"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489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0832" y="533400"/>
            <a:ext cx="8229600" cy="990600"/>
          </a:xfrm>
        </p:spPr>
        <p:txBody>
          <a:bodyPr>
            <a:normAutofit/>
          </a:bodyPr>
          <a:lstStyle/>
          <a:p>
            <a:r xmlns:a="http://schemas.openxmlformats.org/drawingml/2006/main">
              <a:rPr lang="en" altLang="en-US" sz="2800" dirty="0" smtClean="0">
                <a:solidFill>
                  <a:schemeClr val="accent1">
                    <a:lumMod val="50000"/>
                  </a:schemeClr>
                </a:solidFill>
              </a:rPr>
              <a:t>Interrelationship between </a:t>
            </a:r>
            <a:endParaRPr xmlns:a="http://schemas.openxmlformats.org/drawingml/2006/main" lang="ko-KR" altLang="en-US" sz="2800" dirty="0">
              <a:solidFill>
                <a:schemeClr val="accent1">
                  <a:lumMod val="50000"/>
                </a:schemeClr>
              </a:solidFill>
            </a:endParaRPr>
            <a:r xmlns:a="http://schemas.openxmlformats.org/drawingml/2006/main">
              <a:rPr lang="en" altLang="ko-KR" sz="2800" dirty="0" smtClean="0">
                <a:solidFill>
                  <a:schemeClr val="accent1">
                    <a:lumMod val="50000"/>
                  </a:schemeClr>
                </a:solidFill>
              </a:rPr>
              <a:t>ERP and groupware</a:t>
            </a:r>
          </a:p>
        </p:txBody>
      </p:sp>
      <p:grpSp>
        <p:nvGrpSpPr>
          <p:cNvPr id="4" name="그룹 213"/>
          <p:cNvGrpSpPr>
            <a:grpSpLocks/>
          </p:cNvGrpSpPr>
          <p:nvPr/>
        </p:nvGrpSpPr>
        <p:grpSpPr bwMode="auto">
          <a:xfrm>
            <a:off x="266700" y="1655340"/>
            <a:ext cx="8591550" cy="4725988"/>
            <a:chOff x="266700" y="1571611"/>
            <a:chExt cx="8591580" cy="4725233"/>
          </a:xfrm>
        </p:grpSpPr>
        <p:cxnSp>
          <p:nvCxnSpPr>
            <p:cNvPr id="5" name="직선 연결선 189"/>
            <p:cNvCxnSpPr>
              <a:cxnSpLocks noChangeShapeType="1"/>
            </p:cNvCxnSpPr>
            <p:nvPr/>
          </p:nvCxnSpPr>
          <p:spPr bwMode="auto">
            <a:xfrm rot="5400000">
              <a:off x="-2084818" y="3926306"/>
              <a:ext cx="4725233" cy="1584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직선 연결선 190"/>
            <p:cNvCxnSpPr>
              <a:cxnSpLocks noChangeShapeType="1"/>
            </p:cNvCxnSpPr>
            <p:nvPr/>
          </p:nvCxnSpPr>
          <p:spPr bwMode="auto">
            <a:xfrm rot="5400000">
              <a:off x="6500032" y="3928272"/>
              <a:ext cx="4714908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직선 연결선 207"/>
            <p:cNvCxnSpPr>
              <a:cxnSpLocks noChangeShapeType="1"/>
            </p:cNvCxnSpPr>
            <p:nvPr/>
          </p:nvCxnSpPr>
          <p:spPr bwMode="auto">
            <a:xfrm>
              <a:off x="266700" y="6281738"/>
              <a:ext cx="8591580" cy="637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직선 연결선 209"/>
            <p:cNvCxnSpPr>
              <a:cxnSpLocks noChangeShapeType="1"/>
            </p:cNvCxnSpPr>
            <p:nvPr/>
          </p:nvCxnSpPr>
          <p:spPr bwMode="auto">
            <a:xfrm rot="5400000">
              <a:off x="-921134" y="3941349"/>
              <a:ext cx="4685510" cy="47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" name="Line 20"/>
          <p:cNvSpPr>
            <a:spLocks noChangeShapeType="1"/>
          </p:cNvSpPr>
          <p:nvPr/>
        </p:nvSpPr>
        <p:spPr bwMode="auto">
          <a:xfrm>
            <a:off x="285750" y="4227090"/>
            <a:ext cx="858361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ea"/>
              <a:ea typeface="+mn-ea"/>
            </a:endParaRPr>
          </a:p>
        </p:txBody>
      </p:sp>
      <p:cxnSp>
        <p:nvCxnSpPr>
          <p:cNvPr id="10" name="직선 연결선 64"/>
          <p:cNvCxnSpPr>
            <a:cxnSpLocks noChangeShapeType="1"/>
          </p:cNvCxnSpPr>
          <p:nvPr/>
        </p:nvCxnSpPr>
        <p:spPr bwMode="auto">
          <a:xfrm>
            <a:off x="285750" y="1655340"/>
            <a:ext cx="85725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61"/>
          <p:cNvSpPr>
            <a:spLocks noChangeArrowheads="1"/>
          </p:cNvSpPr>
          <p:nvPr/>
        </p:nvSpPr>
        <p:spPr bwMode="auto">
          <a:xfrm>
            <a:off x="285750" y="1869653"/>
            <a:ext cx="1143000" cy="714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xmlns:a="http://schemas.openxmlformats.org/drawingml/2006/main" algn="ctr" fontAlgn="auto">
              <a:spcBef>
                <a:spcPts val="0"/>
              </a:spcBef>
              <a:spcAft>
                <a:spcPts val="0"/>
              </a:spcAft>
              <a:defRPr/>
            </a:pPr>
            <a:r xmlns:a="http://schemas.openxmlformats.org/drawingml/2006/main">
              <a:rPr lang="en" altLang="ko-KR" sz="1400" b="1" dirty="0" smtClean="0">
                <a:solidFill>
                  <a:schemeClr val="accent1">
                    <a:lumMod val="50000"/>
                  </a:schemeClr>
                </a:solidFill>
                <a:latin typeface="+mn-ea"/>
              </a:rPr>
              <a:t>ERP</a:t>
            </a:r>
            <a:endParaRPr xmlns:a="http://schemas.openxmlformats.org/drawingml/2006/main" kumimoji="0" lang="ko-KR" altLang="en-US" sz="1400" b="1" dirty="0">
              <a:solidFill>
                <a:schemeClr val="accent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2" name="Rectangle 61"/>
          <p:cNvSpPr>
            <a:spLocks noChangeArrowheads="1"/>
          </p:cNvSpPr>
          <p:nvPr/>
        </p:nvSpPr>
        <p:spPr bwMode="auto">
          <a:xfrm>
            <a:off x="285750" y="3727028"/>
            <a:ext cx="1143000" cy="714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b="1" dirty="0">
              <a:latin typeface="+mn-ea"/>
              <a:ea typeface="+mn-ea"/>
            </a:endParaRPr>
          </a:p>
        </p:txBody>
      </p:sp>
      <p:sp>
        <p:nvSpPr>
          <p:cNvPr id="13" name="Rectangle 61"/>
          <p:cNvSpPr>
            <a:spLocks noChangeArrowheads="1"/>
          </p:cNvSpPr>
          <p:nvPr/>
        </p:nvSpPr>
        <p:spPr bwMode="auto">
          <a:xfrm>
            <a:off x="285750" y="4369965"/>
            <a:ext cx="1143000" cy="714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xmlns:a="http://schemas.openxmlformats.org/drawingml/2006/main" algn="ctr" fontAlgn="auto">
              <a:spcBef>
                <a:spcPts val="0"/>
              </a:spcBef>
              <a:spcAft>
                <a:spcPts val="0"/>
              </a:spcAft>
              <a:defRPr/>
            </a:pPr>
            <a:r xmlns:a="http://schemas.openxmlformats.org/drawingml/2006/main">
              <a:rPr kumimoji="0" lang="en" altLang="en-US" sz="1400" b="1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Groupware</a:t>
            </a:r>
          </a:p>
        </p:txBody>
      </p:sp>
      <p:sp>
        <p:nvSpPr>
          <p:cNvPr id="14" name="Rectangle 72"/>
          <p:cNvSpPr>
            <a:spLocks noChangeArrowheads="1"/>
          </p:cNvSpPr>
          <p:nvPr/>
        </p:nvSpPr>
        <p:spPr bwMode="auto">
          <a:xfrm>
            <a:off x="6169306" y="1726777"/>
            <a:ext cx="948084" cy="43180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xmlns:a="http://schemas.openxmlformats.org/drawingml/2006/main" algn="ctr" eaLnBrk="1" hangingPunct="1"/>
            <a:r xmlns:a="http://schemas.openxmlformats.org/drawingml/2006/main">
              <a:rPr lang="en" altLang="ko-KR" sz="12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1. </a:t>
            </a:r>
            <a:r xmlns:a="http://schemas.openxmlformats.org/drawingml/2006/main">
              <a:rPr lang="en" altLang="en-US" sz="12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Confirmation management</a:t>
            </a:r>
            <a:endParaRPr xmlns:a="http://schemas.openxmlformats.org/drawingml/2006/main" lang="ko-KR" altLang="en-US" sz="1200" b="1" dirty="0">
              <a:solidFill>
                <a:schemeClr val="accent1">
                  <a:lumMod val="50000"/>
                </a:schemeClr>
              </a:solidFill>
              <a:latin typeface="굴림" charset="-127"/>
            </a:endParaRPr>
          </a:p>
        </p:txBody>
      </p:sp>
      <p:sp>
        <p:nvSpPr>
          <p:cNvPr id="15" name="Rectangle 72"/>
          <p:cNvSpPr>
            <a:spLocks noChangeArrowheads="1"/>
          </p:cNvSpPr>
          <p:nvPr/>
        </p:nvSpPr>
        <p:spPr bwMode="auto">
          <a:xfrm>
            <a:off x="1547664" y="1728365"/>
            <a:ext cx="1563809" cy="43180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xmlns:a="http://schemas.openxmlformats.org/drawingml/2006/main" algn="ctr" eaLnBrk="1" hangingPunct="1"/>
            <a:r xmlns:a="http://schemas.openxmlformats.org/drawingml/2006/main">
              <a:rPr lang="en" altLang="ko-KR" sz="12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2. </a:t>
            </a:r>
            <a:r xmlns:a="http://schemas.openxmlformats.org/drawingml/2006/main">
              <a:rPr lang="en" altLang="en-US" sz="12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Settings </a:t>
            </a:r>
            <a:r xmlns:a="http://schemas.openxmlformats.org/drawingml/2006/main">
              <a:rPr lang="en" altLang="ko-KR" sz="12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- </a:t>
            </a:r>
            <a:r xmlns:a="http://schemas.openxmlformats.org/drawingml/2006/main">
              <a:rPr lang="en" altLang="en-US" sz="12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Groupware</a:t>
            </a:r>
            <a:endParaRPr xmlns:a="http://schemas.openxmlformats.org/drawingml/2006/main" lang="ko-KR" altLang="en-US" sz="1200" b="1" dirty="0">
              <a:solidFill>
                <a:schemeClr val="accent1">
                  <a:lumMod val="50000"/>
                </a:schemeClr>
              </a:solidFill>
              <a:latin typeface="굴림" charset="-127"/>
            </a:endParaRPr>
          </a:p>
        </p:txBody>
      </p:sp>
      <p:sp>
        <p:nvSpPr>
          <p:cNvPr id="16" name="Rectangle 72"/>
          <p:cNvSpPr>
            <a:spLocks noChangeArrowheads="1"/>
          </p:cNvSpPr>
          <p:nvPr/>
        </p:nvSpPr>
        <p:spPr bwMode="auto">
          <a:xfrm>
            <a:off x="3624087" y="1726778"/>
            <a:ext cx="2143125" cy="43180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xmlns:a="http://schemas.openxmlformats.org/drawingml/2006/main" algn="ctr" eaLnBrk="1" hangingPunct="1"/>
            <a:r xmlns:a="http://schemas.openxmlformats.org/drawingml/2006/main">
              <a:rPr lang="en" altLang="ko-KR" sz="12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3. </a:t>
            </a:r>
            <a:r xmlns:a="http://schemas.openxmlformats.org/drawingml/2006/main">
              <a:rPr lang="en" altLang="en-US" sz="12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Settings </a:t>
            </a:r>
            <a:r xmlns:a="http://schemas.openxmlformats.org/drawingml/2006/main">
              <a:rPr lang="en" altLang="ko-KR" sz="12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- </a:t>
            </a:r>
            <a:r xmlns:a="http://schemas.openxmlformats.org/drawingml/2006/main">
              <a:rPr lang="en" altLang="en-US" sz="12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Electronic Approval Document Settings</a:t>
            </a:r>
            <a:endParaRPr xmlns:a="http://schemas.openxmlformats.org/drawingml/2006/main" lang="ko-KR" altLang="en-US" sz="1200" b="1" dirty="0">
              <a:solidFill>
                <a:schemeClr val="accent1">
                  <a:lumMod val="50000"/>
                </a:schemeClr>
              </a:solidFill>
              <a:latin typeface="굴림" charset="-127"/>
            </a:endParaRPr>
          </a:p>
        </p:txBody>
      </p:sp>
      <p:sp>
        <p:nvSpPr>
          <p:cNvPr id="17" name="Rectangle 72"/>
          <p:cNvSpPr>
            <a:spLocks noChangeArrowheads="1"/>
          </p:cNvSpPr>
          <p:nvPr/>
        </p:nvSpPr>
        <p:spPr bwMode="auto">
          <a:xfrm>
            <a:off x="3671888" y="3512715"/>
            <a:ext cx="1225550" cy="431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xmlns:a="http://schemas.openxmlformats.org/drawingml/2006/main" algn="ctr" eaLnBrk="1" hangingPunct="1"/>
            <a:r xmlns:a="http://schemas.openxmlformats.org/drawingml/2006/main">
              <a:rPr lang="en" altLang="en-US" sz="1200" b="1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Payment request</a:t>
            </a:r>
          </a:p>
        </p:txBody>
      </p:sp>
      <p:sp>
        <p:nvSpPr>
          <p:cNvPr id="18" name="Rectangle 72"/>
          <p:cNvSpPr>
            <a:spLocks noChangeArrowheads="1"/>
          </p:cNvSpPr>
          <p:nvPr/>
        </p:nvSpPr>
        <p:spPr bwMode="auto">
          <a:xfrm>
            <a:off x="3671888" y="4546178"/>
            <a:ext cx="1225550" cy="431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xmlns:a="http://schemas.openxmlformats.org/drawingml/2006/main" algn="ctr" eaLnBrk="1" hangingPunct="1"/>
            <a:r xmlns:a="http://schemas.openxmlformats.org/drawingml/2006/main">
              <a:rPr lang="en" altLang="en-US" sz="1200" b="1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Payment</a:t>
            </a:r>
          </a:p>
        </p:txBody>
      </p:sp>
      <p:sp>
        <p:nvSpPr>
          <p:cNvPr id="19" name="Rectangle 72"/>
          <p:cNvSpPr>
            <a:spLocks noChangeArrowheads="1"/>
          </p:cNvSpPr>
          <p:nvPr/>
        </p:nvSpPr>
        <p:spPr bwMode="auto">
          <a:xfrm>
            <a:off x="3667125" y="5441528"/>
            <a:ext cx="1225550" cy="431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algn="ctr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xmlns:a="http://schemas.openxmlformats.org/drawingml/2006/main" algn="ctr" eaLnBrk="1" hangingPunct="1"/>
            <a:r xmlns:a="http://schemas.openxmlformats.org/drawingml/2006/main">
              <a:rPr lang="en" altLang="en-US" sz="1200" b="1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Final approval</a:t>
            </a:r>
          </a:p>
        </p:txBody>
      </p:sp>
      <p:sp>
        <p:nvSpPr>
          <p:cNvPr id="20" name="Rectangle 137"/>
          <p:cNvSpPr>
            <a:spLocks noChangeArrowheads="1"/>
          </p:cNvSpPr>
          <p:nvPr/>
        </p:nvSpPr>
        <p:spPr bwMode="auto">
          <a:xfrm>
            <a:off x="2466975" y="2512590"/>
            <a:ext cx="3643313" cy="642938"/>
          </a:xfrm>
          <a:prstGeom prst="rect">
            <a:avLst/>
          </a:prstGeom>
          <a:noFill/>
          <a:ln w="28575" algn="ctr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xmlns:a="http://schemas.openxmlformats.org/drawingml/2006/main" eaLnBrk="1" hangingPunct="1">
              <a:lnSpc>
                <a:spcPct val="150000"/>
              </a:lnSpc>
            </a:pP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User documentation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(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currently configured </a:t>
            </a:r>
            <a:r xmlns:a="http://schemas.openxmlformats.org/drawingml/2006/main">
              <a:rPr lang="en" altLang="en-US" sz="1100" b="1" dirty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standard document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)</a:t>
            </a:r>
            <a:endParaRPr xmlns:a="http://schemas.openxmlformats.org/drawingml/2006/main" lang="ko-KR" altLang="en-US" sz="1100" b="1" dirty="0">
              <a:solidFill>
                <a:schemeClr val="accent1">
                  <a:lumMod val="50000"/>
                </a:schemeClr>
              </a:solidFill>
              <a:latin typeface="굴림" charset="-127"/>
            </a:endParaRPr>
          </a:p>
          <a:p>
            <a:pPr xmlns:a="http://schemas.openxmlformats.org/drawingml/2006/main" algn="l" eaLnBrk="1" hangingPunct="1">
              <a:lnSpc>
                <a:spcPct val="150000"/>
              </a:lnSpc>
            </a:pPr>
            <a:r xmlns:a="http://schemas.openxmlformats.org/drawingml/2006/main">
              <a:rPr lang="en" altLang="en-US" sz="1100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Purchase order </a:t>
            </a:r>
            <a:r xmlns:a="http://schemas.openxmlformats.org/drawingml/2006/main">
              <a:rPr lang="en" altLang="ko-KR" sz="1100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, </a:t>
            </a:r>
            <a:r xmlns:a="http://schemas.openxmlformats.org/drawingml/2006/main">
              <a:rPr lang="en" altLang="en-US" sz="1100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order </a:t>
            </a:r>
            <a:r xmlns:a="http://schemas.openxmlformats.org/drawingml/2006/main">
              <a:rPr lang="en" altLang="ko-KR" sz="1100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, </a:t>
            </a:r>
            <a:r xmlns:a="http://schemas.openxmlformats.org/drawingml/2006/main">
              <a:rPr lang="en" altLang="en-US" sz="1100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shipment request </a:t>
            </a:r>
            <a:r xmlns:a="http://schemas.openxmlformats.org/drawingml/2006/main">
              <a:rPr lang="en" altLang="ko-KR" sz="1100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, </a:t>
            </a:r>
            <a:r xmlns:a="http://schemas.openxmlformats.org/drawingml/2006/main">
              <a:rPr lang="en" altLang="en-US" sz="1100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other shipment request </a:t>
            </a:r>
            <a:r xmlns:a="http://schemas.openxmlformats.org/drawingml/2006/main">
              <a:rPr lang="en" altLang="ko-KR" sz="1100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, </a:t>
            </a:r>
            <a:r xmlns:a="http://schemas.openxmlformats.org/drawingml/2006/main">
              <a:rPr lang="en" altLang="en-US" sz="1100" dirty="0" smtClean="0">
                <a:solidFill>
                  <a:schemeClr val="accent1">
                    <a:lumMod val="50000"/>
                  </a:schemeClr>
                </a:solidFill>
                <a:latin typeface="굴림" charset="-127"/>
              </a:rPr>
              <a:t>accounting voucher</a:t>
            </a:r>
            <a:endParaRPr xmlns:a="http://schemas.openxmlformats.org/drawingml/2006/main" lang="en-US" altLang="ko-KR" sz="1100" dirty="0">
              <a:solidFill>
                <a:schemeClr val="accent1">
                  <a:lumMod val="50000"/>
                </a:schemeClr>
              </a:solidFill>
              <a:latin typeface="굴림" charset="-127"/>
            </a:endParaRPr>
          </a:p>
        </p:txBody>
      </p:sp>
      <p:sp>
        <p:nvSpPr>
          <p:cNvPr id="21" name="순서도: 자기 디스크 45"/>
          <p:cNvSpPr>
            <a:spLocks noChangeArrowheads="1"/>
          </p:cNvSpPr>
          <p:nvPr/>
        </p:nvSpPr>
        <p:spPr bwMode="auto">
          <a:xfrm>
            <a:off x="6929438" y="2726903"/>
            <a:ext cx="1428750" cy="714375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xmlns:a="http://schemas.openxmlformats.org/drawingml/2006/main" algn="ctr" eaLnBrk="1" hangingPunct="1"/>
            <a:r xmlns:a="http://schemas.openxmlformats.org/drawingml/2006/main">
              <a:rPr lang="en" altLang="en-US" b="1" dirty="0">
                <a:solidFill>
                  <a:schemeClr val="accent1">
                    <a:lumMod val="50000"/>
                  </a:schemeClr>
                </a:solidFill>
              </a:rPr>
              <a:t>Confirmation status management</a:t>
            </a:r>
          </a:p>
        </p:txBody>
      </p:sp>
      <p:cxnSp>
        <p:nvCxnSpPr>
          <p:cNvPr id="22" name="꺾인 연결선 50"/>
          <p:cNvCxnSpPr>
            <a:cxnSpLocks noChangeShapeType="1"/>
            <a:stCxn id="15" idx="3"/>
            <a:endCxn id="16" idx="1"/>
          </p:cNvCxnSpPr>
          <p:nvPr/>
        </p:nvCxnSpPr>
        <p:spPr bwMode="auto">
          <a:xfrm flipV="1">
            <a:off x="3111473" y="1942678"/>
            <a:ext cx="512614" cy="1587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꺾인 연결선 52"/>
          <p:cNvCxnSpPr>
            <a:cxnSpLocks noChangeShapeType="1"/>
            <a:stCxn id="14" idx="1"/>
            <a:endCxn id="16" idx="3"/>
          </p:cNvCxnSpPr>
          <p:nvPr/>
        </p:nvCxnSpPr>
        <p:spPr bwMode="auto">
          <a:xfrm rot="10800000" flipV="1">
            <a:off x="5767212" y="1942676"/>
            <a:ext cx="402094" cy="1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꺾인 연결선 54"/>
          <p:cNvCxnSpPr>
            <a:cxnSpLocks noChangeShapeType="1"/>
          </p:cNvCxnSpPr>
          <p:nvPr/>
        </p:nvCxnSpPr>
        <p:spPr bwMode="auto">
          <a:xfrm rot="5400000">
            <a:off x="4107755" y="2336377"/>
            <a:ext cx="352423" cy="3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꺾인 연결선 59"/>
          <p:cNvCxnSpPr>
            <a:cxnSpLocks noChangeShapeType="1"/>
            <a:stCxn id="17" idx="2"/>
            <a:endCxn id="18" idx="0"/>
          </p:cNvCxnSpPr>
          <p:nvPr/>
        </p:nvCxnSpPr>
        <p:spPr bwMode="auto">
          <a:xfrm rot="5400000">
            <a:off x="3982244" y="4245346"/>
            <a:ext cx="603250" cy="1588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꺾인 연결선 64"/>
          <p:cNvCxnSpPr>
            <a:cxnSpLocks noChangeShapeType="1"/>
            <a:stCxn id="18" idx="2"/>
            <a:endCxn id="19" idx="0"/>
          </p:cNvCxnSpPr>
          <p:nvPr/>
        </p:nvCxnSpPr>
        <p:spPr bwMode="auto">
          <a:xfrm rot="5400000">
            <a:off x="4050507" y="5207371"/>
            <a:ext cx="463550" cy="4763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꺾인 연결선 70"/>
          <p:cNvCxnSpPr>
            <a:cxnSpLocks noChangeShapeType="1"/>
            <a:stCxn id="17" idx="3"/>
            <a:endCxn id="21" idx="3"/>
          </p:cNvCxnSpPr>
          <p:nvPr/>
        </p:nvCxnSpPr>
        <p:spPr bwMode="auto">
          <a:xfrm flipV="1">
            <a:off x="4897438" y="3441278"/>
            <a:ext cx="2746375" cy="287337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hape 77"/>
          <p:cNvCxnSpPr>
            <a:cxnSpLocks noChangeShapeType="1"/>
            <a:stCxn id="18" idx="3"/>
            <a:endCxn id="21" idx="3"/>
          </p:cNvCxnSpPr>
          <p:nvPr/>
        </p:nvCxnSpPr>
        <p:spPr bwMode="auto">
          <a:xfrm flipV="1">
            <a:off x="4897438" y="3441278"/>
            <a:ext cx="2746375" cy="132080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hape 79"/>
          <p:cNvCxnSpPr>
            <a:cxnSpLocks noChangeShapeType="1"/>
            <a:stCxn id="19" idx="3"/>
            <a:endCxn id="21" idx="3"/>
          </p:cNvCxnSpPr>
          <p:nvPr/>
        </p:nvCxnSpPr>
        <p:spPr bwMode="auto">
          <a:xfrm flipV="1">
            <a:off x="4892675" y="3441278"/>
            <a:ext cx="2751138" cy="221615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직사각형 36"/>
          <p:cNvSpPr>
            <a:spLocks noChangeArrowheads="1"/>
          </p:cNvSpPr>
          <p:nvPr/>
        </p:nvSpPr>
        <p:spPr bwMode="auto">
          <a:xfrm>
            <a:off x="5643563" y="4441403"/>
            <a:ext cx="890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xmlns:a="http://schemas.openxmlformats.org/drawingml/2006/main" eaLnBrk="1" hangingPunct="1"/>
            <a:r xmlns:a="http://schemas.openxmlformats.org/drawingml/2006/main">
              <a:rPr lang="en" altLang="en-US" b="1">
                <a:solidFill>
                  <a:schemeClr val="accent1">
                    <a:lumMod val="50000"/>
                  </a:schemeClr>
                </a:solidFill>
              </a:rPr>
              <a:t>Cancel payment</a:t>
            </a:r>
          </a:p>
        </p:txBody>
      </p:sp>
      <p:sp>
        <p:nvSpPr>
          <p:cNvPr id="32" name="직사각형 36"/>
          <p:cNvSpPr>
            <a:spLocks noChangeArrowheads="1"/>
          </p:cNvSpPr>
          <p:nvPr/>
        </p:nvSpPr>
        <p:spPr bwMode="auto">
          <a:xfrm>
            <a:off x="5643563" y="5347865"/>
            <a:ext cx="890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xmlns:a="http://schemas.openxmlformats.org/drawingml/2006/main" eaLnBrk="1" hangingPunct="1"/>
            <a:r xmlns:a="http://schemas.openxmlformats.org/drawingml/2006/main">
              <a:rPr lang="en" altLang="en-US" b="1">
                <a:solidFill>
                  <a:schemeClr val="accent1">
                    <a:lumMod val="50000"/>
                  </a:schemeClr>
                </a:solidFill>
              </a:rPr>
              <a:t>Payment completed</a:t>
            </a:r>
          </a:p>
        </p:txBody>
      </p:sp>
      <p:sp>
        <p:nvSpPr>
          <p:cNvPr id="33" name="직사각형 36"/>
          <p:cNvSpPr>
            <a:spLocks noChangeArrowheads="1"/>
          </p:cNvSpPr>
          <p:nvPr/>
        </p:nvSpPr>
        <p:spPr bwMode="auto">
          <a:xfrm>
            <a:off x="3749675" y="5084340"/>
            <a:ext cx="536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xmlns:a="http://schemas.openxmlformats.org/drawingml/2006/main" eaLnBrk="1" hangingPunct="1"/>
            <a:r xmlns:a="http://schemas.openxmlformats.org/drawingml/2006/main">
              <a:rPr lang="en" altLang="en-US" b="1">
                <a:solidFill>
                  <a:schemeClr val="accent1">
                    <a:lumMod val="50000"/>
                  </a:schemeClr>
                </a:solidFill>
              </a:rPr>
              <a:t>Payment</a:t>
            </a:r>
          </a:p>
        </p:txBody>
      </p:sp>
      <p:sp>
        <p:nvSpPr>
          <p:cNvPr id="34" name="직사각형 36"/>
          <p:cNvSpPr>
            <a:spLocks noChangeArrowheads="1"/>
          </p:cNvSpPr>
          <p:nvPr/>
        </p:nvSpPr>
        <p:spPr bwMode="auto">
          <a:xfrm>
            <a:off x="5662613" y="3422228"/>
            <a:ext cx="890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xmlns:a="http://schemas.openxmlformats.org/drawingml/2006/main" eaLnBrk="1" hangingPunct="1"/>
            <a:r xmlns:a="http://schemas.openxmlformats.org/drawingml/2006/main">
              <a:rPr lang="en" altLang="en-US" b="1">
                <a:solidFill>
                  <a:schemeClr val="accent1">
                    <a:lumMod val="50000"/>
                  </a:schemeClr>
                </a:solidFill>
              </a:rPr>
              <a:t>Payment Process</a:t>
            </a:r>
          </a:p>
        </p:txBody>
      </p:sp>
      <p:sp>
        <p:nvSpPr>
          <p:cNvPr id="35" name="직사각형 36"/>
          <p:cNvSpPr>
            <a:spLocks noChangeArrowheads="1"/>
          </p:cNvSpPr>
          <p:nvPr/>
        </p:nvSpPr>
        <p:spPr bwMode="auto">
          <a:xfrm>
            <a:off x="7662863" y="4490615"/>
            <a:ext cx="536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Myriad Web Pro" pitchFamily="34" charset="0"/>
                <a:ea typeface="굴림" charset="-127"/>
              </a:defRPr>
            </a:lvl9pPr>
          </a:lstStyle>
          <a:p>
            <a:pPr xmlns:a="http://schemas.openxmlformats.org/drawingml/2006/main" eaLnBrk="1" hangingPunct="1"/>
            <a:r xmlns:a="http://schemas.openxmlformats.org/drawingml/2006/main">
              <a:rPr lang="en" altLang="en-US" b="1">
                <a:solidFill>
                  <a:schemeClr val="accent1">
                    <a:lumMod val="50000"/>
                  </a:schemeClr>
                </a:solidFill>
              </a:rPr>
              <a:t>situation</a:t>
            </a:r>
            <a:endParaRPr xmlns:a="http://schemas.openxmlformats.org/drawingml/2006/main" lang="en-US" altLang="ko-KR" b="1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eaLnBrk="1" hangingPunct="1"/>
            <a:r xmlns:a="http://schemas.openxmlformats.org/drawingml/2006/main">
              <a:rPr lang="en" altLang="en-US" b="1">
                <a:solidFill>
                  <a:schemeClr val="accent1">
                    <a:lumMod val="50000"/>
                  </a:schemeClr>
                </a:solidFill>
              </a:rPr>
              <a:t>change</a:t>
            </a:r>
          </a:p>
        </p:txBody>
      </p:sp>
      <p:cxnSp>
        <p:nvCxnSpPr>
          <p:cNvPr id="55" name="꺾인 연결선 54"/>
          <p:cNvCxnSpPr>
            <a:cxnSpLocks noChangeShapeType="1"/>
          </p:cNvCxnSpPr>
          <p:nvPr/>
        </p:nvCxnSpPr>
        <p:spPr bwMode="auto">
          <a:xfrm rot="5400000">
            <a:off x="4112426" y="3331738"/>
            <a:ext cx="352423" cy="3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36725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5976664" cy="504056"/>
          </a:xfrm>
        </p:spPr>
        <p:txBody>
          <a:bodyPr>
            <a:noAutofit/>
          </a:bodyPr>
          <a:lstStyle/>
          <a:p>
            <a:r xmlns:a="http://schemas.openxmlformats.org/drawingml/2006/main">
              <a:rPr lang="en" altLang="en-US" sz="2800" dirty="0" smtClean="0">
                <a:solidFill>
                  <a:schemeClr val="accent1">
                    <a:lumMod val="50000"/>
                  </a:schemeClr>
                </a:solidFill>
              </a:rPr>
              <a:t>Groupware related </a:t>
            </a:r>
            <a:r xmlns:a="http://schemas.openxmlformats.org/drawingml/2006/main">
              <a:rPr lang="en" altLang="ko-KR" sz="2800" dirty="0" smtClean="0">
                <a:solidFill>
                  <a:schemeClr val="accent1">
                    <a:lumMod val="50000"/>
                  </a:schemeClr>
                </a:solidFill>
              </a:rPr>
              <a:t>Table &amp; SP</a:t>
            </a:r>
            <a:endParaRPr xmlns:a="http://schemas.openxmlformats.org/drawingml/2006/main" lang="ko-KR" alt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4407922"/>
              </p:ext>
            </p:extLst>
          </p:nvPr>
        </p:nvGraphicFramePr>
        <p:xfrm>
          <a:off x="107504" y="836712"/>
          <a:ext cx="8928993" cy="575468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64096"/>
                <a:gridCol w="3240360"/>
                <a:gridCol w="4824537"/>
              </a:tblGrid>
              <a:tr h="411089">
                <a:tc>
                  <a:txBody>
                    <a:bodyPr/>
                    <a:lstStyle/>
                    <a:p>
                      <a:pPr xmlns:a="http://schemas.openxmlformats.org/drawingml/2006/main" algn="ctr" latinLnBrk="1"/>
                      <a:r xmlns:a="http://schemas.openxmlformats.org/drawingml/2006/main">
                        <a:rPr lang="en" altLang="en-US" sz="1600" dirty="0" smtClean="0"/>
                        <a:t>division</a:t>
                      </a:r>
                      <a:endParaRPr xmlns:a="http://schemas.openxmlformats.org/drawingml/2006/main" lang="ko-KR" altLang="en-US" sz="1600" dirty="0"/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 latinLnBrk="1"/>
                      <a:r xmlns:a="http://schemas.openxmlformats.org/drawingml/2006/main">
                        <a:rPr lang="en" altLang="ko-KR" sz="1600" dirty="0" smtClean="0"/>
                        <a:t>Table &amp; SP</a:t>
                      </a:r>
                      <a:endParaRPr xmlns:a="http://schemas.openxmlformats.org/drawingml/2006/main" lang="ko-KR" altLang="en-US" sz="1600" dirty="0"/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 latinLnBrk="1"/>
                      <a:r xmlns:a="http://schemas.openxmlformats.org/drawingml/2006/main">
                        <a:rPr lang="en" altLang="en-US" sz="1600" dirty="0" smtClean="0"/>
                        <a:t>note</a:t>
                      </a:r>
                      <a:endParaRPr xmlns:a="http://schemas.openxmlformats.org/drawingml/2006/main" lang="ko-KR" altLang="en-US" sz="1600" dirty="0"/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713">
                <a:tc rowSpan="6">
                  <a:txBody>
                    <a:bodyPr/>
                    <a:lstStyle/>
                    <a:p>
                      <a:pPr algn="ctr" latinLnBrk="1"/>
                      <a:endParaRPr lang="en-US" altLang="ko-KR" sz="12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12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12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xmlns:a="http://schemas.openxmlformats.org/drawingml/2006/main" algn="ctr" latinLnBrk="1"/>
                      <a:r xmlns:a="http://schemas.openxmlformats.org/drawingml/2006/main">
                        <a:rPr lang="en" altLang="en-US" sz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Groupware Settings Related </a:t>
                      </a:r>
                      <a:r xmlns:a="http://schemas.openxmlformats.org/drawingml/2006/main">
                        <a:rPr lang="en" altLang="ko-KR" sz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Table</a:t>
                      </a:r>
                      <a:endParaRPr xmlns:a="http://schemas.openxmlformats.org/drawingml/2006/main"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 </a:t>
                      </a:r>
                      <a:r xmlns:a="http://schemas.openxmlformats.org/drawingml/2006/main">
                        <a:rPr lang="en" altLang="ko-KR" sz="100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TCOMConfirmTable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l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Confirmation Table Management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_TCOMConfirmDef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l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Confirmation Management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–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Definition of Confirmation Management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Connection of Confirmation Table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_TCOMConfirmPGM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l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[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Confirmation Management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 –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Registering a screen that uses confirmation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_TCOMEnv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Preferences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- [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Groupware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</a:t>
                      </a:r>
                      <a:endParaRPr xmlns:a="http://schemas.openxmlformats.org/drawingml/2006/main" lang="ko-KR" altLang="en-US" sz="10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0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_TCOMEnvGroupWare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l" latinLnBrk="1"/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Preferences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- [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Electronic Approval Document Settings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</a:t>
                      </a:r>
                    </a:p>
                    <a:p>
                      <a:pPr xmlns:a="http://schemas.openxmlformats.org/drawingml/2006/main" algn="l" latinLnBrk="1"/>
                      <a:r xmlns:a="http://schemas.openxmlformats.org/drawingml/2006/main">
                        <a:rPr lang="en" altLang="ko-KR" sz="100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DataService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, Method, </a:t>
                      </a:r>
                      <a:r xmlns:a="http://schemas.openxmlformats.org/drawingml/2006/main">
                        <a:rPr lang="en" altLang="ko-KR" sz="100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sp to output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the payment document number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,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usage status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, and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document data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Back registration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.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_TCOMEnvGroupWarePgm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Preferences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- [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Electronic Approval Document Settings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]</a:t>
                      </a:r>
                    </a:p>
                    <a:p>
                      <a:pPr xmlns:a="http://schemas.openxmlformats.org/drawingml/2006/main" algn="l" latinLnBrk="1"/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Setting 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the screen that uses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electronic approval and the control that becomes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the key value among the items on that screen</a:t>
                      </a: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881">
                <a:tc rowSpan="2">
                  <a:txBody>
                    <a:bodyPr/>
                    <a:lstStyle/>
                    <a:p>
                      <a:pPr xmlns:a="http://schemas.openxmlformats.org/drawingml/2006/main" algn="ctr" latinLnBrk="1"/>
                      <a:r xmlns:a="http://schemas.openxmlformats.org/drawingml/2006/main">
                        <a:rPr lang="en" altLang="en-US" sz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Groupware </a:t>
                      </a:r>
                      <a:r xmlns:a="http://schemas.openxmlformats.org/drawingml/2006/main">
                        <a:rPr lang="en" altLang="ko-KR" sz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TR </a:t>
                      </a:r>
                      <a:r xmlns:a="http://schemas.openxmlformats.org/drawingml/2006/main">
                        <a:rPr lang="en" altLang="ko-KR" sz="12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Table</a:t>
                      </a:r>
                      <a:endParaRPr xmlns:a="http://schemas.openxmlformats.org/drawingml/2006/main" lang="ko-KR" altLang="en-US" sz="12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_TCOMGroupWare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 xmlns:a="http://schemas.openxmlformats.org/drawingml/2006/main">
                        <a:rPr kumimoji="1" lang="en" altLang="en-US" sz="10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Electronic approval status value and</a:t>
                      </a:r>
                      <a:r xmlns:a="http://schemas.openxmlformats.org/drawingml/2006/main">
                        <a:rPr kumimoji="1" lang="en" altLang="en-US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Table that connects </a:t>
                      </a:r>
                      <a:r xmlns:a="http://schemas.openxmlformats.org/drawingml/2006/main">
                        <a:rPr kumimoji="1" lang="en" altLang="ko-KR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ERP </a:t>
                      </a:r>
                      <a:r xmlns:a="http://schemas.openxmlformats.org/drawingml/2006/main">
                        <a:rPr kumimoji="1" lang="en" altLang="en-US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data </a:t>
                      </a:r>
                      <a:r xmlns:a="http://schemas.openxmlformats.org/drawingml/2006/main">
                        <a:rPr kumimoji="1" lang="en" altLang="ko-KR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.</a:t>
                      </a:r>
                    </a:p>
                    <a:p>
                      <a:pPr xmlns:a="http://schemas.openxmlformats.org/drawingml/2006/main"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 xmlns:a="http://schemas.openxmlformats.org/drawingml/2006/main">
                        <a:rPr kumimoji="1" lang="en" altLang="en-US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that stores </a:t>
                      </a:r>
                      <a:r xmlns:a="http://schemas.openxmlformats.org/drawingml/2006/main">
                        <a:rPr kumimoji="1" lang="en" altLang="ko-KR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SQL statements </a:t>
                      </a:r>
                      <a:r xmlns:a="http://schemas.openxmlformats.org/drawingml/2006/main">
                        <a:rPr kumimoji="1" lang="en" altLang="en-US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that change the approval status and </a:t>
                      </a:r>
                      <a:r xmlns:a="http://schemas.openxmlformats.org/drawingml/2006/main">
                        <a:rPr kumimoji="1" lang="en" altLang="en-US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stores the electronic approval </a:t>
                      </a:r>
                      <a:r xmlns:a="http://schemas.openxmlformats.org/drawingml/2006/main">
                        <a:rPr kumimoji="1" lang="en" altLang="en-US" sz="10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progress status of </a:t>
                      </a:r>
                      <a:r xmlns:a="http://schemas.openxmlformats.org/drawingml/2006/main">
                        <a:rPr kumimoji="1" lang="en" altLang="ko-KR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ERP </a:t>
                      </a:r>
                      <a:r xmlns:a="http://schemas.openxmlformats.org/drawingml/2006/main">
                        <a:rPr kumimoji="1" lang="en" altLang="en-US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data </a:t>
                      </a:r>
                      <a:r xmlns:a="http://schemas.openxmlformats.org/drawingml/2006/main">
                        <a:rPr kumimoji="1" lang="en" altLang="ko-KR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.</a:t>
                      </a:r>
                      <a:endParaRPr xmlns:a="http://schemas.openxmlformats.org/drawingml/2006/main"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_TCOMConfirm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l" latinLnBrk="1"/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About the confirmation of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ERP data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 xmlns:a="http://schemas.openxmlformats.org/drawingml/2006/main">
                        <a:rPr lang="en" altLang="en-US" sz="100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The status value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is saved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.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795">
                <a:tc rowSpan="6"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latinLnBrk="1"/>
                      <a:endParaRPr lang="en-US" altLang="ko-KR" sz="16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16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16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xmlns:a="http://schemas.openxmlformats.org/drawingml/2006/main" algn="ctr" latinLnBrk="1"/>
                      <a:r xmlns:a="http://schemas.openxmlformats.org/drawingml/2006/main">
                        <a:rPr lang="en" altLang="ko-KR" sz="12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SP</a:t>
                      </a:r>
                      <a:endParaRPr xmlns:a="http://schemas.openxmlformats.org/drawingml/2006/main" lang="ko-KR" altLang="en-US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_ </a:t>
                      </a:r>
                      <a:r xmlns:a="http://schemas.openxmlformats.org/drawingml/2006/main">
                        <a:rPr lang="en" altLang="ko-KR" sz="1000" u="none" strike="noStrike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SCAGetPageNew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 xmlns:a="http://schemas.openxmlformats.org/drawingml/2006/main">
                        <a:rPr kumimoji="1" lang="en" altLang="en-US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Depending on whether the groupware environment settings are used </a:t>
                      </a:r>
                      <a:r xmlns:a="http://schemas.openxmlformats.org/drawingml/2006/main">
                        <a:rPr kumimoji="1" lang="en" altLang="en-US" sz="10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when linking electronic approval, </a:t>
                      </a:r>
                      <a:r xmlns:a="http://schemas.openxmlformats.org/drawingml/2006/main">
                        <a:rPr kumimoji="1" lang="en" altLang="ko-KR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the ERP </a:t>
                      </a:r>
                      <a:r xmlns:a="http://schemas.openxmlformats.org/drawingml/2006/main">
                        <a:rPr kumimoji="1" lang="en" altLang="en-US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screen</a:t>
                      </a:r>
                      <a:r xmlns:a="http://schemas.openxmlformats.org/drawingml/2006/main">
                        <a:rPr kumimoji="1" lang="en" altLang="ko-KR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Automatically generate </a:t>
                      </a:r>
                      <a:r xmlns:a="http://schemas.openxmlformats.org/drawingml/2006/main">
                        <a:rPr kumimoji="1" lang="en" altLang="en-US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payment submission </a:t>
                      </a:r>
                      <a:r xmlns:a="http://schemas.openxmlformats.org/drawingml/2006/main">
                        <a:rPr kumimoji="1" lang="en" altLang="ko-KR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and </a:t>
                      </a:r>
                      <a:r xmlns:a="http://schemas.openxmlformats.org/drawingml/2006/main">
                        <a:rPr kumimoji="1" lang="en" altLang="en-US" sz="10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payment status buttons</a:t>
                      </a:r>
                      <a:endParaRPr xmlns:a="http://schemas.openxmlformats.org/drawingml/2006/main"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_SCOMGroupWareStart</a:t>
                      </a:r>
                    </a:p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For Ever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 xmlns:a="http://schemas.openxmlformats.org/drawingml/2006/main">
                        <a:rPr lang="en" altLang="en-US" sz="1000" baseline="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Call internally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_ </a:t>
                      </a:r>
                      <a:r xmlns:a="http://schemas.openxmlformats.org/drawingml/2006/main">
                        <a:rPr lang="en" altLang="ko-KR" sz="1000" baseline="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SWCOMGroupWareStart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l" latinLnBrk="1"/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the payment submission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and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payment status buttons, a pre-check of the data and an execution statement </a:t>
                      </a:r>
                      <a:r xmlns:a="http://schemas.openxmlformats.org/drawingml/2006/main">
                        <a:rPr lang="en" altLang="en-US" sz="100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that changes the status value 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in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_TCOMGroupWare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are created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.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05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_SCASiteLinkSSOQuery</a:t>
                      </a:r>
                    </a:p>
                    <a:p>
                      <a:pPr xmlns:a="http://schemas.openxmlformats.org/drawingml/2006/main"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 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Internal call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for Ever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_SWCASiteLinkSSOQuery)</a:t>
                      </a:r>
                      <a:endParaRPr xmlns:a="http://schemas.openxmlformats.org/drawingml/2006/main" lang="ko-KR" altLang="en-US" sz="10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l" latinLnBrk="1"/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Configure </a:t>
                      </a:r>
                      <a:r xmlns:a="http://schemas.openxmlformats.org/drawingml/2006/main">
                        <a:rPr lang="en" altLang="en-US" sz="100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the parameters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passed </a:t>
                      </a:r>
                      <a:r xmlns:a="http://schemas.openxmlformats.org/drawingml/2006/main">
                        <a:rPr lang="en" altLang="en-US" sz="100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when calling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the groupware page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configure in consultation with the company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  <a:p>
                      <a:pPr xmlns:a="http://schemas.openxmlformats.org/drawingml/2006/main" algn="l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-&gt; </a:t>
                      </a:r>
                      <a:r xmlns:a="http://schemas.openxmlformats.org/drawingml/2006/main">
                        <a:rPr lang="en" altLang="en-US" sz="100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Yeonglimwon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Required </a:t>
                      </a:r>
                      <a:r xmlns:a="http://schemas.openxmlformats.org/drawingml/2006/main">
                        <a:rPr lang="en" altLang="en-US" sz="100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parameters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+ </a:t>
                      </a:r>
                      <a:r xmlns:a="http://schemas.openxmlformats.org/drawingml/2006/main">
                        <a:rPr lang="en" altLang="en-US" sz="100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Parameters 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agreed upon with the groupware company</a:t>
                      </a: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4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 </a:t>
                      </a:r>
                      <a:r xmlns:a="http://schemas.openxmlformats.org/drawingml/2006/main">
                        <a:rPr lang="en" altLang="ko-KR" sz="100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SCOMGroupWarePrint</a:t>
                      </a:r>
                      <a:endParaRPr xmlns:a="http://schemas.openxmlformats.org/drawingml/2006/main" lang="en-US" altLang="ko-KR" sz="10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xmlns:a="http://schemas.openxmlformats.org/drawingml/2006/main"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 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Internal call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for Ever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_ </a:t>
                      </a:r>
                      <a:r xmlns:a="http://schemas.openxmlformats.org/drawingml/2006/main">
                        <a:rPr lang="en" altLang="ko-KR" sz="1000" baseline="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SWCOMGroupWarePrint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  <a:endParaRPr xmlns:a="http://schemas.openxmlformats.org/drawingml/2006/main" lang="ko-KR" altLang="en-US" sz="10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l" rtl="0" fontAlgn="ctr"/>
                      <a:r xmlns:a="http://schemas.openxmlformats.org/drawingml/2006/main">
                        <a:rPr lang="en" altLang="en-US" sz="100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Document output </a:t>
                      </a:r>
                      <a:r xmlns:a="http://schemas.openxmlformats.org/drawingml/2006/main">
                        <a:rPr lang="en" altLang="ko-KR" sz="1000" u="none" strike="noStrike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sp </a:t>
                      </a:r>
                      <a:r xmlns:a="http://schemas.openxmlformats.org/drawingml/2006/main">
                        <a:rPr lang="en" altLang="en-US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registered in </a:t>
                      </a:r>
                      <a:r xmlns:a="http://schemas.openxmlformats.org/drawingml/2006/main">
                        <a:rPr lang="en" altLang="ko-KR" sz="100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_TCOMEnvGroupWare</a:t>
                      </a:r>
                      <a:r xmlns:a="http://schemas.openxmlformats.org/drawingml/2006/main">
                        <a:rPr lang="en" altLang="ko-KR" sz="100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Common </a:t>
                      </a:r>
                      <a:r xmlns:a="http://schemas.openxmlformats.org/drawingml/2006/main">
                        <a:rPr lang="en" altLang="ko-KR" sz="1000" u="none" strike="noStrike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sp </a:t>
                      </a:r>
                      <a:endParaRPr xmlns:a="http://schemas.openxmlformats.org/drawingml/2006/main" lang="en-US" altLang="ko-KR" sz="1000" u="none" strike="noStrike" dirty="0" smtClean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</a:endParaRPr>
                      <a:r xmlns:a="http://schemas.openxmlformats.org/drawingml/2006/main">
                        <a:rPr lang="en" altLang="en-US" sz="100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calling</a:t>
                      </a:r>
                    </a:p>
                    <a:p>
                      <a:pPr xmlns:a="http://schemas.openxmlformats.org/drawingml/2006/main" algn="l" rtl="0" fontAlgn="ctr"/>
                      <a:r xmlns:a="http://schemas.openxmlformats.org/drawingml/2006/main">
                        <a:rPr lang="en" altLang="ko-KR" sz="100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-&gt;</a:t>
                      </a:r>
                      <a:r xmlns:a="http://schemas.openxmlformats.org/drawingml/2006/main">
                        <a:rPr lang="en" altLang="ko-KR" sz="1000" u="none" strike="noStrike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r xmlns:a="http://schemas.openxmlformats.org/drawingml/2006/main">
                        <a:rPr lang="en" altLang="en-US" sz="1000" u="none" strike="noStrike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Communication via </a:t>
                      </a:r>
                      <a:endParaRPr xmlns:a="http://schemas.openxmlformats.org/drawingml/2006/main" lang="en-US" altLang="ko-KR" sz="10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굴림"/>
                      </a:endParaRPr>
                      <a:r xmlns:a="http://schemas.openxmlformats.org/drawingml/2006/main">
                        <a:rPr lang="en" altLang="en-US" sz="1000" u="none" strike="noStrike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web services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7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_SCOMGroupWareStatus</a:t>
                      </a:r>
                    </a:p>
                    <a:p>
                      <a:pPr xmlns:a="http://schemas.openxmlformats.org/drawingml/2006/main"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 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Internal call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for Ever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_ </a:t>
                      </a:r>
                      <a:r xmlns:a="http://schemas.openxmlformats.org/drawingml/2006/main">
                        <a:rPr lang="en" altLang="ko-KR" sz="1000" baseline="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SWCOMGroupWareStatus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  <a:endParaRPr xmlns:a="http://schemas.openxmlformats.org/drawingml/2006/main" lang="ko-KR" altLang="en-US" sz="10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l" latinLnBrk="1"/>
                      <a:r xmlns:a="http://schemas.openxmlformats.org/drawingml/2006/main">
                        <a:rPr lang="en" altLang="en-US" sz="1000" baseline="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Changes in status values 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stored in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_TCOMGroupWare 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due to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electronic approval submission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,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completion </a:t>
                      </a: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,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cancellation, etc.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Execute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SQL statements 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to change electronic approval </a:t>
                      </a:r>
                      <a:r xmlns:a="http://schemas.openxmlformats.org/drawingml/2006/main">
                        <a:rPr lang="en" altLang="en-US" sz="1000" baseline="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status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. –&gt; 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Communication via 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  <a:r xmlns:a="http://schemas.openxmlformats.org/drawingml/2006/main">
                        <a:rPr lang="en" altLang="en-US" sz="1000" baseline="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web service .</a:t>
                      </a: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7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xmlns:a="http://schemas.openxmlformats.org/drawingml/2006/main" latinLnBrk="1"/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_ </a:t>
                      </a:r>
                      <a:r xmlns:a="http://schemas.openxmlformats.org/drawingml/2006/main">
                        <a:rPr lang="en" altLang="ko-KR" sz="100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SCOMGroupWareNextProc</a:t>
                      </a:r>
                      <a:endParaRPr xmlns:a="http://schemas.openxmlformats.org/drawingml/2006/main" lang="en-US" altLang="ko-KR" sz="10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  <a:p>
                      <a:pPr xmlns:a="http://schemas.openxmlformats.org/drawingml/2006/main"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 xmlns:a="http://schemas.openxmlformats.org/drawingml/2006/main">
                        <a:rPr lang="en" altLang="ko-KR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 </a:t>
                      </a:r>
                      <a:r xmlns:a="http://schemas.openxmlformats.org/drawingml/2006/main">
                        <a:rPr lang="en" altLang="en-US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Internal call </a:t>
                      </a:r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for Ever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_ </a:t>
                      </a:r>
                      <a:r xmlns:a="http://schemas.openxmlformats.org/drawingml/2006/main">
                        <a:rPr lang="en" altLang="ko-KR" sz="1000" dirty="0" err="1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SWCOMGroupWareNextProc </a:t>
                      </a:r>
                      <a:r xmlns:a="http://schemas.openxmlformats.org/drawingml/2006/main">
                        <a:rPr lang="en" altLang="ko-KR" sz="100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  <a:endParaRPr xmlns:a="http://schemas.openxmlformats.org/drawingml/2006/main" lang="ko-KR" altLang="en-US" sz="1000" dirty="0" smtClean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l" latinLnBrk="1"/>
                      <a:r xmlns:a="http://schemas.openxmlformats.org/drawingml/2006/main">
                        <a:rPr lang="en" altLang="en-US" sz="100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When groupware electronic approval is completed, approval processing related to vouchers is performed.</a:t>
                      </a:r>
                      <a:endParaRPr xmlns:a="http://schemas.openxmlformats.org/drawingml/2006/main" lang="ko-KR" altLang="en-US" sz="10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49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229600" cy="1152128"/>
          </a:xfrm>
        </p:spPr>
        <p:txBody>
          <a:bodyPr>
            <a:normAutofit/>
          </a:bodyPr>
          <a:lstStyle/>
          <a:p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2.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ERP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settings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for groupware use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 xmlns:a="http://schemas.openxmlformats.org/drawingml/2006/main">
              <a:rPr lang="en-US" altLang="ko-KR" sz="2800" b="1" dirty="0" smtClean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3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3200" b="1" dirty="0" smtClean="0">
                <a:solidFill>
                  <a:schemeClr val="accent1">
                    <a:lumMod val="50000"/>
                  </a:schemeClr>
                </a:solidFill>
              </a:rPr>
              <a:t>   </a:t>
            </a:r>
            <a:r xmlns:a="http://schemas.openxmlformats.org/drawingml/2006/main">
              <a:rPr lang="en" altLang="ko-KR" sz="2000" b="1" dirty="0" smtClean="0">
                <a:solidFill>
                  <a:schemeClr val="accent1">
                    <a:lumMod val="50000"/>
                  </a:schemeClr>
                </a:solidFill>
              </a:rPr>
              <a:t>2 - 1) [ </a:t>
            </a:r>
            <a:r xmlns:a="http://schemas.openxmlformats.org/drawingml/2006/main">
              <a:rPr lang="en" altLang="en-US" sz="2000" b="1" dirty="0" smtClean="0">
                <a:solidFill>
                  <a:schemeClr val="accent1">
                    <a:lumMod val="50000"/>
                  </a:schemeClr>
                </a:solidFill>
              </a:rPr>
              <a:t>Confirmation Management </a:t>
            </a:r>
            <a:r xmlns:a="http://schemas.openxmlformats.org/drawingml/2006/main">
              <a:rPr lang="en" altLang="ko-KR" sz="2000" b="1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1600" b="1" dirty="0" smtClean="0">
                <a:solidFill>
                  <a:schemeClr val="accent1">
                    <a:lumMod val="50000"/>
                  </a:schemeClr>
                </a:solidFill>
              </a:rPr>
              <a:t>Screen for defining confirmation-related terms and registering programs that use confirmation.</a:t>
            </a:r>
            <a:endParaRPr xmlns:a="http://schemas.openxmlformats.org/drawingml/2006/main"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6480720" cy="5033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004048" y="1988840"/>
            <a:ext cx="504056" cy="187220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131840" y="4149080"/>
            <a:ext cx="720080" cy="17281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사각형 설명선 12"/>
          <p:cNvSpPr/>
          <p:nvPr/>
        </p:nvSpPr>
        <p:spPr>
          <a:xfrm>
            <a:off x="6611884" y="2384884"/>
            <a:ext cx="2016224" cy="1080120"/>
          </a:xfrm>
          <a:prstGeom prst="wedgeRoundRectCallout">
            <a:avLst>
              <a:gd name="adj1" fmla="val -105218"/>
              <a:gd name="adj2" fmla="val -5568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marL="171450" indent="-171450">
              <a:buFont typeface="Arial" panose="020B0604020202020204" pitchFamily="34" charset="0"/>
              <a:buChar char="•"/>
            </a:pPr>
            <a:r xmlns:a="http://schemas.openxmlformats.org/drawingml/2006/main">
              <a:rPr lang="en" altLang="en-US" sz="1050" b="1" dirty="0">
                <a:solidFill>
                  <a:schemeClr val="accent1">
                    <a:lumMod val="50000"/>
                  </a:schemeClr>
                </a:solidFill>
              </a:rPr>
              <a:t>In order to manage confirmation through electronic approval, you must first use the confirmation </a:t>
            </a:r>
            <a:r xmlns:a="http://schemas.openxmlformats.org/drawingml/2006/main">
              <a:rPr lang="en" altLang="en-US" sz="1050" b="1" dirty="0" smtClean="0">
                <a:solidFill>
                  <a:schemeClr val="accent1">
                    <a:lumMod val="50000"/>
                  </a:schemeClr>
                </a:solidFill>
              </a:rPr>
              <a:t>function </a:t>
            </a:r>
            <a:r xmlns:a="http://schemas.openxmlformats.org/drawingml/2006/main">
              <a:rPr lang="en" altLang="ko-KR" sz="1050" b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xmlns:a="http://schemas.openxmlformats.org/drawingml/2006/main" marL="171450" indent="-171450">
              <a:buFont typeface="Arial" panose="020B0604020202020204" pitchFamily="34" charset="0"/>
              <a:buChar char="•"/>
            </a:pPr>
            <a:r xmlns:a="http://schemas.openxmlformats.org/drawingml/2006/main">
              <a:rPr lang="en" altLang="en-US" sz="1050" b="1" dirty="0">
                <a:solidFill>
                  <a:schemeClr val="accent1">
                    <a:lumMod val="50000"/>
                  </a:schemeClr>
                </a:solidFill>
              </a:rPr>
              <a:t>to find the name you want </a:t>
            </a:r>
            <a:r xmlns:a="http://schemas.openxmlformats.org/drawingml/2006/main">
              <a:rPr lang="en" altLang="en-US" sz="1050" b="1" dirty="0" smtClean="0">
                <a:solidFill>
                  <a:schemeClr val="accent1">
                    <a:lumMod val="50000"/>
                  </a:schemeClr>
                </a:solidFill>
              </a:rPr>
              <a:t>to use </a:t>
            </a:r>
            <a:r xmlns:a="http://schemas.openxmlformats.org/drawingml/2006/main">
              <a:rPr lang="en" altLang="en-US" sz="1050" b="1" dirty="0" smtClean="0">
                <a:solidFill>
                  <a:schemeClr val="accent1">
                    <a:lumMod val="50000"/>
                  </a:schemeClr>
                </a:solidFill>
              </a:rPr>
              <a:t>and uncheck </a:t>
            </a:r>
            <a:r xmlns:a="http://schemas.openxmlformats.org/drawingml/2006/main">
              <a:rPr lang="en" altLang="ko-KR" sz="1050" b="1" dirty="0" smtClean="0">
                <a:solidFill>
                  <a:schemeClr val="accent1">
                    <a:lumMod val="50000"/>
                  </a:schemeClr>
                </a:solidFill>
              </a:rPr>
              <a:t>[ </a:t>
            </a:r>
            <a:r xmlns:a="http://schemas.openxmlformats.org/drawingml/2006/main">
              <a:rPr lang="en" altLang="en-US" sz="1050" b="1" dirty="0" smtClean="0">
                <a:solidFill>
                  <a:schemeClr val="accent1">
                    <a:lumMod val="50000"/>
                  </a:schemeClr>
                </a:solidFill>
              </a:rPr>
              <a:t>Do not use </a:t>
            </a:r>
            <a:r xmlns:a="http://schemas.openxmlformats.org/drawingml/2006/main">
              <a:rPr lang="en" altLang="ko-KR" sz="1050" b="1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ko-KR" sz="1050" b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xmlns:a="http://schemas.openxmlformats.org/drawingml/2006/main" lang="ko-KR" altLang="en-US" sz="10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모서리가 둥근 사각형 설명선 16"/>
          <p:cNvSpPr/>
          <p:nvPr/>
        </p:nvSpPr>
        <p:spPr>
          <a:xfrm>
            <a:off x="4949160" y="5157192"/>
            <a:ext cx="3096344" cy="1080120"/>
          </a:xfrm>
          <a:prstGeom prst="wedgeRoundRectCallout">
            <a:avLst>
              <a:gd name="adj1" fmla="val -84907"/>
              <a:gd name="adj2" fmla="val -4624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marL="171450" indent="-171450">
              <a:buFont typeface="Arial" panose="020B0604020202020204" pitchFamily="34" charset="0"/>
              <a:buChar char="•"/>
            </a:pPr>
            <a:r xmlns:a="http://schemas.openxmlformats.org/drawingml/2006/main">
              <a:rPr lang="en" altLang="en-US" sz="1050" b="1" dirty="0" smtClean="0">
                <a:solidFill>
                  <a:schemeClr val="accent1">
                    <a:lumMod val="50000"/>
                  </a:schemeClr>
                </a:solidFill>
              </a:rPr>
              <a:t>Since we want to confirm through electronic approval, </a:t>
            </a:r>
            <a:r xmlns:a="http://schemas.openxmlformats.org/drawingml/2006/main">
              <a:rPr lang="en" altLang="en-US" sz="1050" b="1" dirty="0" smtClean="0">
                <a:solidFill>
                  <a:schemeClr val="accent1">
                    <a:lumMod val="50000"/>
                  </a:schemeClr>
                </a:solidFill>
              </a:rPr>
              <a:t>we need to disable </a:t>
            </a:r>
            <a:r xmlns:a="http://schemas.openxmlformats.org/drawingml/2006/main">
              <a:rPr lang="en" altLang="en-US" sz="1050" b="1" dirty="0" err="1" smtClean="0">
                <a:solidFill>
                  <a:schemeClr val="accent1">
                    <a:lumMod val="50000"/>
                  </a:schemeClr>
                </a:solidFill>
              </a:rPr>
              <a:t>the confirmation column on </a:t>
            </a:r>
            <a:r xmlns:a="http://schemas.openxmlformats.org/drawingml/2006/main">
              <a:rPr lang="en" altLang="ko-KR" sz="1050" b="1" dirty="0" smtClean="0">
                <a:solidFill>
                  <a:schemeClr val="accent1">
                    <a:lumMod val="50000"/>
                  </a:schemeClr>
                </a:solidFill>
              </a:rPr>
              <a:t>the ERP screen </a:t>
            </a:r>
            <a:r xmlns:a="http://schemas.openxmlformats.org/drawingml/2006/main">
              <a:rPr lang="en" altLang="en-US" sz="1050" b="1" dirty="0" smtClean="0">
                <a:solidFill>
                  <a:schemeClr val="accent1">
                    <a:lumMod val="50000"/>
                  </a:schemeClr>
                </a:solidFill>
              </a:rPr>
              <a:t>so that </a:t>
            </a:r>
            <a:r xmlns:a="http://schemas.openxmlformats.org/drawingml/2006/main">
              <a:rPr lang="en" altLang="en-US" sz="1050" b="1" dirty="0" smtClean="0">
                <a:solidFill>
                  <a:schemeClr val="accent1">
                    <a:lumMod val="50000"/>
                  </a:schemeClr>
                </a:solidFill>
              </a:rPr>
              <a:t>confirmation cannot </a:t>
            </a:r>
            <a:r xmlns:a="http://schemas.openxmlformats.org/drawingml/2006/main">
              <a:rPr lang="en" altLang="en-US" sz="1050" b="1" dirty="0" err="1" smtClean="0">
                <a:solidFill>
                  <a:schemeClr val="accent1">
                    <a:lumMod val="50000"/>
                  </a:schemeClr>
                </a:solidFill>
              </a:rPr>
              <a:t>be done </a:t>
            </a:r>
            <a:r xmlns:a="http://schemas.openxmlformats.org/drawingml/2006/main">
              <a:rPr lang="en" altLang="ko-KR" sz="1050" b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xmlns:a="http://schemas.openxmlformats.org/drawingml/2006/main" marL="171450" indent="-171450">
              <a:buFont typeface="Arial" panose="020B0604020202020204" pitchFamily="34" charset="0"/>
              <a:buChar char="•"/>
            </a:pPr>
            <a:r xmlns:a="http://schemas.openxmlformats.org/drawingml/2006/main">
              <a:rPr lang="en" altLang="ko-KR" sz="1050" b="1" dirty="0" smtClean="0">
                <a:solidFill>
                  <a:schemeClr val="accent1">
                    <a:lumMod val="50000"/>
                  </a:schemeClr>
                </a:solidFill>
              </a:rPr>
              <a:t>[ </a:t>
            </a:r>
            <a:r xmlns:a="http://schemas.openxmlformats.org/drawingml/2006/main">
              <a:rPr lang="en" altLang="ko-KR" sz="1050" b="1" dirty="0" err="1" smtClean="0">
                <a:solidFill>
                  <a:schemeClr val="accent1">
                    <a:lumMod val="50000"/>
                  </a:schemeClr>
                </a:solidFill>
              </a:rPr>
              <a:t>IsReadOnly </a:t>
            </a:r>
            <a:r xmlns:a="http://schemas.openxmlformats.org/drawingml/2006/main">
              <a:rPr lang="en" altLang="ko-KR" sz="1050" b="1" dirty="0" smtClean="0">
                <a:solidFill>
                  <a:schemeClr val="accent1">
                    <a:lumMod val="50000"/>
                  </a:schemeClr>
                </a:solidFill>
              </a:rPr>
              <a:t>]</a:t>
            </a:r>
            <a:r xmlns:a="http://schemas.openxmlformats.org/drawingml/2006/main">
              <a:rPr lang="en" altLang="en-US" sz="1050" b="1" dirty="0" smtClean="0">
                <a:solidFill>
                  <a:schemeClr val="accent1">
                    <a:lumMod val="50000"/>
                  </a:schemeClr>
                </a:solidFill>
              </a:rPr>
              <a:t>​</a:t>
            </a:r>
            <a:r xmlns:a="http://schemas.openxmlformats.org/drawingml/2006/main">
              <a:rPr lang="en" altLang="ko-KR" sz="105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1050" b="1" dirty="0" smtClean="0">
                <a:solidFill>
                  <a:schemeClr val="accent1">
                    <a:lumMod val="50000"/>
                  </a:schemeClr>
                </a:solidFill>
              </a:rPr>
              <a:t>If checked, the corresponding </a:t>
            </a:r>
            <a:r xmlns:a="http://schemas.openxmlformats.org/drawingml/2006/main">
              <a:rPr lang="en" altLang="en-US" sz="1050" b="1" dirty="0" err="1" smtClean="0">
                <a:solidFill>
                  <a:schemeClr val="accent1">
                    <a:lumMod val="50000"/>
                  </a:schemeClr>
                </a:solidFill>
              </a:rPr>
              <a:t>confirmation column </a:t>
            </a:r>
            <a:r xmlns:a="http://schemas.openxmlformats.org/drawingml/2006/main">
              <a:rPr lang="en" altLang="en-US" sz="1050" b="1" dirty="0" smtClean="0">
                <a:solidFill>
                  <a:schemeClr val="accent1">
                    <a:lumMod val="50000"/>
                  </a:schemeClr>
                </a:solidFill>
              </a:rPr>
              <a:t>will be shown as disabled </a:t>
            </a:r>
            <a:r xmlns:a="http://schemas.openxmlformats.org/drawingml/2006/main">
              <a:rPr lang="en" altLang="ko-KR" sz="1050" b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xmlns:a="http://schemas.openxmlformats.org/drawingml/2006/main" lang="en-US" altLang="ko-KR" sz="10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6312022" y="1916832"/>
            <a:ext cx="2615948" cy="36596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400" dirty="0" smtClean="0"/>
              <a:t>Table </a:t>
            </a:r>
            <a:r xmlns:a="http://schemas.openxmlformats.org/drawingml/2006/main">
              <a:rPr lang="en" altLang="ko-KR" sz="1400" dirty="0"/>
              <a:t>: _TCOMConfirmDef</a:t>
            </a:r>
            <a:endParaRPr xmlns:a="http://schemas.openxmlformats.org/drawingml/2006/main" lang="ko-KR" altLang="en-US" sz="14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5021168" y="4509120"/>
            <a:ext cx="2952328" cy="3600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400" dirty="0" smtClean="0"/>
              <a:t>Table </a:t>
            </a:r>
            <a:r xmlns:a="http://schemas.openxmlformats.org/drawingml/2006/main">
              <a:rPr lang="en" altLang="ko-KR" sz="1400" dirty="0"/>
              <a:t>: _TCOMConfirmPGM</a:t>
            </a:r>
            <a:endParaRPr xmlns:a="http://schemas.openxmlformats.org/drawingml/2006/main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3297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280920" cy="1152128"/>
          </a:xfrm>
        </p:spPr>
        <p:txBody>
          <a:bodyPr>
            <a:normAutofit/>
          </a:bodyPr>
          <a:lstStyle/>
          <a:p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2.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Groupware</a:t>
            </a:r>
            <a:r xmlns:a="http://schemas.openxmlformats.org/drawingml/2006/main">
              <a:rPr lang="en" altLang="en-US" sz="32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ERP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setup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for use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 xmlns:a="http://schemas.openxmlformats.org/drawingml/2006/main">
              <a:rPr lang="en-US" altLang="ko-KR" sz="2800" b="1" dirty="0" smtClean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   </a:t>
            </a:r>
            <a:r xmlns:a="http://schemas.openxmlformats.org/drawingml/2006/main">
              <a:rPr lang="en" altLang="ko-KR" sz="2000" b="1" dirty="0" smtClean="0">
                <a:solidFill>
                  <a:schemeClr val="accent1">
                    <a:lumMod val="50000"/>
                  </a:schemeClr>
                </a:solidFill>
              </a:rPr>
              <a:t>2 - 2)</a:t>
            </a:r>
            <a:r xmlns:a="http://schemas.openxmlformats.org/drawingml/2006/main">
              <a:rPr lang="en" altLang="ko-KR" sz="2400" b="1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 xmlns:a="http://schemas.openxmlformats.org/drawingml/2006/main">
              <a:rPr lang="en" altLang="en-US" sz="2000" b="1" dirty="0" smtClean="0">
                <a:solidFill>
                  <a:schemeClr val="accent1">
                    <a:lumMod val="50000"/>
                  </a:schemeClr>
                </a:solidFill>
              </a:rPr>
              <a:t>Preferences </a:t>
            </a:r>
            <a:r xmlns:a="http://schemas.openxmlformats.org/drawingml/2006/main">
              <a:rPr lang="en" altLang="ko-KR" sz="2000" b="1" dirty="0" smtClean="0">
                <a:solidFill>
                  <a:schemeClr val="accent1">
                    <a:lumMod val="50000"/>
                  </a:schemeClr>
                </a:solidFill>
              </a:rPr>
              <a:t>- [ </a:t>
            </a:r>
            <a:r xmlns:a="http://schemas.openxmlformats.org/drawingml/2006/main">
              <a:rPr lang="en" altLang="en-US" sz="2000" b="1" dirty="0" smtClean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2000" b="1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ko-KR" sz="2400" b="1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1600" b="1" dirty="0" smtClean="0">
                <a:solidFill>
                  <a:schemeClr val="accent1">
                    <a:lumMod val="50000"/>
                  </a:schemeClr>
                </a:solidFill>
              </a:rPr>
              <a:t>Select and configure the groupware to connect.</a:t>
            </a:r>
            <a:endParaRPr xmlns:a="http://schemas.openxmlformats.org/drawingml/2006/main" lang="ko-KR" altLang="en-US" sz="10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9" y="1354228"/>
            <a:ext cx="8822601" cy="3154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모서리가 둥근 직사각형 7"/>
          <p:cNvSpPr/>
          <p:nvPr/>
        </p:nvSpPr>
        <p:spPr>
          <a:xfrm>
            <a:off x="5868144" y="1628800"/>
            <a:ext cx="2304256" cy="21602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200" dirty="0" smtClean="0"/>
              <a:t>Table </a:t>
            </a:r>
            <a:r xmlns:a="http://schemas.openxmlformats.org/drawingml/2006/main">
              <a:rPr lang="en" altLang="ko-KR" sz="1200" dirty="0" smtClean="0"/>
              <a:t>: _TCOMEnv</a:t>
            </a:r>
            <a:endParaRPr xmlns:a="http://schemas.openxmlformats.org/drawingml/2006/main" lang="ko-KR" altLang="en-US" sz="1200" dirty="0"/>
          </a:p>
        </p:txBody>
      </p:sp>
      <p:sp>
        <p:nvSpPr>
          <p:cNvPr id="10" name="모서리가 둥근 사각형 설명선 9"/>
          <p:cNvSpPr/>
          <p:nvPr/>
        </p:nvSpPr>
        <p:spPr>
          <a:xfrm>
            <a:off x="1763688" y="4005064"/>
            <a:ext cx="6931983" cy="2448272"/>
          </a:xfrm>
          <a:prstGeom prst="wedgeRoundRectCallout">
            <a:avLst>
              <a:gd name="adj1" fmla="val 1884"/>
              <a:gd name="adj2" fmla="val -65416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Item Description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&lt;Groupware&gt;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Whether to use groupware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If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you check this item when using groupware, the 'Submit Approval' button will appear on the electronic approval screen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You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can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connect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to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the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groupware by clicking the button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&lt;Groupware&gt;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Using the Groupware Status Button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When using groupware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if you check this item, the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'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Approval Status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'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button will appear on the electronic approval screen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 Click the button to connect to the groupware and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check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the approval progress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xmlns:a="http://schemas.openxmlformats.org/drawingml/2006/main" lang="en-US" altLang="ko-KR" sz="900" dirty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&lt;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&gt;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Groupware type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You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can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select a groupware company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Dongbu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Samjeong Data Service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, etc.)</a:t>
            </a: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&lt;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&gt;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Web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Server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IP: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xmlns:a="http://schemas.openxmlformats.org/drawingml/2006/main" lang="en-US" altLang="ko-KR" sz="900" dirty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&lt;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&gt;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URL:</a:t>
            </a:r>
          </a:p>
          <a:p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4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(9002)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Web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server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IP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+ 5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9004)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URL: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URL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that can call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the groupware page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when submitting payment</a:t>
            </a:r>
          </a:p>
          <a:p>
            <a:pPr xmlns:a="http://schemas.openxmlformats.org/drawingml/2006/main" marL="228600" indent="-228600">
              <a:buAutoNum type="arabicPeriod" startAt="6"/>
            </a:pP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Groupware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​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​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Groupware document classification parameters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: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Groupware document classification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parameter name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(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  <a:latin typeface="+mn-ea"/>
              </a:rPr>
              <a:t>value that does not need to be modified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)</a:t>
            </a:r>
          </a:p>
          <a:p>
            <a:pPr xmlns:a="http://schemas.openxmlformats.org/drawingml/2006/main" marL="228600" indent="-228600">
              <a:buAutoNum type="arabicPeriod" startAt="6"/>
            </a:pP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Groupware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​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​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Groupware document key parameters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: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Internal key of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ERP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screen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using groupware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As a parameter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Name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when passing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. (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Value that does not need to be modified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.)</a:t>
            </a:r>
          </a:p>
          <a:p>
            <a:pPr xmlns:a="http://schemas.openxmlformats.org/drawingml/2006/main" marL="228600" indent="-228600">
              <a:buAutoNum type="arabicPeriod" startAt="6"/>
            </a:pP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Groupware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​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​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Groupware progress status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URL: In some cases, the groupware page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used when submitting electronic approval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and the groupware page used to check the electronic approval progress status are different, so use this in that case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.</a:t>
            </a:r>
          </a:p>
          <a:p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  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4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(9002)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Groupware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Web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server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IP + 8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(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9012)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Groupware progress status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URL: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  <a:latin typeface="+mn-ea"/>
              </a:rPr>
              <a:t>URL that </a:t>
            </a:r>
            <a:endParaRPr xmlns:a="http://schemas.openxmlformats.org/drawingml/2006/main" lang="en-US" altLang="ko-KR" sz="900" dirty="0">
              <a:solidFill>
                <a:schemeClr val="accent1">
                  <a:lumMod val="50000"/>
                </a:schemeClr>
              </a:solidFill>
              <a:latin typeface="+mn-ea"/>
            </a:endParaRP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calls the groupware page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  <a:latin typeface="+mn-ea"/>
              </a:rPr>
              <a:t>when checking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the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payment status</a:t>
            </a:r>
          </a:p>
        </p:txBody>
      </p:sp>
    </p:spTree>
    <p:extLst>
      <p:ext uri="{BB962C8B-B14F-4D97-AF65-F5344CB8AC3E}">
        <p14:creationId xmlns:p14="http://schemas.microsoft.com/office/powerpoint/2010/main" val="248943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76376" y="404664"/>
            <a:ext cx="8842471" cy="1152128"/>
          </a:xfrm>
        </p:spPr>
        <p:txBody>
          <a:bodyPr>
            <a:normAutofit fontScale="90000"/>
          </a:bodyPr>
          <a:lstStyle/>
          <a:p>
            <a:r xmlns:a="http://schemas.openxmlformats.org/drawingml/2006/main">
              <a:rPr lang="en" altLang="ko-KR" sz="3100" b="1" dirty="0" smtClean="0">
                <a:solidFill>
                  <a:schemeClr val="accent1">
                    <a:lumMod val="50000"/>
                  </a:schemeClr>
                </a:solidFill>
              </a:rPr>
              <a:t>2. </a:t>
            </a:r>
            <a:r xmlns:a="http://schemas.openxmlformats.org/drawingml/2006/main">
              <a:rPr lang="en" altLang="ko-KR" sz="3100" b="1" dirty="0" smtClean="0">
                <a:solidFill>
                  <a:schemeClr val="accent1">
                    <a:lumMod val="50000"/>
                  </a:schemeClr>
                </a:solidFill>
              </a:rPr>
              <a:t>ERP </a:t>
            </a:r>
            <a:r xmlns:a="http://schemas.openxmlformats.org/drawingml/2006/main">
              <a:rPr lang="en" altLang="en-US" sz="3100" b="1" dirty="0" smtClean="0">
                <a:solidFill>
                  <a:schemeClr val="accent1">
                    <a:lumMod val="50000"/>
                  </a:schemeClr>
                </a:solidFill>
              </a:rPr>
              <a:t>settings </a:t>
            </a:r>
            <a:r xmlns:a="http://schemas.openxmlformats.org/drawingml/2006/main">
              <a:rPr lang="en" altLang="en-US" sz="3100" b="1" dirty="0" smtClean="0">
                <a:solidFill>
                  <a:schemeClr val="accent1">
                    <a:lumMod val="50000"/>
                  </a:schemeClr>
                </a:solidFill>
              </a:rPr>
              <a:t>for groupware use</a:t>
            </a:r>
            <a:r xmlns:a="http://schemas.openxmlformats.org/drawingml/2006/main">
              <a:rPr lang="en" altLang="ko-KR" sz="3200" b="1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 xmlns:a="http://schemas.openxmlformats.org/drawingml/2006/main">
              <a:rPr lang="en-US" altLang="ko-KR" sz="3200" b="1" dirty="0" smtClean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27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2700" b="1" dirty="0" smtClean="0">
                <a:solidFill>
                  <a:schemeClr val="accent1">
                    <a:lumMod val="50000"/>
                  </a:schemeClr>
                </a:solidFill>
              </a:rPr>
              <a:t>   </a:t>
            </a:r>
            <a:r xmlns:a="http://schemas.openxmlformats.org/drawingml/2006/main">
              <a:rPr lang="en" altLang="ko-KR" sz="2200" b="1" dirty="0" smtClean="0">
                <a:solidFill>
                  <a:schemeClr val="accent1">
                    <a:lumMod val="50000"/>
                  </a:schemeClr>
                </a:solidFill>
              </a:rPr>
              <a:t>2-3) </a:t>
            </a:r>
            <a:r xmlns:a="http://schemas.openxmlformats.org/drawingml/2006/main">
              <a:rPr lang="en" altLang="en-US" sz="2200" b="1" dirty="0" smtClean="0">
                <a:solidFill>
                  <a:schemeClr val="accent1">
                    <a:lumMod val="50000"/>
                  </a:schemeClr>
                </a:solidFill>
              </a:rPr>
              <a:t>Preferences </a:t>
            </a:r>
            <a:r xmlns:a="http://schemas.openxmlformats.org/drawingml/2006/main">
              <a:rPr lang="en" altLang="ko-KR" sz="2200" b="1" dirty="0" smtClean="0">
                <a:solidFill>
                  <a:schemeClr val="accent1">
                    <a:lumMod val="50000"/>
                  </a:schemeClr>
                </a:solidFill>
              </a:rPr>
              <a:t>- [ </a:t>
            </a:r>
            <a:r xmlns:a="http://schemas.openxmlformats.org/drawingml/2006/main">
              <a:rPr lang="en" altLang="en-US" sz="2200" b="1" dirty="0" smtClean="0">
                <a:solidFill>
                  <a:schemeClr val="accent1">
                    <a:lumMod val="50000"/>
                  </a:schemeClr>
                </a:solidFill>
              </a:rPr>
              <a:t>Electronic Approval Document Settings </a:t>
            </a:r>
            <a:r xmlns:a="http://schemas.openxmlformats.org/drawingml/2006/main">
              <a:rPr lang="en" altLang="ko-KR" sz="2200" b="1" dirty="0" smtClean="0">
                <a:solidFill>
                  <a:schemeClr val="accent1">
                    <a:lumMod val="50000"/>
                  </a:schemeClr>
                </a:solidFill>
              </a:rPr>
              <a:t>]</a:t>
            </a:r>
            <a:br xmlns:a="http://schemas.openxmlformats.org/drawingml/2006/main">
              <a:rPr lang="en-US" altLang="ko-KR" sz="2200" b="1" dirty="0" smtClean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22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2200" b="1" dirty="0" smtClean="0">
                <a:solidFill>
                  <a:schemeClr val="accent1">
                    <a:lumMod val="50000"/>
                  </a:schemeClr>
                </a:solidFill>
              </a:rPr>
              <a:t>              </a:t>
            </a:r>
            <a:r xmlns:a="http://schemas.openxmlformats.org/drawingml/2006/main">
              <a:rPr lang="en" altLang="ko-KR" sz="1800" b="1" dirty="0" smtClean="0">
                <a:solidFill>
                  <a:schemeClr val="accent1">
                    <a:lumMod val="50000"/>
                  </a:schemeClr>
                </a:solidFill>
              </a:rPr>
              <a:t>- Register </a:t>
            </a:r>
            <a:r xmlns:a="http://schemas.openxmlformats.org/drawingml/2006/main">
              <a:rPr lang="en" altLang="ko-KR" sz="1300" b="1" dirty="0" err="1" smtClean="0">
                <a:solidFill>
                  <a:schemeClr val="accent1">
                    <a:lumMod val="50000"/>
                  </a:schemeClr>
                </a:solidFill>
              </a:rPr>
              <a:t>DataService </a:t>
            </a:r>
            <a:r xmlns:a="http://schemas.openxmlformats.org/drawingml/2006/main">
              <a:rPr lang="en" altLang="ko-KR" sz="1300" b="1" dirty="0" smtClean="0">
                <a:solidFill>
                  <a:schemeClr val="accent1">
                    <a:lumMod val="50000"/>
                  </a:schemeClr>
                </a:solidFill>
              </a:rPr>
              <a:t>, SP , etc. for confirmation </a:t>
            </a:r>
            <a:r xmlns:a="http://schemas.openxmlformats.org/drawingml/2006/main">
              <a:rPr lang="en" altLang="ko-KR" sz="1300" b="1" dirty="0" smtClean="0">
                <a:solidFill>
                  <a:schemeClr val="accent1">
                    <a:lumMod val="50000"/>
                  </a:schemeClr>
                </a:solidFill>
              </a:rPr>
              <a:t>and </a:t>
            </a:r>
            <a:r xmlns:a="http://schemas.openxmlformats.org/drawingml/2006/main">
              <a:rPr lang="en" altLang="en-US" sz="1300" b="1" dirty="0" smtClean="0">
                <a:solidFill>
                  <a:schemeClr val="accent1">
                    <a:lumMod val="50000"/>
                  </a:schemeClr>
                </a:solidFill>
              </a:rPr>
              <a:t>document data inquiry for </a:t>
            </a:r>
            <a:r xmlns:a="http://schemas.openxmlformats.org/drawingml/2006/main">
              <a:rPr lang="en" altLang="en-US" sz="1300" b="1" dirty="0" smtClean="0">
                <a:solidFill>
                  <a:schemeClr val="accent1">
                    <a:lumMod val="50000"/>
                  </a:schemeClr>
                </a:solidFill>
              </a:rPr>
              <a:t>each electronic approval document, </a:t>
            </a:r>
            <a:r xmlns:a="http://schemas.openxmlformats.org/drawingml/2006/main">
              <a:rPr lang="en" altLang="en-US" sz="1300" b="1" dirty="0" smtClean="0">
                <a:solidFill>
                  <a:schemeClr val="accent1">
                    <a:lumMod val="50000"/>
                  </a:schemeClr>
                </a:solidFill>
              </a:rPr>
              <a:t>and register the screen used for each electronic approval </a:t>
            </a:r>
            <a:r xmlns:a="http://schemas.openxmlformats.org/drawingml/2006/main">
              <a:rPr lang="en" altLang="ko-KR" sz="1300" b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xmlns:a="http://schemas.openxmlformats.org/drawingml/2006/main" lang="ko-KR" altLang="en-US" sz="600" b="1" dirty="0">
              <a:solidFill>
                <a:srgbClr val="FF0000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07504" y="3933056"/>
            <a:ext cx="8856984" cy="28083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 xmlns:a="http://schemas.openxmlformats.org/drawingml/2006/main">
              <a:rPr lang="en" altLang="en-US" sz="900" b="1" dirty="0" err="1">
                <a:solidFill>
                  <a:schemeClr val="accent1">
                    <a:lumMod val="50000"/>
                  </a:schemeClr>
                </a:solidFill>
              </a:rPr>
              <a:t>First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sheet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Currently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consists of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5 standard documents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xmlns:a="http://schemas.openxmlformats.org/drawingml/2006/main" lang="en-US" altLang="ko-KR" sz="900" b="1" dirty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Usage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: In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Preferences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- [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, the use of groupware is checked and the use of each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approval document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must be checked for the approval submission button to be displayed on the electronic approval screen registered below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Approval Document Number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A key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value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that identifies each electronic approval document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 The table where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the electronic approval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status value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is stored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is </a:t>
            </a:r>
            <a:r xmlns:a="http://schemas.openxmlformats.org/drawingml/2006/main">
              <a:rPr lang="en" altLang="ko-KR" sz="900" dirty="0" err="1">
                <a:solidFill>
                  <a:schemeClr val="accent1">
                    <a:lumMod val="50000"/>
                  </a:schemeClr>
                </a:solidFill>
              </a:rPr>
              <a:t>TCOMGroupWare.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At </a:t>
            </a:r>
            <a:r xmlns:a="http://schemas.openxmlformats.org/drawingml/2006/main">
              <a:rPr lang="en" altLang="ko-KR" sz="900" dirty="0" err="1">
                <a:solidFill>
                  <a:schemeClr val="accent1">
                    <a:lumMod val="50000"/>
                  </a:schemeClr>
                </a:solidFill>
              </a:rPr>
              <a:t>WorkKind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Saved as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 xmlns:a="http://schemas.openxmlformats.org/drawingml/2006/main">
              <a:rPr lang="en" altLang="en-US" sz="900" dirty="0" err="1" smtClean="0">
                <a:solidFill>
                  <a:schemeClr val="accent1">
                    <a:lumMod val="50000"/>
                  </a:schemeClr>
                </a:solidFill>
              </a:rPr>
              <a:t>When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calling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the groupware page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900" dirty="0" err="1">
                <a:solidFill>
                  <a:schemeClr val="accent1">
                    <a:lumMod val="50000"/>
                  </a:schemeClr>
                </a:solidFill>
              </a:rPr>
              <a:t>WorkKind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Passed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as a parameter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called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 (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Required key value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value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that must not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be modified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.)</a:t>
            </a: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Confirmation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This item selects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whether to use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the confirmation function for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ERP data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when processing electronic approval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 ( The use of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ERP electronic approval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related to the work flow is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generally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intended to confirm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ERP data as soon as electronic approval is completed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Modification and progression to the next step are controlled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before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the data is confirmed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.)</a:t>
            </a: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Confirmed name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Select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the confirmed name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registered in [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Confirmation Management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Progress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: If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the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column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is checked,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ERP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data that has progressed to the next step of the process cannot be canceled through electronic approval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.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Currently, Dongbu and Samjeong cannot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cancel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electronic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payments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after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they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have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been completed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Therefore, checking the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'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Progress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'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box is meaningless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.)</a:t>
            </a:r>
          </a:p>
          <a:p>
            <a:pPr xmlns:a="http://schemas.openxmlformats.org/drawingml/2006/main" marL="228600" indent="-228600">
              <a:buFontTx/>
              <a:buAutoNum type="arabicPeriod"/>
            </a:pP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Register </a:t>
            </a:r>
            <a:r xmlns:a="http://schemas.openxmlformats.org/drawingml/2006/main">
              <a:rPr lang="en" altLang="ko-KR" sz="900" dirty="0" err="1" smtClean="0">
                <a:solidFill>
                  <a:schemeClr val="accent1">
                    <a:lumMod val="50000"/>
                  </a:schemeClr>
                </a:solidFill>
              </a:rPr>
              <a:t>DataService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, Method, and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SP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for printing in groupware documents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900" dirty="0" err="1" smtClean="0">
                <a:solidFill>
                  <a:schemeClr val="accent1">
                    <a:lumMod val="50000"/>
                  </a:schemeClr>
                </a:solidFill>
              </a:rPr>
              <a:t>Things to keep in mind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when creating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document output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SP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: When writing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an output </a:t>
            </a:r>
            <a:r xmlns:a="http://schemas.openxmlformats.org/drawingml/2006/main">
              <a:rPr lang="en" altLang="ko-KR" sz="900" dirty="0" err="1" smtClean="0">
                <a:solidFill>
                  <a:schemeClr val="accent1">
                    <a:lumMod val="50000"/>
                  </a:schemeClr>
                </a:solidFill>
              </a:rPr>
              <a:t>sp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, all data to be output must be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processed in </a:t>
            </a:r>
            <a:r xmlns:a="http://schemas.openxmlformats.org/drawingml/2006/main">
              <a:rPr lang="en" altLang="ko-KR" sz="900" dirty="0" err="1" smtClean="0">
                <a:solidFill>
                  <a:schemeClr val="accent1">
                    <a:lumMod val="50000"/>
                  </a:schemeClr>
                </a:solidFill>
              </a:rPr>
              <a:t>sp to process decimal points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date format, etc. as desired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and output in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string format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                                                        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The output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created in </a:t>
            </a:r>
            <a:r xmlns:a="http://schemas.openxmlformats.org/drawingml/2006/main">
              <a:rPr lang="en" altLang="ko-KR" sz="900" dirty="0" err="1" smtClean="0">
                <a:solidFill>
                  <a:schemeClr val="accent1">
                    <a:lumMod val="50000"/>
                  </a:schemeClr>
                </a:solidFill>
              </a:rPr>
              <a:t>sp is delivered to the groupware company as </a:t>
            </a:r>
            <a:r xmlns:a="http://schemas.openxmlformats.org/drawingml/2006/main">
              <a:rPr lang="en" altLang="en-US" sz="900" dirty="0" err="1" smtClean="0">
                <a:solidFill>
                  <a:schemeClr val="accent1">
                    <a:lumMod val="50000"/>
                  </a:schemeClr>
                </a:solidFill>
              </a:rPr>
              <a:t>is so that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it can be modified later.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To allow only </a:t>
            </a:r>
            <a:r xmlns:a="http://schemas.openxmlformats.org/drawingml/2006/main">
              <a:rPr lang="en" altLang="ko-KR" sz="900" dirty="0" err="1" smtClean="0">
                <a:solidFill>
                  <a:schemeClr val="accent1">
                    <a:lumMod val="50000"/>
                  </a:schemeClr>
                </a:solidFill>
              </a:rPr>
              <a:t>sp to be modified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. (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number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amount)</a:t>
            </a:r>
            <a:endParaRPr xmlns:a="http://schemas.openxmlformats.org/drawingml/2006/main" lang="en-US" altLang="ko-KR" sz="900" dirty="0" smtClean="0">
              <a:solidFill>
                <a:schemeClr val="accent1">
                  <a:lumMod val="50000"/>
                </a:schemeClr>
              </a:solidFill>
            </a:endParaRPr>
          </a:p>
          <a:p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                                                         The part that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handles currency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and </a:t>
            </a:r>
            <a:r xmlns:a="http://schemas.openxmlformats.org/drawingml/2006/main">
              <a:rPr lang="en" altLang="en-US" sz="900" dirty="0" err="1" smtClean="0">
                <a:solidFill>
                  <a:schemeClr val="accent1">
                    <a:lumMod val="50000"/>
                  </a:schemeClr>
                </a:solidFill>
              </a:rPr>
              <a:t>decimal points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according to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the ERP </a:t>
            </a:r>
            <a:r xmlns:a="http://schemas.openxmlformats.org/drawingml/2006/main">
              <a:rPr lang="en" altLang="en-US" sz="900" dirty="0" err="1" smtClean="0">
                <a:solidFill>
                  <a:schemeClr val="accent1">
                    <a:lumMod val="50000"/>
                  </a:schemeClr>
                </a:solidFill>
              </a:rPr>
              <a:t>environment settings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is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_ </a:t>
            </a:r>
            <a:r xmlns:a="http://schemas.openxmlformats.org/drawingml/2006/main">
              <a:rPr lang="en" altLang="ko-KR" sz="900" dirty="0" err="1" smtClean="0">
                <a:solidFill>
                  <a:schemeClr val="accent1">
                    <a:lumMod val="50000"/>
                  </a:schemeClr>
                </a:solidFill>
              </a:rPr>
              <a:t>fnGWAmtCommma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You can use functions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.)</a:t>
            </a:r>
            <a:endParaRPr xmlns:a="http://schemas.openxmlformats.org/drawingml/2006/main" lang="en-US" altLang="ko-KR" sz="900" dirty="0">
              <a:solidFill>
                <a:schemeClr val="accent1">
                  <a:lumMod val="50000"/>
                </a:schemeClr>
              </a:solidFill>
            </a:endParaRPr>
          </a:p>
          <a:p>
            <a:r xmlns:a="http://schemas.openxmlformats.org/drawingml/2006/main">
              <a:rPr lang="en" altLang="en-US" sz="900" b="1" dirty="0" err="1">
                <a:solidFill>
                  <a:schemeClr val="accent1">
                    <a:lumMod val="50000"/>
                  </a:schemeClr>
                </a:solidFill>
              </a:rPr>
              <a:t>Second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sheet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Register a screen to use the payment document registered in </a:t>
            </a:r>
            <a:endParaRPr xmlns:a="http://schemas.openxmlformats.org/drawingml/2006/main" lang="en-US" altLang="ko-KR" sz="900" dirty="0">
              <a:solidFill>
                <a:schemeClr val="accent1">
                  <a:lumMod val="50000"/>
                </a:schemeClr>
              </a:solidFill>
            </a:endParaRP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the first sheet</a:t>
            </a: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ko-KR" sz="900" dirty="0" err="1">
                <a:solidFill>
                  <a:schemeClr val="accent1">
                    <a:lumMod val="50000"/>
                  </a:schemeClr>
                </a:solidFill>
              </a:rPr>
              <a:t>Seq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control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 xmlns:a="http://schemas.openxmlformats.org/drawingml/2006/main">
              <a:rPr lang="en" altLang="ko-KR" sz="900" dirty="0" err="1">
                <a:solidFill>
                  <a:schemeClr val="accent1">
                    <a:lumMod val="50000"/>
                  </a:schemeClr>
                </a:solidFill>
              </a:rPr>
              <a:t>Seq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data block field name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Select the item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that will be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the key value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on the screen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 xmlns:a="http://schemas.openxmlformats.org/drawingml/2006/main">
              <a:rPr lang="en" altLang="ko-KR" sz="900" dirty="0" err="1">
                <a:solidFill>
                  <a:schemeClr val="accent1">
                    <a:lumMod val="50000"/>
                  </a:schemeClr>
                </a:solidFill>
              </a:rPr>
              <a:t>DataFieldName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of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the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selected </a:t>
            </a:r>
            <a:r xmlns:a="http://schemas.openxmlformats.org/drawingml/2006/main">
              <a:rPr lang="en" altLang="en-US" sz="900" dirty="0" err="1" smtClean="0">
                <a:solidFill>
                  <a:schemeClr val="accent1">
                    <a:lumMod val="50000"/>
                  </a:schemeClr>
                </a:solidFill>
              </a:rPr>
              <a:t>key value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item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Enter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If there are multiple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key values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used when confirming the screen, up to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3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can be entered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 ( </a:t>
            </a:r>
            <a:r xmlns:a="http://schemas.openxmlformats.org/drawingml/2006/main">
              <a:rPr lang="en" altLang="ko-KR" sz="900" dirty="0" err="1">
                <a:solidFill>
                  <a:schemeClr val="accent1">
                    <a:lumMod val="50000"/>
                  </a:schemeClr>
                </a:solidFill>
              </a:rPr>
              <a:t>Serl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 xmlns:a="http://schemas.openxmlformats.org/drawingml/2006/main">
              <a:rPr lang="en" altLang="ko-KR" sz="900" dirty="0" err="1">
                <a:solidFill>
                  <a:schemeClr val="accent1">
                    <a:lumMod val="50000"/>
                  </a:schemeClr>
                </a:solidFill>
              </a:rPr>
              <a:t>SubSerl)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Just enter the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required </a:t>
            </a:r>
            <a:r xmlns:a="http://schemas.openxmlformats.org/drawingml/2006/main">
              <a:rPr lang="en" altLang="en-US" sz="900" dirty="0" err="1">
                <a:solidFill>
                  <a:schemeClr val="accent1">
                    <a:lumMod val="50000"/>
                  </a:schemeClr>
                </a:solidFill>
              </a:rPr>
              <a:t>key value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.)</a:t>
            </a: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Title control name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&amp; </a:t>
            </a:r>
            <a:r xmlns:a="http://schemas.openxmlformats.org/drawingml/2006/main">
              <a:rPr lang="en" altLang="en-US" sz="900" dirty="0" err="1" smtClean="0">
                <a:solidFill>
                  <a:schemeClr val="accent1">
                    <a:lumMod val="50000"/>
                  </a:schemeClr>
                </a:solidFill>
              </a:rPr>
              <a:t>title data field name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ko-KR" sz="900" dirty="0" err="1" smtClean="0">
                <a:solidFill>
                  <a:schemeClr val="accent1">
                    <a:lumMod val="50000"/>
                  </a:schemeClr>
                </a:solidFill>
              </a:rPr>
              <a:t>TblTitle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900" dirty="0">
                <a:solidFill>
                  <a:schemeClr val="accent1">
                    <a:lumMod val="50000"/>
                  </a:schemeClr>
                </a:solidFill>
              </a:rPr>
              <a:t>Pass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data to be combined into a title </a:t>
            </a:r>
            <a:r xmlns:a="http://schemas.openxmlformats.org/drawingml/2006/main">
              <a:rPr lang="en" altLang="en-US" sz="900" dirty="0" err="1" smtClean="0">
                <a:solidFill>
                  <a:schemeClr val="accent1">
                    <a:lumMod val="50000"/>
                  </a:schemeClr>
                </a:solidFill>
              </a:rPr>
              <a:t>as a parameter </a:t>
            </a:r>
            <a:r xmlns:a="http://schemas.openxmlformats.org/drawingml/2006/main">
              <a:rPr lang="en" altLang="ko-KR" sz="900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In the electronic approval document,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it will be created in the form of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'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Default Title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ko-KR" sz="900" dirty="0" err="1" smtClean="0">
                <a:solidFill>
                  <a:schemeClr val="accent1">
                    <a:lumMod val="50000"/>
                  </a:schemeClr>
                </a:solidFill>
              </a:rPr>
              <a:t>TblTitle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'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.)</a:t>
            </a:r>
          </a:p>
          <a:p>
            <a:pPr xmlns:a="http://schemas.openxmlformats.org/drawingml/2006/main" marL="228600" indent="-228600">
              <a:buAutoNum type="arabicPeriod"/>
            </a:pPr>
            <a:r xmlns:a="http://schemas.openxmlformats.org/drawingml/2006/main">
              <a:rPr lang="en" altLang="en-US" sz="900" dirty="0" err="1" smtClean="0">
                <a:solidFill>
                  <a:schemeClr val="accent1">
                    <a:lumMod val="50000"/>
                  </a:schemeClr>
                </a:solidFill>
              </a:rPr>
              <a:t>Document number control name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: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900" dirty="0" err="1" smtClean="0">
                <a:solidFill>
                  <a:schemeClr val="accent1">
                    <a:lumMod val="50000"/>
                  </a:schemeClr>
                </a:solidFill>
              </a:rPr>
              <a:t>ErpNo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Pass data to be used as document number </a:t>
            </a:r>
            <a:r xmlns:a="http://schemas.openxmlformats.org/drawingml/2006/main">
              <a:rPr lang="en" altLang="en-US" sz="900" dirty="0" err="1" smtClean="0">
                <a:solidFill>
                  <a:schemeClr val="accent1">
                    <a:lumMod val="50000"/>
                  </a:schemeClr>
                </a:solidFill>
              </a:rPr>
              <a:t>as parameter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does not apply to </a:t>
            </a:r>
            <a:r xmlns:a="http://schemas.openxmlformats.org/drawingml/2006/main">
              <a:rPr lang="en" altLang="en-US" sz="900" dirty="0" smtClean="0">
                <a:solidFill>
                  <a:schemeClr val="accent1">
                    <a:lumMod val="50000"/>
                  </a:schemeClr>
                </a:solidFill>
              </a:rPr>
              <a:t>Dongbu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and </a:t>
            </a:r>
            <a:r xmlns:a="http://schemas.openxmlformats.org/drawingml/2006/main">
              <a:rPr lang="en" altLang="en-US" sz="900" dirty="0" err="1" smtClean="0">
                <a:solidFill>
                  <a:schemeClr val="accent1">
                    <a:lumMod val="50000"/>
                  </a:schemeClr>
                </a:solidFill>
              </a:rPr>
              <a:t>Samjeong </a:t>
            </a:r>
            <a:r xmlns:a="http://schemas.openxmlformats.org/drawingml/2006/main">
              <a:rPr lang="en" altLang="ko-KR" sz="900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xmlns:a="http://schemas.openxmlformats.org/drawingml/2006/main" lang="en-US" altLang="ko-KR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541370"/>
            <a:ext cx="9144000" cy="2391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모서리가 둥근 직사각형 7"/>
          <p:cNvSpPr/>
          <p:nvPr/>
        </p:nvSpPr>
        <p:spPr>
          <a:xfrm>
            <a:off x="6228184" y="2204864"/>
            <a:ext cx="2866644" cy="36004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200" dirty="0" smtClean="0"/>
              <a:t>Table </a:t>
            </a:r>
            <a:r xmlns:a="http://schemas.openxmlformats.org/drawingml/2006/main">
              <a:rPr lang="en" altLang="ko-KR" sz="1200" dirty="0" smtClean="0"/>
              <a:t>: _TCOMEnvGroupWare</a:t>
            </a:r>
            <a:endParaRPr xmlns:a="http://schemas.openxmlformats.org/drawingml/2006/main" lang="en-US" altLang="ko-KR" sz="12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4766180" y="3182567"/>
            <a:ext cx="3125833" cy="3133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200" dirty="0" smtClean="0"/>
              <a:t>Table </a:t>
            </a:r>
            <a:r xmlns:a="http://schemas.openxmlformats.org/drawingml/2006/main">
              <a:rPr lang="en" altLang="ko-KR" sz="1200" dirty="0" smtClean="0"/>
              <a:t>: </a:t>
            </a:r>
            <a:r xmlns:a="http://schemas.openxmlformats.org/drawingml/2006/main">
              <a:rPr lang="en" altLang="ko-KR" sz="1200" dirty="0"/>
              <a:t>_TCOMEnvGroupWarePgm</a:t>
            </a:r>
            <a:r xmlns:a="http://schemas.openxmlformats.org/drawingml/2006/main">
              <a:rPr lang="en" altLang="ko-KR" sz="1200" dirty="0" smtClean="0"/>
              <a:t>​</a:t>
            </a:r>
            <a:endParaRPr xmlns:a="http://schemas.openxmlformats.org/drawingml/2006/main"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290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80248"/>
          </a:xfrm>
        </p:spPr>
        <p:txBody>
          <a:bodyPr/>
          <a:lstStyle/>
          <a:p>
            <a:pPr xmlns:a="http://schemas.openxmlformats.org/drawingml/2006/main">
              <a:buFont typeface="Wingdings" panose="05000000000000000000" pitchFamily="2" charset="2"/>
              <a:buChar char="u"/>
            </a:pPr>
            <a:r xmlns:a="http://schemas.openxmlformats.org/drawingml/2006/main">
              <a:rPr lang="en" altLang="en-US" sz="1800" dirty="0">
                <a:solidFill>
                  <a:schemeClr val="accent1">
                    <a:lumMod val="50000"/>
                  </a:schemeClr>
                </a:solidFill>
              </a:rPr>
              <a:t>Calling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groupware web pages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xmlns:a="http://schemas.openxmlformats.org/drawingml/2006/main" lang="en-US" altLang="ko-KR" sz="1800" dirty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['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1800" dirty="0">
                <a:solidFill>
                  <a:schemeClr val="accent1">
                    <a:lumMod val="50000"/>
                  </a:schemeClr>
                </a:solidFill>
              </a:rPr>
              <a:t>Web </a:t>
            </a:r>
            <a:r xmlns:a="http://schemas.openxmlformats.org/drawingml/2006/main">
              <a:rPr lang="en" altLang="en-US" sz="1800" dirty="0">
                <a:solidFill>
                  <a:schemeClr val="accent1">
                    <a:lumMod val="50000"/>
                  </a:schemeClr>
                </a:solidFill>
              </a:rPr>
              <a:t>Server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IP' </a:t>
            </a:r>
            <a:r xmlns:a="http://schemas.openxmlformats.org/drawingml/2006/main">
              <a:rPr lang="en" altLang="ko-KR" sz="1800" dirty="0">
                <a:solidFill>
                  <a:schemeClr val="accent1">
                    <a:lumMod val="50000"/>
                  </a:schemeClr>
                </a:solidFill>
              </a:rPr>
              <a:t>+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'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URL'] </a:t>
            </a:r>
            <a:r xmlns:a="http://schemas.openxmlformats.org/drawingml/2006/main">
              <a:rPr lang="en" altLang="en-US" sz="1800" dirty="0">
                <a:solidFill>
                  <a:schemeClr val="accent1">
                    <a:lumMod val="50000"/>
                  </a:schemeClr>
                </a:solidFill>
              </a:rPr>
              <a:t>saved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in the settings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and the </a:t>
            </a:r>
            <a:r xmlns:a="http://schemas.openxmlformats.org/drawingml/2006/main">
              <a:rPr lang="en" altLang="ko-KR" sz="1800" dirty="0">
                <a:solidFill>
                  <a:schemeClr val="accent1">
                    <a:lumMod val="50000"/>
                  </a:schemeClr>
                </a:solidFill>
              </a:rPr>
              <a:t>parameter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value </a:t>
            </a:r>
            <a:r xmlns:a="http://schemas.openxmlformats.org/drawingml/2006/main">
              <a:rPr lang="en" altLang="en-US" sz="1800" dirty="0">
                <a:solidFill>
                  <a:schemeClr val="accent1">
                    <a:lumMod val="50000"/>
                  </a:schemeClr>
                </a:solidFill>
              </a:rPr>
              <a:t>agreed upon with the groupware company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1800" dirty="0">
                <a:solidFill>
                  <a:schemeClr val="accent1">
                    <a:lumMod val="50000"/>
                  </a:schemeClr>
                </a:solidFill>
              </a:rPr>
              <a:t>Calling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the groupware web page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>
              <a:buFontTx/>
              <a:buChar char="-"/>
            </a:pPr>
            <a:endParaRPr lang="en-US" altLang="ko-KR" sz="18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>
              <a:buFont typeface="Wingdings" panose="05000000000000000000" pitchFamily="2" charset="2"/>
              <a:buChar char="u"/>
            </a:pP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Parameter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values </a:t>
            </a:r>
            <a:endParaRPr xmlns:a="http://schemas.openxmlformats.org/drawingml/2006/main" lang="en-US" altLang="ko-KR" sz="1800" dirty="0" smtClean="0">
              <a:solidFill>
                <a:schemeClr val="accent1">
                  <a:lumMod val="50000"/>
                </a:schemeClr>
              </a:solidFill>
            </a:endParaRP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agreed upon with the groupware company</a:t>
            </a: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Configure the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mutually agreed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parameter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values in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_SCASiteLinkSSOQuery and pass them to the groupware web page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>
              <a:buFontTx/>
              <a:buChar char="-"/>
            </a:pPr>
            <a:endParaRPr lang="en-US" altLang="ko-KR" sz="1800" dirty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>
              <a:buFont typeface="Wingdings" panose="05000000000000000000" pitchFamily="2" charset="2"/>
              <a:buChar char="u"/>
            </a:pP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URL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connected when clicking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the Payment Submission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or Payment Status button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is different</a:t>
            </a:r>
            <a:endParaRPr xmlns:a="http://schemas.openxmlformats.org/drawingml/2006/main" lang="en-US" altLang="ko-KR" sz="18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8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You can specify it differently in the settings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. (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Explained in 2-2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>
              <a:buFontTx/>
              <a:buChar char="-"/>
            </a:pPr>
            <a:endParaRPr lang="en-US" altLang="ko-KR" sz="1800" dirty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>
              <a:buFont typeface="Wingdings" panose="05000000000000000000" pitchFamily="2" charset="2"/>
              <a:buChar char="u"/>
            </a:pP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parameter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values </a:t>
            </a:r>
            <a:endParaRPr xmlns:a="http://schemas.openxmlformats.org/drawingml/2006/main" lang="en-US" altLang="ko-KR" sz="1800" dirty="0" smtClean="0">
              <a:solidFill>
                <a:schemeClr val="accent1">
                  <a:lumMod val="50000"/>
                </a:schemeClr>
              </a:solidFill>
            </a:endParaRP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passed when clicking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the Payment Submission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or Payment Status button are different</a:t>
            </a: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8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- _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Can be configured differently in </a:t>
            </a:r>
            <a:r xmlns:a="http://schemas.openxmlformats.org/drawingml/2006/main">
              <a:rPr lang="en" altLang="ko-KR" sz="1800" dirty="0">
                <a:solidFill>
                  <a:schemeClr val="accent1">
                    <a:lumMod val="50000"/>
                  </a:schemeClr>
                </a:solidFill>
              </a:rPr>
              <a:t>SCASiteLinkSSOQuery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800" dirty="0">
                <a:solidFill>
                  <a:schemeClr val="accent1">
                    <a:lumMod val="50000"/>
                  </a:schemeClr>
                </a:solidFill>
              </a:rPr>
              <a:t>-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 xmlns:a="http://schemas.openxmlformats.org/drawingml/2006/main">
              <a:rPr lang="en" altLang="ko-KR" sz="1800" dirty="0">
                <a:solidFill>
                  <a:schemeClr val="accent1">
                    <a:lumMod val="50000"/>
                  </a:schemeClr>
                </a:solidFill>
              </a:rPr>
              <a:t>@GWValue4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=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in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that </a:t>
            </a:r>
            <a:r xmlns:a="http://schemas.openxmlformats.org/drawingml/2006/main">
              <a:rPr lang="en" altLang="ko-KR" sz="1800" dirty="0" err="1" smtClean="0">
                <a:solidFill>
                  <a:schemeClr val="accent1">
                    <a:lumMod val="50000"/>
                  </a:schemeClr>
                </a:solidFill>
              </a:rPr>
              <a:t>sp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If it is </a:t>
            </a:r>
            <a:r xmlns:a="http://schemas.openxmlformats.org/drawingml/2006/main">
              <a:rPr lang="en" altLang="ko-KR" sz="1800" dirty="0">
                <a:solidFill>
                  <a:schemeClr val="accent1">
                    <a:lumMod val="50000"/>
                  </a:schemeClr>
                </a:solidFill>
              </a:rPr>
              <a:t>1 ,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it means that the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'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Payment Status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' button was clicked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xmlns:a="http://schemas.openxmlformats.org/drawingml/2006/main" lang="ko-KR" altLang="en-US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260648"/>
            <a:ext cx="9073008" cy="990600"/>
          </a:xfrm>
        </p:spPr>
        <p:txBody>
          <a:bodyPr>
            <a:normAutofit/>
          </a:bodyPr>
          <a:lstStyle/>
          <a:p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3.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Description of </a:t>
            </a:r>
            <a:endParaRPr xmlns:a="http://schemas.openxmlformats.org/drawingml/2006/main" lang="ko-KR" altLang="en-US" sz="2800" b="1" dirty="0">
              <a:solidFill>
                <a:schemeClr val="accent1">
                  <a:lumMod val="50000"/>
                </a:schemeClr>
              </a:solidFill>
            </a:endParaRP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URL &amp; parameter values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required when connecting to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groupware</a:t>
            </a:r>
          </a:p>
        </p:txBody>
      </p:sp>
    </p:spTree>
    <p:extLst>
      <p:ext uri="{BB962C8B-B14F-4D97-AF65-F5344CB8AC3E}">
        <p14:creationId xmlns:p14="http://schemas.microsoft.com/office/powerpoint/2010/main" val="254011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229600" cy="990600"/>
          </a:xfrm>
        </p:spPr>
        <p:txBody>
          <a:bodyPr>
            <a:normAutofit/>
          </a:bodyPr>
          <a:lstStyle/>
          <a:p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4. Create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a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button according to groupware-related settings</a:t>
            </a:r>
            <a:endParaRPr xmlns:a="http://schemas.openxmlformats.org/drawingml/2006/main" lang="ko-KR" alt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5" y="1462088"/>
            <a:ext cx="9085989" cy="3263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1520" y="4869160"/>
            <a:ext cx="85689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xmlns:a="http://schemas.openxmlformats.org/drawingml/2006/main"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 xmlns:a="http://schemas.openxmlformats.org/drawingml/2006/main">
              <a:rPr lang="en" altLang="en-US" sz="1600" dirty="0" smtClean="0"/>
              <a:t>Click the </a:t>
            </a:r>
            <a:endParaRPr xmlns:a="http://schemas.openxmlformats.org/drawingml/2006/main" lang="en-US" altLang="ko-KR" sz="1600" dirty="0" smtClean="0"/>
            <a:r xmlns:a="http://schemas.openxmlformats.org/drawingml/2006/main">
              <a:rPr lang="en" altLang="ko-KR" sz="1600" dirty="0" smtClean="0"/>
              <a:t>' </a:t>
            </a:r>
            <a:r xmlns:a="http://schemas.openxmlformats.org/drawingml/2006/main">
              <a:rPr lang="en" altLang="en-US" sz="1600" dirty="0" smtClean="0"/>
              <a:t>Approve Submission </a:t>
            </a:r>
            <a:r xmlns:a="http://schemas.openxmlformats.org/drawingml/2006/main">
              <a:rPr lang="en" altLang="ko-KR" sz="1600" dirty="0" smtClean="0"/>
              <a:t>' button to connect the groupware and proceed with electronic approval.</a:t>
            </a:r>
          </a:p>
          <a:p>
            <a:endParaRPr lang="en-US" altLang="ko-KR" sz="1600" dirty="0" smtClean="0"/>
          </a:p>
          <a:p>
            <a:pPr xmlns:a="http://schemas.openxmlformats.org/drawingml/2006/main" marL="285750" indent="-2857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 xmlns:a="http://schemas.openxmlformats.org/drawingml/2006/main">
              <a:rPr lang="en" altLang="ko-KR" sz="1600" dirty="0" smtClean="0"/>
              <a:t>' </a:t>
            </a:r>
            <a:r xmlns:a="http://schemas.openxmlformats.org/drawingml/2006/main">
              <a:rPr lang="en" altLang="en-US" sz="1600" dirty="0" smtClean="0"/>
              <a:t>Approval Status </a:t>
            </a:r>
            <a:r xmlns:a="http://schemas.openxmlformats.org/drawingml/2006/main">
              <a:rPr lang="en" altLang="ko-KR" sz="1600" dirty="0" smtClean="0"/>
              <a:t>' </a:t>
            </a:r>
            <a:r xmlns:a="http://schemas.openxmlformats.org/drawingml/2006/main">
              <a:rPr lang="en" altLang="en-US" sz="1600" dirty="0" smtClean="0"/>
              <a:t>button and connect to the groupware to check the electronic approval progress of the relevant case.</a:t>
            </a:r>
            <a:endParaRPr xmlns:a="http://schemas.openxmlformats.org/drawingml/2006/main" lang="en-US" altLang="ko-KR" sz="1600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539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51519" y="260648"/>
            <a:ext cx="8824119" cy="990600"/>
          </a:xfrm>
        </p:spPr>
        <p:txBody>
          <a:bodyPr>
            <a:normAutofit/>
          </a:bodyPr>
          <a:lstStyle/>
          <a:p>
            <a:r xmlns:a="http://schemas.openxmlformats.org/drawingml/2006/main">
              <a:rPr lang="en" altLang="en-US" sz="2400" b="1" dirty="0" smtClean="0">
                <a:solidFill>
                  <a:schemeClr val="accent1">
                    <a:lumMod val="50000"/>
                  </a:schemeClr>
                </a:solidFill>
              </a:rPr>
              <a:t>Click the </a:t>
            </a:r>
            <a:r xmlns:a="http://schemas.openxmlformats.org/drawingml/2006/main">
              <a:rPr lang="en" altLang="ko-KR" sz="2400" b="1" dirty="0" smtClean="0">
                <a:solidFill>
                  <a:schemeClr val="accent1">
                    <a:lumMod val="50000"/>
                  </a:schemeClr>
                </a:solidFill>
              </a:rPr>
              <a:t>' </a:t>
            </a:r>
            <a:r xmlns:a="http://schemas.openxmlformats.org/drawingml/2006/main">
              <a:rPr lang="en" altLang="en-US" sz="2400" b="1" dirty="0" smtClean="0">
                <a:solidFill>
                  <a:schemeClr val="accent1">
                    <a:lumMod val="50000"/>
                  </a:schemeClr>
                </a:solidFill>
              </a:rPr>
              <a:t>Approve Submission </a:t>
            </a:r>
            <a:r xmlns:a="http://schemas.openxmlformats.org/drawingml/2006/main">
              <a:rPr lang="en" altLang="ko-KR" sz="2400" b="1" dirty="0" smtClean="0">
                <a:solidFill>
                  <a:schemeClr val="accent1">
                    <a:lumMod val="50000"/>
                  </a:schemeClr>
                </a:solidFill>
              </a:rPr>
              <a:t>' button to connect to the groupware </a:t>
            </a:r>
            <a:r xmlns:a="http://schemas.openxmlformats.org/drawingml/2006/main">
              <a:rPr lang="en" altLang="ko-KR" sz="2400" b="1" dirty="0" smtClean="0">
                <a:solidFill>
                  <a:schemeClr val="accent1">
                    <a:lumMod val="50000"/>
                  </a:schemeClr>
                </a:solidFill>
              </a:rPr>
              <a:t>(Office365) </a:t>
            </a:r>
            <a:r xmlns:a="http://schemas.openxmlformats.org/drawingml/2006/main">
              <a:rPr lang="en" altLang="en-US" sz="2400" b="1" dirty="0" smtClean="0">
                <a:solidFill>
                  <a:schemeClr val="accent1">
                    <a:lumMod val="50000"/>
                  </a:schemeClr>
                </a:solidFill>
              </a:rPr>
              <a:t>page.</a:t>
            </a:r>
            <a:endParaRPr xmlns:a="http://schemas.openxmlformats.org/drawingml/2006/main" lang="ko-KR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1196752"/>
            <a:ext cx="9036496" cy="5069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6086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3956" y="980728"/>
            <a:ext cx="8880044" cy="43204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1. [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Shipping Request Input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Enter and save data</a:t>
            </a:r>
            <a:endParaRPr xmlns:a="http://schemas.openxmlformats.org/drawingml/2006/main" lang="en-US" altLang="ko-KR" sz="11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If you save on that screen, confirmation management will be done in the groupware settings, so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confirmation-related data will be created in </a:t>
            </a:r>
            <a:endParaRPr xmlns:a="http://schemas.openxmlformats.org/drawingml/2006/main" lang="ko-KR" altLang="en-US" sz="900" b="1" dirty="0">
              <a:solidFill>
                <a:schemeClr val="accent1">
                  <a:lumMod val="50000"/>
                </a:schemeClr>
              </a:solidFill>
            </a:endParaRP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_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TCOMConfirm.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892480" cy="990600"/>
          </a:xfrm>
        </p:spPr>
        <p:txBody>
          <a:bodyPr>
            <a:normAutofit/>
          </a:bodyPr>
          <a:lstStyle/>
          <a:p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5.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Table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changes </a:t>
            </a:r>
            <a:endParaRPr xmlns:a="http://schemas.openxmlformats.org/drawingml/2006/main" lang="ko-KR" altLang="en-US" sz="2800" b="1" dirty="0">
              <a:solidFill>
                <a:schemeClr val="accent1">
                  <a:lumMod val="50000"/>
                </a:schemeClr>
              </a:solidFill>
            </a:endParaRP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according to electronic approval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submission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251520" y="1724529"/>
            <a:ext cx="8892480" cy="6243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2.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Click the </a:t>
            </a:r>
            <a:endParaRPr xmlns:a="http://schemas.openxmlformats.org/drawingml/2006/main" lang="en-US" altLang="ko-KR" sz="1100" b="1" dirty="0" smtClean="0">
              <a:solidFill>
                <a:schemeClr val="accent1">
                  <a:lumMod val="50000"/>
                </a:schemeClr>
              </a:solidFill>
            </a:endParaRP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'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Approval Submission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' button on the ERP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screen .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Using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_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SCOMGroupWareStart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_Generate a status change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SQL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statement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to be called according to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electronic approval-related actions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electronic approval submission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approval completion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approval cancellation, etc.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in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TCOMGroupWare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xmlns:a="http://schemas.openxmlformats.org/drawingml/2006/main" lang="en-US" altLang="ko-KR" sz="900" b="1" dirty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WorkKind: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Approval document number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TblKey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Key value of the screen configured in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[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Electronic Approval Document Settings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] in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the Preferences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. (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In the example, the internal code for the shipment request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is 92)</a:t>
            </a:r>
            <a:endParaRPr xmlns:a="http://schemas.openxmlformats.org/drawingml/2006/main" lang="en-US" altLang="ko-KR" sz="1050" b="1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76771"/>
            <a:ext cx="7465319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57478"/>
            <a:ext cx="9036496" cy="31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내용 개체 틀 2"/>
          <p:cNvSpPr txBox="1">
            <a:spLocks/>
          </p:cNvSpPr>
          <p:nvPr/>
        </p:nvSpPr>
        <p:spPr>
          <a:xfrm>
            <a:off x="251520" y="2804649"/>
            <a:ext cx="8892480" cy="11127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3.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Go to the groupware page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Depending on the electronic approval-related action, the groupware company calls the status change web service provided by Yeonglimwon to </a:t>
            </a:r>
            <a:r xmlns:a="http://schemas.openxmlformats.org/drawingml/2006/main">
              <a:rPr lang="en" altLang="ko-KR" sz="1100" b="1" dirty="0">
                <a:solidFill>
                  <a:schemeClr val="accent1">
                    <a:lumMod val="50000"/>
                  </a:schemeClr>
                </a:solidFill>
              </a:rPr>
              <a:t>_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SCOMGroupWareStatus</a:t>
            </a:r>
            <a:r xmlns:a="http://schemas.openxmlformats.org/drawingml/2006/main">
              <a:rPr lang="en" altLang="en-US" sz="11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Execute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. (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The details below are in the electronic approval area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endParaRPr lang="en-US" altLang="ko-KR" sz="7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3-1.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Payment submission</a:t>
            </a:r>
            <a:endParaRPr xmlns:a="http://schemas.openxmlformats.org/drawingml/2006/main" lang="en-US" altLang="ko-KR" sz="11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- _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Run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ProgSQL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TCOMGroupWare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.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IsProg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value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changes to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1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CfmCode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value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in _TCOMConfirm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changed to </a:t>
            </a:r>
            <a:endParaRPr xmlns:a="http://schemas.openxmlformats.org/drawingml/2006/main" lang="ko-KR" altLang="en-US" sz="900" b="1" dirty="0">
              <a:solidFill>
                <a:schemeClr val="accent1">
                  <a:lumMod val="50000"/>
                </a:schemeClr>
              </a:solidFill>
            </a:endParaRP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917429"/>
            <a:ext cx="9108504" cy="591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내용 개체 틀 2"/>
          <p:cNvSpPr txBox="1">
            <a:spLocks/>
          </p:cNvSpPr>
          <p:nvPr/>
        </p:nvSpPr>
        <p:spPr>
          <a:xfrm>
            <a:off x="251520" y="4509120"/>
            <a:ext cx="8892480" cy="6081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3-2.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Payment completed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final approver approval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- _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Execute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ProgSQL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TCOMGroupWare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. IsProg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value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changes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to 1 and IsEnd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value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changes to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1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CfmCode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value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in _TCOMConfirm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changed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to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251520" y="5666687"/>
            <a:ext cx="8892480" cy="5706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3-3.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Cancellation of payment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rejection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,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document deletion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- _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Delete the corresponding data of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TCOMGroupWare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ko-KR" sz="900" b="1" dirty="0">
                <a:solidFill>
                  <a:schemeClr val="accent1">
                    <a:lumMod val="50000"/>
                  </a:schemeClr>
                </a:solidFill>
              </a:rPr>
              <a:t>CfmCode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value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in _TCOMConfirm </a:t>
            </a:r>
            <a:r xmlns:a="http://schemas.openxmlformats.org/drawingml/2006/main">
              <a:rPr lang="en" altLang="en-US" sz="900" b="1" dirty="0">
                <a:solidFill>
                  <a:schemeClr val="accent1">
                    <a:lumMod val="50000"/>
                  </a:schemeClr>
                </a:solidFill>
              </a:rPr>
              <a:t>changed </a:t>
            </a:r>
            <a:r xmlns:a="http://schemas.openxmlformats.org/drawingml/2006/main">
              <a:rPr lang="en" altLang="en-US" sz="900" b="1" dirty="0" smtClean="0">
                <a:solidFill>
                  <a:schemeClr val="accent1">
                    <a:lumMod val="50000"/>
                  </a:schemeClr>
                </a:solidFill>
              </a:rPr>
              <a:t>to </a:t>
            </a:r>
            <a:r xmlns:a="http://schemas.openxmlformats.org/drawingml/2006/main">
              <a:rPr lang="en" altLang="ko-KR" sz="900" b="1" dirty="0" smtClean="0">
                <a:solidFill>
                  <a:schemeClr val="accent1">
                    <a:lumMod val="50000"/>
                  </a:schemeClr>
                </a:solidFill>
              </a:rPr>
              <a:t>0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244403"/>
            <a:ext cx="9108504" cy="568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5085184"/>
            <a:ext cx="9108504" cy="616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159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19" y="1196752"/>
            <a:ext cx="8704911" cy="5280248"/>
          </a:xfrm>
        </p:spPr>
        <p:txBody>
          <a:bodyPr>
            <a:normAutofit fontScale="85000" lnSpcReduction="20000"/>
          </a:bodyPr>
          <a:lstStyle/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900" dirty="0" smtClean="0">
                <a:solidFill>
                  <a:schemeClr val="accent1">
                    <a:lumMod val="50000"/>
                  </a:schemeClr>
                </a:solidFill>
              </a:rPr>
              <a:t>[ </a:t>
            </a:r>
            <a:r xmlns:a="http://schemas.openxmlformats.org/drawingml/2006/main">
              <a:rPr lang="en" altLang="en-US" sz="1900" dirty="0" smtClean="0">
                <a:solidFill>
                  <a:schemeClr val="accent1">
                    <a:lumMod val="50000"/>
                  </a:schemeClr>
                </a:solidFill>
              </a:rPr>
              <a:t>Required Actions </a:t>
            </a:r>
            <a:r xmlns:a="http://schemas.openxmlformats.org/drawingml/2006/main">
              <a:rPr lang="en" altLang="ko-KR" sz="1900" dirty="0" smtClean="0">
                <a:solidFill>
                  <a:schemeClr val="accent1">
                    <a:lumMod val="50000"/>
                  </a:schemeClr>
                </a:solidFill>
              </a:rPr>
              <a:t>]</a:t>
            </a: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1.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Items to be provided to the Samjeong Database</a:t>
            </a:r>
            <a:endParaRPr xmlns:a="http://schemas.openxmlformats.org/drawingml/2006/main" lang="en-US" altLang="ko-KR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lvl="1"/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Corporate Number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(CompanySeq)</a:t>
            </a:r>
          </a:p>
          <a:p>
            <a:pPr xmlns:a="http://schemas.openxmlformats.org/drawingml/2006/main" lvl="1"/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</a:rPr>
              <a:t>Fixed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SecuKey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_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TDEVCust: </a:t>
            </a:r>
            <a:r xmlns:a="http://schemas.openxmlformats.org/drawingml/2006/main">
              <a:rPr lang="en" altLang="ko-KR" sz="1400" dirty="0" err="1">
                <a:solidFill>
                  <a:schemeClr val="accent1">
                    <a:lumMod val="50000"/>
                  </a:schemeClr>
                </a:solidFill>
              </a:rPr>
              <a:t>Guid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stored in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the customer business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DB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xmlns:a="http://schemas.openxmlformats.org/drawingml/2006/main" lvl="1"/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WCF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Service </a:t>
            </a:r>
            <a:r xmlns:a="http://schemas.openxmlformats.org/drawingml/2006/main">
              <a:rPr lang="en" altLang="ko-KR" sz="1400" dirty="0" err="1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EndPoint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address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1400" dirty="0" err="1" smtClean="0">
                <a:solidFill>
                  <a:schemeClr val="accent1">
                    <a:lumMod val="50000"/>
                  </a:schemeClr>
                </a:solidFill>
              </a:rPr>
              <a:t>HttpExecute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Service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URL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Example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: WBS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development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server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: http://wbs.ksystem.co.kr:8088/AngKor.Ylw.Common.HttpExecute/httpexecute.svc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              </a:t>
            </a:r>
            <a:r xmlns:a="http://schemas.openxmlformats.org/drawingml/2006/main">
              <a:rPr lang="en" altLang="ko-KR" sz="1400" dirty="0" err="1" smtClean="0">
                <a:solidFill>
                  <a:schemeClr val="accent1">
                    <a:lumMod val="50000"/>
                  </a:schemeClr>
                </a:solidFill>
              </a:rPr>
              <a:t>ABCInit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: http://abcinit.cloudapp.net/HttpExecute.svc</a:t>
            </a:r>
            <a:endParaRPr xmlns:a="http://schemas.openxmlformats.org/drawingml/2006/main" lang="en-US" altLang="ko-KR" sz="14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2.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Yeonglimwon internal settings </a:t>
            </a: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Environment settings </a:t>
            </a: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- [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settings</a:t>
            </a:r>
            <a:endParaRPr xmlns:a="http://schemas.openxmlformats.org/drawingml/2006/main" lang="en-US" altLang="ko-KR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lvl="1"/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&lt; </a:t>
            </a:r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&gt;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Groupware Type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(9001):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Samjeong Data Service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(9001502)</a:t>
            </a:r>
          </a:p>
          <a:p>
            <a:pPr xmlns:a="http://schemas.openxmlformats.org/drawingml/2006/main" lvl="1"/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&lt; </a:t>
            </a:r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&gt; </a:t>
            </a:r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Web </a:t>
            </a:r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</a:rPr>
              <a:t>Server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IP (9002): http://o365brg.directcloud.co.kr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/</a:t>
            </a:r>
          </a:p>
          <a:p>
            <a:pPr xmlns:a="http://schemas.openxmlformats.org/drawingml/2006/main" lvl="1"/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&lt; </a:t>
            </a:r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&gt; </a:t>
            </a:r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URL (9004):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ylwerp.aspx</a:t>
            </a:r>
          </a:p>
          <a:p>
            <a:pPr xmlns:a="http://schemas.openxmlformats.org/drawingml/2006/main" lvl="1">
              <a:lnSpc>
                <a:spcPct val="120000"/>
              </a:lnSpc>
            </a:pPr>
            <a:r xmlns:a="http://schemas.openxmlformats.org/drawingml/2006/main">
              <a:rPr lang="en" altLang="ko-KR" sz="1400" dirty="0" smtClean="0">
                <a:solidFill>
                  <a:schemeClr val="tx2">
                    <a:lumMod val="75000"/>
                  </a:schemeClr>
                </a:solidFill>
              </a:rPr>
              <a:t>&lt; </a:t>
            </a:r>
            <a:r xmlns:a="http://schemas.openxmlformats.org/drawingml/2006/main">
              <a:rPr lang="en" altLang="en-US" sz="1400" dirty="0">
                <a:solidFill>
                  <a:schemeClr val="tx2">
                    <a:lumMod val="75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1400" dirty="0">
                <a:solidFill>
                  <a:schemeClr val="tx2">
                    <a:lumMod val="75000"/>
                  </a:schemeClr>
                </a:solidFill>
              </a:rPr>
              <a:t>&gt; </a:t>
            </a:r>
            <a:r xmlns:a="http://schemas.openxmlformats.org/drawingml/2006/main">
              <a:rPr lang="en" altLang="en-US" sz="1400" dirty="0">
                <a:solidFill>
                  <a:schemeClr val="tx2">
                    <a:lumMod val="75000"/>
                  </a:schemeClr>
                </a:solidFill>
              </a:rPr>
              <a:t>Groupware connection </a:t>
            </a:r>
            <a:r xmlns:a="http://schemas.openxmlformats.org/drawingml/2006/main">
              <a:rPr lang="en" altLang="en-US" sz="1400" dirty="0" smtClean="0">
                <a:solidFill>
                  <a:schemeClr val="tx2">
                    <a:lumMod val="75000"/>
                  </a:schemeClr>
                </a:solidFill>
              </a:rPr>
              <a:t>authentication key </a:t>
            </a:r>
            <a:r xmlns:a="http://schemas.openxmlformats.org/drawingml/2006/main">
              <a:rPr lang="en" altLang="ko-KR" sz="1400" dirty="0" smtClean="0">
                <a:solidFill>
                  <a:schemeClr val="tx2">
                    <a:lumMod val="75000"/>
                  </a:schemeClr>
                </a:solidFill>
              </a:rPr>
              <a:t>(9103): </a:t>
            </a:r>
            <a:r xmlns:a="http://schemas.openxmlformats.org/drawingml/2006/main">
              <a:rPr lang="en" altLang="en-US" sz="1400" dirty="0" smtClean="0">
                <a:solidFill>
                  <a:schemeClr val="tx2">
                    <a:lumMod val="75000"/>
                  </a:schemeClr>
                </a:solidFill>
              </a:rPr>
              <a:t>Authentication key provided by Samjeong </a:t>
            </a:r>
            <a:r xmlns:a="http://schemas.openxmlformats.org/drawingml/2006/main">
              <a:rPr lang="en" altLang="ko-KR" sz="1400" dirty="0">
                <a:solidFill>
                  <a:schemeClr val="tx2">
                    <a:lumMod val="75000"/>
                  </a:schemeClr>
                </a:solidFill>
              </a:rPr>
              <a:t>( </a:t>
            </a:r>
            <a:r xmlns:a="http://schemas.openxmlformats.org/drawingml/2006/main">
              <a:rPr lang="en" altLang="en-US" sz="1400" dirty="0" smtClean="0">
                <a:solidFill>
                  <a:schemeClr val="tx2">
                    <a:lumMod val="75000"/>
                  </a:schemeClr>
                </a:solidFill>
              </a:rPr>
              <a:t>different for each customer </a:t>
            </a:r>
            <a:r xmlns:a="http://schemas.openxmlformats.org/drawingml/2006/main">
              <a:rPr lang="en" altLang="ko-KR" sz="1400" dirty="0" smtClean="0">
                <a:solidFill>
                  <a:schemeClr val="tx2">
                    <a:lumMod val="75000"/>
                  </a:schemeClr>
                </a:solidFill>
              </a:rPr>
              <a:t>. ( </a:t>
            </a:r>
            <a:r xmlns:a="http://schemas.openxmlformats.org/drawingml/2006/main">
              <a:rPr lang="en" altLang="en-US" sz="1400" dirty="0" err="1" smtClean="0">
                <a:solidFill>
                  <a:schemeClr val="tx2">
                    <a:lumMod val="75000"/>
                  </a:schemeClr>
                </a:solidFill>
              </a:rPr>
              <a:t>Required value </a:t>
            </a:r>
            <a:r xmlns:a="http://schemas.openxmlformats.org/drawingml/2006/main">
              <a:rPr lang="en" altLang="ko-KR" sz="1400" dirty="0" smtClean="0">
                <a:solidFill>
                  <a:schemeClr val="tx2">
                    <a:lumMod val="75000"/>
                  </a:schemeClr>
                </a:solidFill>
              </a:rPr>
              <a:t>))</a:t>
            </a:r>
          </a:p>
          <a:p>
            <a:pPr xmlns:a="http://schemas.openxmlformats.org/drawingml/2006/main" marL="274320" lvl="1" indent="0">
              <a:lnSpc>
                <a:spcPct val="120000"/>
              </a:lnSpc>
              <a:buNone/>
            </a:pPr>
            <a:r xmlns:a="http://schemas.openxmlformats.org/drawingml/2006/main">
              <a:rPr lang="en" altLang="ko-KR" sz="1400" dirty="0" smtClean="0">
                <a:solidFill>
                  <a:schemeClr val="tx2">
                    <a:lumMod val="75000"/>
                  </a:schemeClr>
                </a:solidFill>
              </a:rPr>
              <a:t>                    This item is special and </a:t>
            </a:r>
            <a:r xmlns:a="http://schemas.openxmlformats.org/drawingml/2006/main">
              <a:rPr lang="en" altLang="en-US" sz="1400" dirty="0" smtClean="0">
                <a:solidFill>
                  <a:schemeClr val="tx2">
                    <a:lumMod val="75000"/>
                  </a:schemeClr>
                </a:solidFill>
              </a:rPr>
              <a:t>should not </a:t>
            </a:r>
            <a:r xmlns:a="http://schemas.openxmlformats.org/drawingml/2006/main">
              <a:rPr lang="en" altLang="en-US" sz="1400" dirty="0" err="1" smtClean="0">
                <a:solidFill>
                  <a:schemeClr val="tx2">
                    <a:lumMod val="75000"/>
                  </a:schemeClr>
                </a:solidFill>
              </a:rPr>
              <a:t>be opened </a:t>
            </a:r>
            <a:r xmlns:a="http://schemas.openxmlformats.org/drawingml/2006/main">
              <a:rPr lang="en" altLang="en-US" sz="1400" dirty="0" smtClean="0">
                <a:solidFill>
                  <a:schemeClr val="tx2">
                    <a:lumMod val="75000"/>
                  </a:schemeClr>
                </a:solidFill>
              </a:rPr>
              <a:t>from the Preferences screen </a:t>
            </a:r>
            <a:r xmlns:a="http://schemas.openxmlformats.org/drawingml/2006/main">
              <a:rPr lang="en" altLang="ko-KR" sz="1400" dirty="0" smtClean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 xmlns:a="http://schemas.openxmlformats.org/drawingml/2006/main">
              <a:rPr lang="en" altLang="ko-KR" sz="1400" dirty="0" smtClean="0">
                <a:solidFill>
                  <a:schemeClr val="tx2">
                    <a:lumMod val="75000"/>
                  </a:schemeClr>
                </a:solidFill>
              </a:rPr>
              <a:t>                                                                      </a:t>
            </a:r>
            <a:r xmlns:a="http://schemas.openxmlformats.org/drawingml/2006/main">
              <a:rPr lang="en" altLang="ko-KR" sz="1400" dirty="0">
                <a:solidFill>
                  <a:schemeClr val="tx2">
                    <a:lumMod val="75000"/>
                  </a:schemeClr>
                </a:solidFill>
              </a:rPr>
              <a:t>( </a:t>
            </a:r>
            <a:r xmlns:a="http://schemas.openxmlformats.org/drawingml/2006/main">
              <a:rPr lang="en" altLang="en-US" sz="1400" dirty="0" smtClean="0">
                <a:solidFill>
                  <a:schemeClr val="tx2">
                    <a:lumMod val="75000"/>
                  </a:schemeClr>
                </a:solidFill>
              </a:rPr>
              <a:t>You must </a:t>
            </a:r>
            <a:r xmlns:a="http://schemas.openxmlformats.org/drawingml/2006/main">
              <a:rPr lang="en" altLang="ko-KR" sz="1400" dirty="0" smtClean="0">
                <a:solidFill>
                  <a:schemeClr val="tx2">
                    <a:lumMod val="75000"/>
                  </a:schemeClr>
                </a:solidFill>
              </a:rPr>
              <a:t>insert </a:t>
            </a:r>
            <a:r xmlns:a="http://schemas.openxmlformats.org/drawingml/2006/main">
              <a:rPr lang="en" altLang="en-US" sz="1400" dirty="0" smtClean="0">
                <a:solidFill>
                  <a:schemeClr val="tx2">
                    <a:lumMod val="75000"/>
                  </a:schemeClr>
                </a:solidFill>
              </a:rPr>
              <a:t>directly into </a:t>
            </a:r>
            <a:r xmlns:a="http://schemas.openxmlformats.org/drawingml/2006/main">
              <a:rPr lang="en" altLang="ko-KR" sz="1400" dirty="0" smtClean="0">
                <a:solidFill>
                  <a:schemeClr val="tx2">
                    <a:lumMod val="75000"/>
                  </a:schemeClr>
                </a:solidFill>
              </a:rPr>
              <a:t>the table </a:t>
            </a:r>
            <a:r xmlns:a="http://schemas.openxmlformats.org/drawingml/2006/main">
              <a:rPr lang="en" altLang="en-US" sz="1400" dirty="0">
                <a:solidFill>
                  <a:schemeClr val="tx2">
                    <a:lumMod val="75000"/>
                  </a:schemeClr>
                </a:solidFill>
              </a:rPr>
              <a:t>in the DB </a:t>
            </a:r>
            <a:r xmlns:a="http://schemas.openxmlformats.org/drawingml/2006/main">
              <a:rPr lang="en" altLang="ko-KR" sz="1400" dirty="0" smtClean="0">
                <a:solidFill>
                  <a:schemeClr val="tx2">
                    <a:lumMod val="75000"/>
                  </a:schemeClr>
                </a:solidFill>
              </a:rPr>
              <a:t>.)</a:t>
            </a: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900" dirty="0" smtClean="0">
                <a:solidFill>
                  <a:schemeClr val="accent1">
                    <a:lumMod val="50000"/>
                  </a:schemeClr>
                </a:solidFill>
              </a:rPr>
              <a:t>[ </a:t>
            </a:r>
            <a:r xmlns:a="http://schemas.openxmlformats.org/drawingml/2006/main">
              <a:rPr lang="en" altLang="en-US" sz="1900" dirty="0" smtClean="0">
                <a:solidFill>
                  <a:schemeClr val="accent1">
                    <a:lumMod val="50000"/>
                  </a:schemeClr>
                </a:solidFill>
              </a:rPr>
              <a:t>significant </a:t>
            </a:r>
            <a:r xmlns:a="http://schemas.openxmlformats.org/drawingml/2006/main">
              <a:rPr lang="en" altLang="ko-KR" sz="1900" dirty="0" smtClean="0">
                <a:solidFill>
                  <a:schemeClr val="accent1">
                    <a:lumMod val="50000"/>
                  </a:schemeClr>
                </a:solidFill>
              </a:rPr>
              <a:t>]</a:t>
            </a:r>
          </a:p>
          <a:p>
            <a:pPr xmlns:a="http://schemas.openxmlformats.org/drawingml/2006/main">
              <a:buFont typeface="Wingdings" panose="05000000000000000000" pitchFamily="2" charset="2"/>
              <a:buChar char="u"/>
            </a:pP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Samjeong </a:t>
            </a: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Groupware connection authentication key </a:t>
            </a: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setting </a:t>
            </a: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: 9103)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creation process description</a:t>
            </a:r>
            <a:endParaRPr xmlns:a="http://schemas.openxmlformats.org/drawingml/2006/main" lang="en-US" altLang="ko-KR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1)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New customer contract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2) </a:t>
            </a:r>
            <a:r xmlns:a="http://schemas.openxmlformats.org/drawingml/2006/main">
              <a:rPr lang="en" altLang="en-US" sz="1400" dirty="0" err="1" smtClean="0">
                <a:solidFill>
                  <a:schemeClr val="accent1">
                    <a:lumMod val="50000"/>
                  </a:schemeClr>
                </a:solidFill>
              </a:rPr>
              <a:t>At Yeonglimwon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 Fixed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SecuKey(_TDEVCust: Guid), CompanySeq,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based on customer information contracted </a:t>
            </a:r>
            <a:r xmlns:a="http://schemas.openxmlformats.org/drawingml/2006/main">
              <a:rPr lang="en" altLang="en-US" sz="1400" dirty="0" err="1" smtClean="0">
                <a:solidFill>
                  <a:schemeClr val="accent1">
                    <a:lumMod val="50000"/>
                  </a:schemeClr>
                </a:solidFill>
              </a:rPr>
              <a:t>with Samjeong Data Service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    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WCF </a:t>
            </a:r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Service </a:t>
            </a:r>
            <a:r xmlns:a="http://schemas.openxmlformats.org/drawingml/2006/main">
              <a:rPr lang="en" altLang="ko-KR" sz="1400" dirty="0" err="1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EndPoint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Provide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your address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3) </a:t>
            </a:r>
            <a:r xmlns:a="http://schemas.openxmlformats.org/drawingml/2006/main">
              <a:rPr lang="en" altLang="en-US" sz="1400" dirty="0" err="1" smtClean="0">
                <a:solidFill>
                  <a:schemeClr val="accent1">
                    <a:lumMod val="50000"/>
                  </a:schemeClr>
                </a:solidFill>
              </a:rPr>
              <a:t>When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connecting groupware using fixed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SecuKey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and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CompanySeq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in Samjeong Data Service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xmlns:a="http://schemas.openxmlformats.org/drawingml/2006/main" lang="en-US" altLang="ko-KR" sz="14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  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Generate the authentication key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(DCGWAuthKey)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to be used and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send it </a:t>
            </a:r>
            <a:r xmlns:a="http://schemas.openxmlformats.org/drawingml/2006/main">
              <a:rPr lang="en" altLang="en-US" sz="1400" dirty="0" err="1" smtClean="0">
                <a:solidFill>
                  <a:schemeClr val="accent1">
                    <a:lumMod val="50000"/>
                  </a:schemeClr>
                </a:solidFill>
              </a:rPr>
              <a:t>to Yeonglimwon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4)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Save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the given authentication key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(DCGWAuthKey) in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the environment settings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(9103)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. (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In the DB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pPr xmlns:a="http://schemas.openxmlformats.org/drawingml/2006/main">
              <a:buFont typeface="Wingdings" panose="05000000000000000000" pitchFamily="2" charset="2"/>
              <a:buChar char="u"/>
            </a:pP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2000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en-US" sz="2000" dirty="0" err="1" smtClean="0">
                <a:solidFill>
                  <a:schemeClr val="accent1">
                    <a:lumMod val="50000"/>
                  </a:schemeClr>
                </a:solidFill>
              </a:rPr>
              <a:t>Samjeong </a:t>
            </a:r>
            <a:r xmlns:a="http://schemas.openxmlformats.org/drawingml/2006/main">
              <a:rPr lang="en" altLang="ko-KR" sz="2000" dirty="0" smtClean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en-US" sz="2000" dirty="0" smtClean="0">
                <a:solidFill>
                  <a:schemeClr val="accent1">
                    <a:lumMod val="50000"/>
                  </a:schemeClr>
                </a:solidFill>
              </a:rPr>
              <a:t>The </a:t>
            </a:r>
            <a:r xmlns:a="http://schemas.openxmlformats.org/drawingml/2006/main">
              <a:rPr lang="en" altLang="ko-KR" sz="2000" dirty="0" smtClean="0">
                <a:solidFill>
                  <a:schemeClr val="accent1">
                    <a:lumMod val="50000"/>
                  </a:schemeClr>
                </a:solidFill>
              </a:rPr>
              <a:t>parameter </a:t>
            </a:r>
            <a:r xmlns:a="http://schemas.openxmlformats.org/drawingml/2006/main">
              <a:rPr lang="en" altLang="en-US" sz="2000" dirty="0" smtClean="0">
                <a:solidFill>
                  <a:schemeClr val="accent1">
                    <a:lumMod val="50000"/>
                  </a:schemeClr>
                </a:solidFill>
              </a:rPr>
              <a:t>passed to the groupware connector </a:t>
            </a:r>
            <a:r xmlns:a="http://schemas.openxmlformats.org/drawingml/2006/main">
              <a:rPr lang="en" altLang="ko-KR" sz="2000" dirty="0" err="1" smtClean="0">
                <a:solidFill>
                  <a:schemeClr val="accent1">
                    <a:lumMod val="50000"/>
                  </a:schemeClr>
                </a:solidFill>
              </a:rPr>
              <a:t>is </a:t>
            </a:r>
            <a:r xmlns:a="http://schemas.openxmlformats.org/drawingml/2006/main">
              <a:rPr lang="en" altLang="en-US" sz="2000" dirty="0" smtClean="0">
                <a:solidFill>
                  <a:schemeClr val="accent1">
                    <a:lumMod val="50000"/>
                  </a:schemeClr>
                </a:solidFill>
              </a:rPr>
              <a:t>configured separately in </a:t>
            </a:r>
            <a:r xmlns:a="http://schemas.openxmlformats.org/drawingml/2006/main">
              <a:rPr lang="en" altLang="ko-KR" sz="2000" dirty="0" smtClean="0">
                <a:solidFill>
                  <a:schemeClr val="accent1">
                    <a:lumMod val="50000"/>
                  </a:schemeClr>
                </a:solidFill>
              </a:rPr>
              <a:t>_SWCASiteLinkSSOQuery </a:t>
            </a:r>
            <a:r xmlns:a="http://schemas.openxmlformats.org/drawingml/2006/main">
              <a:rPr lang="en" altLang="ko-KR" sz="20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892480" cy="990600"/>
          </a:xfrm>
        </p:spPr>
        <p:txBody>
          <a:bodyPr>
            <a:normAutofit/>
          </a:bodyPr>
          <a:lstStyle/>
          <a:p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6. Settings when using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Samjeong Data Service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(Office 365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xmlns:a="http://schemas.openxmlformats.org/drawingml/2006/main" lang="ko-KR" alt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59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579296" cy="990600"/>
          </a:xfrm>
        </p:spPr>
        <p:txBody>
          <a:bodyPr>
            <a:normAutofit/>
          </a:bodyPr>
          <a:lstStyle/>
          <a:p>
            <a:r xmlns:a="http://schemas.openxmlformats.org/drawingml/2006/main">
              <a:rPr lang="en" altLang="en-US" sz="2500" b="1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Samjeong Data Service </a:t>
            </a:r>
            <a:r xmlns:a="http://schemas.openxmlformats.org/drawingml/2006/main">
              <a:rPr lang="en" altLang="ko-KR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(Office 365) </a:t>
            </a:r>
            <a:r xmlns:a="http://schemas.openxmlformats.org/drawingml/2006/main">
              <a:rPr lang="en" altLang="en-US" sz="2500" b="1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groupware usage process</a:t>
            </a:r>
            <a:r xmlns:a="http://schemas.openxmlformats.org/drawingml/2006/main">
              <a:rPr lang="en" altLang="ko-KR" sz="2500" b="1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xmlns:a="http://schemas.openxmlformats.org/drawingml/2006/main" lang="ko-KR" altLang="en-US" sz="2500" b="1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3779912" y="1609564"/>
            <a:ext cx="1296144" cy="50405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New customers</a:t>
            </a:r>
            <a:endParaRPr xmlns:a="http://schemas.openxmlformats.org/drawingml/2006/main" lang="ko-KR" altLang="en-US" b="1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539552" y="2113620"/>
            <a:ext cx="2016224" cy="50405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Yeonglimwon Soft Lab</a:t>
            </a:r>
            <a:endParaRPr xmlns:a="http://schemas.openxmlformats.org/drawingml/2006/main" lang="ko-KR" altLang="en-US" b="1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6228184" y="2113620"/>
            <a:ext cx="2160240" cy="50405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Samjeong Data </a:t>
            </a:r>
            <a:r xmlns:a="http://schemas.openxmlformats.org/drawingml/2006/main">
              <a:rPr lang="en" altLang="en-US" b="1" dirty="0"/>
              <a:t>Service</a:t>
            </a:r>
          </a:p>
        </p:txBody>
      </p:sp>
      <p:cxnSp>
        <p:nvCxnSpPr>
          <p:cNvPr id="8" name="직선 화살표 연결선 7"/>
          <p:cNvCxnSpPr>
            <a:stCxn id="4" idx="1"/>
            <a:endCxn id="5" idx="3"/>
          </p:cNvCxnSpPr>
          <p:nvPr/>
        </p:nvCxnSpPr>
        <p:spPr>
          <a:xfrm flipH="1">
            <a:off x="2555776" y="1861592"/>
            <a:ext cx="1224136" cy="504056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5076056" y="1844824"/>
            <a:ext cx="1152128" cy="504056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10"/>
          <p:cNvSpPr/>
          <p:nvPr/>
        </p:nvSpPr>
        <p:spPr>
          <a:xfrm>
            <a:off x="2437447" y="1691190"/>
            <a:ext cx="936104" cy="3072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600" b="1" dirty="0" smtClean="0"/>
              <a:t>contract</a:t>
            </a:r>
            <a:r xmlns:a="http://schemas.openxmlformats.org/drawingml/2006/main">
              <a:rPr lang="en" altLang="en-US" sz="1600" b="1" dirty="0"/>
              <a:t>​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436096" y="1707958"/>
            <a:ext cx="936104" cy="3072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600" b="1" dirty="0" smtClean="0"/>
              <a:t>contract</a:t>
            </a:r>
            <a:r xmlns:a="http://schemas.openxmlformats.org/drawingml/2006/main">
              <a:rPr lang="en" altLang="en-US" sz="1600" b="1" dirty="0"/>
              <a:t>​</a:t>
            </a:r>
          </a:p>
        </p:txBody>
      </p:sp>
      <p:cxnSp>
        <p:nvCxnSpPr>
          <p:cNvPr id="14" name="직선 연결선 13"/>
          <p:cNvCxnSpPr>
            <a:stCxn id="5" idx="2"/>
          </p:cNvCxnSpPr>
          <p:nvPr/>
        </p:nvCxnSpPr>
        <p:spPr>
          <a:xfrm>
            <a:off x="1547664" y="2617676"/>
            <a:ext cx="0" cy="3763652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H="1">
            <a:off x="7380311" y="2617676"/>
            <a:ext cx="1" cy="3763652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29"/>
          <p:cNvSpPr/>
          <p:nvPr/>
        </p:nvSpPr>
        <p:spPr>
          <a:xfrm>
            <a:off x="649221" y="4086690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Internal settings</a:t>
            </a:r>
            <a:endParaRPr xmlns:a="http://schemas.openxmlformats.org/drawingml/2006/main" lang="ko-KR" altLang="en-US" b="1" dirty="0"/>
          </a:p>
        </p:txBody>
      </p:sp>
      <p:sp>
        <p:nvSpPr>
          <p:cNvPr id="34" name="모서리가 둥근 직사각형 33"/>
          <p:cNvSpPr/>
          <p:nvPr/>
        </p:nvSpPr>
        <p:spPr>
          <a:xfrm>
            <a:off x="6516216" y="3398066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Internal settings</a:t>
            </a:r>
            <a:endParaRPr xmlns:a="http://schemas.openxmlformats.org/drawingml/2006/main" lang="ko-KR" altLang="en-US" b="1" dirty="0"/>
          </a:p>
        </p:txBody>
      </p:sp>
      <p:cxnSp>
        <p:nvCxnSpPr>
          <p:cNvPr id="37" name="직선 연결선 36"/>
          <p:cNvCxnSpPr/>
          <p:nvPr/>
        </p:nvCxnSpPr>
        <p:spPr>
          <a:xfrm>
            <a:off x="4427984" y="2113620"/>
            <a:ext cx="0" cy="4267708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/>
          <p:cNvSpPr/>
          <p:nvPr/>
        </p:nvSpPr>
        <p:spPr>
          <a:xfrm>
            <a:off x="2051720" y="2996952"/>
            <a:ext cx="4304643" cy="57606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marL="171450" indent="-171450">
              <a:buFont typeface="Arial" panose="020B0604020202020204" pitchFamily="34" charset="0"/>
              <a:buChar char="•"/>
            </a:pP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Corporate Number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(CompanySeq)</a:t>
            </a:r>
          </a:p>
          <a:p>
            <a:pPr xmlns:a="http://schemas.openxmlformats.org/drawingml/2006/main" marL="171450" indent="-171450">
              <a:buFont typeface="Arial" panose="020B0604020202020204" pitchFamily="34" charset="0"/>
              <a:buChar char="•"/>
            </a:pP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WCF </a:t>
            </a:r>
            <a:r xmlns:a="http://schemas.openxmlformats.org/drawingml/2006/main">
              <a:rPr lang="en" altLang="en-US" sz="1100" b="1" dirty="0">
                <a:solidFill>
                  <a:schemeClr val="accent1">
                    <a:lumMod val="50000"/>
                  </a:schemeClr>
                </a:solidFill>
              </a:rPr>
              <a:t>service </a:t>
            </a:r>
            <a:r xmlns:a="http://schemas.openxmlformats.org/drawingml/2006/main">
              <a:rPr lang="en" altLang="ko-KR" sz="1100" b="1" dirty="0" err="1" smtClean="0">
                <a:solidFill>
                  <a:schemeClr val="accent1">
                    <a:lumMod val="50000"/>
                  </a:schemeClr>
                </a:solidFill>
              </a:rPr>
              <a:t>EndPoint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address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ko-KR" sz="1100" b="1" dirty="0" err="1" smtClean="0">
                <a:solidFill>
                  <a:schemeClr val="accent1">
                    <a:lumMod val="50000"/>
                  </a:schemeClr>
                </a:solidFill>
              </a:rPr>
              <a:t>HttpExecute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Service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URL)</a:t>
            </a:r>
          </a:p>
          <a:p>
            <a:pPr xmlns:a="http://schemas.openxmlformats.org/drawingml/2006/main" marL="171450" indent="-171450">
              <a:buFont typeface="Arial" panose="020B0604020202020204" pitchFamily="34" charset="0"/>
              <a:buChar char="•"/>
            </a:pPr>
            <a:r xmlns:a="http://schemas.openxmlformats.org/drawingml/2006/main">
              <a:rPr lang="en" altLang="en-US" sz="1100" b="1" dirty="0" smtClean="0">
                <a:solidFill>
                  <a:schemeClr val="accent1">
                    <a:lumMod val="50000"/>
                  </a:schemeClr>
                </a:solidFill>
              </a:rPr>
              <a:t>Fixed </a:t>
            </a:r>
            <a:r xmlns:a="http://schemas.openxmlformats.org/drawingml/2006/main">
              <a:rPr lang="en" altLang="ko-KR" sz="1100" b="1" dirty="0" err="1" smtClean="0">
                <a:solidFill>
                  <a:schemeClr val="accent1">
                    <a:lumMod val="50000"/>
                  </a:schemeClr>
                </a:solidFill>
              </a:rPr>
              <a:t>SecuKey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ko-KR" sz="1100" b="1" dirty="0" err="1" smtClean="0">
                <a:solidFill>
                  <a:schemeClr val="accent1">
                    <a:lumMod val="50000"/>
                  </a:schemeClr>
                </a:solidFill>
              </a:rPr>
              <a:t>Guid </a:t>
            </a:r>
            <a:r xmlns:a="http://schemas.openxmlformats.org/drawingml/2006/main">
              <a:rPr lang="en" altLang="ko-KR" sz="1100" b="1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xmlns:a="http://schemas.openxmlformats.org/drawingml/2006/main" lang="ko-KR" altLang="en-US" sz="1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121523" y="3933056"/>
            <a:ext cx="2818629" cy="3600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200" b="1" dirty="0" smtClean="0">
                <a:solidFill>
                  <a:schemeClr val="accent1">
                    <a:lumMod val="50000"/>
                  </a:schemeClr>
                </a:solidFill>
              </a:rPr>
              <a:t>Groupware connection authentication key </a:t>
            </a:r>
            <a:r xmlns:a="http://schemas.openxmlformats.org/drawingml/2006/main">
              <a:rPr lang="en" altLang="ko-KR" sz="1200" b="1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ko-KR" sz="1200" b="1" dirty="0" err="1" smtClean="0">
                <a:solidFill>
                  <a:schemeClr val="accent1">
                    <a:lumMod val="50000"/>
                  </a:schemeClr>
                </a:solidFill>
              </a:rPr>
              <a:t>DCGWAuthKey </a:t>
            </a:r>
            <a:r xmlns:a="http://schemas.openxmlformats.org/drawingml/2006/main">
              <a:rPr lang="en" altLang="ko-KR" sz="12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1547664" y="3645024"/>
            <a:ext cx="4968552" cy="507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 flipH="1">
            <a:off x="2339752" y="4338718"/>
            <a:ext cx="5021729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endCxn id="46" idx="1"/>
          </p:cNvCxnSpPr>
          <p:nvPr/>
        </p:nvCxnSpPr>
        <p:spPr>
          <a:xfrm>
            <a:off x="5076056" y="5306278"/>
            <a:ext cx="1458990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/>
          <p:cNvSpPr/>
          <p:nvPr/>
        </p:nvSpPr>
        <p:spPr>
          <a:xfrm>
            <a:off x="649220" y="5054250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User </a:t>
            </a:r>
            <a:r xmlns:a="http://schemas.openxmlformats.org/drawingml/2006/main">
              <a:rPr lang="en" altLang="en-US" b="1" dirty="0"/>
              <a:t>registration</a:t>
            </a:r>
          </a:p>
        </p:txBody>
      </p:sp>
      <p:sp>
        <p:nvSpPr>
          <p:cNvPr id="46" name="모서리가 둥근 직사각형 45"/>
          <p:cNvSpPr/>
          <p:nvPr/>
        </p:nvSpPr>
        <p:spPr>
          <a:xfrm>
            <a:off x="6535046" y="5054250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User </a:t>
            </a:r>
            <a:r xmlns:a="http://schemas.openxmlformats.org/drawingml/2006/main">
              <a:rPr lang="en" altLang="en-US" b="1" dirty="0"/>
              <a:t>registration</a:t>
            </a:r>
          </a:p>
        </p:txBody>
      </p:sp>
      <p:cxnSp>
        <p:nvCxnSpPr>
          <p:cNvPr id="49" name="직선 화살표 연결선 48"/>
          <p:cNvCxnSpPr>
            <a:endCxn id="45" idx="3"/>
          </p:cNvCxnSpPr>
          <p:nvPr/>
        </p:nvCxnSpPr>
        <p:spPr>
          <a:xfrm flipH="1">
            <a:off x="2339751" y="5306278"/>
            <a:ext cx="1440161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직사각형 61"/>
          <p:cNvSpPr/>
          <p:nvPr/>
        </p:nvSpPr>
        <p:spPr>
          <a:xfrm>
            <a:off x="2581462" y="4818468"/>
            <a:ext cx="1054434" cy="4107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050" b="1" dirty="0" smtClean="0"/>
              <a:t>Register by </a:t>
            </a:r>
            <a:endParaRPr xmlns:a="http://schemas.openxmlformats.org/drawingml/2006/main" lang="ko-KR" altLang="en-US" sz="1050" b="1" dirty="0"/>
            <a:r xmlns:a="http://schemas.openxmlformats.org/drawingml/2006/main">
              <a:rPr lang="en" altLang="ko-KR" sz="1050" b="1" dirty="0" smtClean="0"/>
              <a:t>email account</a:t>
            </a:r>
          </a:p>
        </p:txBody>
      </p:sp>
      <p:sp>
        <p:nvSpPr>
          <p:cNvPr id="63" name="모서리가 둥근 직사각형 62"/>
          <p:cNvSpPr/>
          <p:nvPr/>
        </p:nvSpPr>
        <p:spPr>
          <a:xfrm>
            <a:off x="5213897" y="4818468"/>
            <a:ext cx="1054434" cy="4107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050" b="1" dirty="0" smtClean="0"/>
              <a:t>Register by </a:t>
            </a:r>
            <a:endParaRPr xmlns:a="http://schemas.openxmlformats.org/drawingml/2006/main" lang="ko-KR" altLang="en-US" sz="1050" b="1" dirty="0"/>
            <a:r xmlns:a="http://schemas.openxmlformats.org/drawingml/2006/main">
              <a:rPr lang="en" altLang="ko-KR" sz="1050" b="1" dirty="0" smtClean="0"/>
              <a:t>email account</a:t>
            </a:r>
          </a:p>
        </p:txBody>
      </p:sp>
      <p:sp>
        <p:nvSpPr>
          <p:cNvPr id="64" name="타원 63"/>
          <p:cNvSpPr/>
          <p:nvPr/>
        </p:nvSpPr>
        <p:spPr>
          <a:xfrm>
            <a:off x="3779912" y="5090254"/>
            <a:ext cx="1296144" cy="43204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smtClean="0">
                <a:solidFill>
                  <a:schemeClr val="accent1">
                    <a:lumMod val="50000"/>
                  </a:schemeClr>
                </a:solidFill>
              </a:rPr>
              <a:t>manager</a:t>
            </a:r>
            <a:r xmlns:a="http://schemas.openxmlformats.org/drawingml/2006/main">
              <a:rPr lang="en" altLang="en-US" b="1">
                <a:solidFill>
                  <a:schemeClr val="accent1">
                    <a:lumMod val="50000"/>
                  </a:schemeClr>
                </a:solidFill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54175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6-1.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Samjeong Data Service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(Office 365) -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Approval Document Forms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5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br xmlns:a="http://schemas.openxmlformats.org/drawingml/2006/main">
              <a:rPr lang="en-US" altLang="ko-KR" sz="2800" b="1" dirty="0" smtClean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[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Order Form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] –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Item Composition and Form</a:t>
            </a:r>
            <a:endParaRPr xmlns:a="http://schemas.openxmlformats.org/drawingml/2006/main" lang="ko-KR" alt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1" y="1916833"/>
            <a:ext cx="8316415" cy="3553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68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6-2.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Samjeong Data Service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(Office 365)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Payment Document Forms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(5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[ </a:t>
            </a:r>
            <a:br xmlns:a="http://schemas.openxmlformats.org/drawingml/2006/main"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Shipping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Request Form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Item Composition and Form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1" y="2064597"/>
            <a:ext cx="8388423" cy="323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8755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6-3.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Samjeong Data Service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(Office 365)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Payment Document Forms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(5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[ </a:t>
            </a:r>
            <a:br xmlns:a="http://schemas.openxmlformats.org/drawingml/2006/main"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Purchase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Inquiry Form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Item Composition and Form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48" y="2250214"/>
            <a:ext cx="8244408" cy="2945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8755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6-4.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Samjeong Data Service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(Office 365)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Payment Document Forms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(5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items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br xmlns:a="http://schemas.openxmlformats.org/drawingml/2006/main"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[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Other Delivery Request Form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Item Composition and Form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22" y="2564904"/>
            <a:ext cx="8332942" cy="2035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8755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6-5.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Samjeong Data Service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(Office 365)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Approval Document Forms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(5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[ </a:t>
            </a:r>
            <a:br xmlns:a="http://schemas.openxmlformats.org/drawingml/2006/main"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Accounting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Voucher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Item Composition and Form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008953"/>
            <a:ext cx="8100392" cy="336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8755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19" y="1196752"/>
            <a:ext cx="8704911" cy="5280248"/>
          </a:xfrm>
        </p:spPr>
        <p:txBody>
          <a:bodyPr/>
          <a:lstStyle/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[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Required Actions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]</a:t>
            </a: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dirty="0">
                <a:solidFill>
                  <a:schemeClr val="accent1">
                    <a:lumMod val="50000"/>
                  </a:schemeClr>
                </a:solidFill>
              </a:rPr>
              <a:t>1. </a:t>
            </a:r>
            <a:r xmlns:a="http://schemas.openxmlformats.org/drawingml/2006/main">
              <a:rPr lang="en" altLang="en-US" dirty="0">
                <a:solidFill>
                  <a:schemeClr val="accent1">
                    <a:lumMod val="50000"/>
                  </a:schemeClr>
                </a:solidFill>
              </a:rPr>
              <a:t>Items to be provided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to the </a:t>
            </a: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East</a:t>
            </a:r>
          </a:p>
          <a:p>
            <a:pPr xmlns:a="http://schemas.openxmlformats.org/drawingml/2006/main" lvl="1"/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SecuKey (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_TDEVCust: </a:t>
            </a:r>
            <a:r xmlns:a="http://schemas.openxmlformats.org/drawingml/2006/main">
              <a:rPr lang="en" altLang="ko-KR" sz="1400" dirty="0" err="1">
                <a:solidFill>
                  <a:schemeClr val="accent1">
                    <a:lumMod val="50000"/>
                  </a:schemeClr>
                </a:solidFill>
              </a:rPr>
              <a:t>Guid </a:t>
            </a:r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</a:rPr>
              <a:t>stored in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the customer's </a:t>
            </a:r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</a:rPr>
              <a:t>business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DB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xmlns:a="http://schemas.openxmlformats.org/drawingml/2006/main" lang="en-US" altLang="ko-KR" sz="14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lvl="1"/>
            <a:r xmlns:a="http://schemas.openxmlformats.org/drawingml/2006/main">
              <a:rPr lang="en" altLang="ko-KR" sz="1400" dirty="0" err="1">
                <a:solidFill>
                  <a:schemeClr val="accent1">
                    <a:lumMod val="50000"/>
                  </a:schemeClr>
                </a:solidFill>
              </a:rPr>
              <a:t>TargetURL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en-US" sz="1400" dirty="0" err="1" smtClean="0">
                <a:solidFill>
                  <a:schemeClr val="accent1">
                    <a:lumMod val="50000"/>
                  </a:schemeClr>
                </a:solidFill>
              </a:rPr>
              <a:t>Yeonglimwon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ERP HttpExecute </a:t>
            </a:r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</a:rPr>
              <a:t>service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URL)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</a:rPr>
              <a:t>Example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: WBS </a:t>
            </a:r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</a:rPr>
              <a:t>development server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http://wbs.ksystem.co.kr:8088/AngKor.Ylw.Common.HttpExecute/httpexecute.svc</a:t>
            </a:r>
          </a:p>
          <a:p>
            <a:pPr xmlns:a="http://schemas.openxmlformats.org/drawingml/2006/main" marL="274320" lvl="1" indent="0">
              <a:buNone/>
            </a:pP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              </a:t>
            </a:r>
            <a:r xmlns:a="http://schemas.openxmlformats.org/drawingml/2006/main">
              <a:rPr lang="en" altLang="ko-KR" sz="1400" dirty="0" err="1">
                <a:solidFill>
                  <a:schemeClr val="accent1">
                    <a:lumMod val="50000"/>
                  </a:schemeClr>
                </a:solidFill>
              </a:rPr>
              <a:t>ABCInit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http://abcinit.cloudapp.net/HttpExecute.svc</a:t>
            </a: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2.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Yeonglimwon internal settings </a:t>
            </a: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Environment settings </a:t>
            </a: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- [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en-US" dirty="0" smtClean="0">
                <a:solidFill>
                  <a:schemeClr val="accent1">
                    <a:lumMod val="50000"/>
                  </a:schemeClr>
                </a:solidFill>
              </a:rPr>
              <a:t>settings</a:t>
            </a:r>
            <a:endParaRPr xmlns:a="http://schemas.openxmlformats.org/drawingml/2006/main" lang="en-US" altLang="ko-KR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lvl="1"/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&lt; </a:t>
            </a:r>
            <a:r xmlns:a="http://schemas.openxmlformats.org/drawingml/2006/main">
              <a:rPr lang="en" altLang="en-US" sz="1400" dirty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&gt;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Groupware Type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(9001):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Eastern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(9001501)</a:t>
            </a:r>
          </a:p>
          <a:p>
            <a:pPr xmlns:a="http://schemas.openxmlformats.org/drawingml/2006/main" lvl="1"/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&lt;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&gt;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Web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Server </a:t>
            </a:r>
            <a:r xmlns:a="http://schemas.openxmlformats.org/drawingml/2006/main">
              <a:rPr lang="en" altLang="ko-KR" sz="1400" dirty="0">
                <a:solidFill>
                  <a:schemeClr val="accent1">
                    <a:lumMod val="50000"/>
                  </a:schemeClr>
                </a:solidFill>
              </a:rPr>
              <a:t>IP (9002): https://sun-sign-dev-two.appspot.com/jsp/extlink/saas/</a:t>
            </a:r>
          </a:p>
          <a:p>
            <a:pPr xmlns:a="http://schemas.openxmlformats.org/drawingml/2006/main" lvl="1"/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&lt;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&gt; </a:t>
            </a:r>
            <a:r xmlns:a="http://schemas.openxmlformats.org/drawingml/2006/main">
              <a:rPr lang="en" altLang="en-US" sz="1400" dirty="0" smtClean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1400" dirty="0" smtClean="0">
                <a:solidFill>
                  <a:schemeClr val="accent1">
                    <a:lumMod val="50000"/>
                  </a:schemeClr>
                </a:solidFill>
              </a:rPr>
              <a:t>URL (9004): </a:t>
            </a:r>
            <a:r xmlns:a="http://schemas.openxmlformats.org/drawingml/2006/main">
              <a:rPr lang="en" altLang="ko-KR" sz="1400" dirty="0" err="1" smtClean="0">
                <a:solidFill>
                  <a:schemeClr val="accent1">
                    <a:lumMod val="50000"/>
                  </a:schemeClr>
                </a:solidFill>
              </a:rPr>
              <a:t>erpLinkStart.jsp</a:t>
            </a:r>
            <a:endParaRPr xmlns:a="http://schemas.openxmlformats.org/drawingml/2006/main" lang="en-US" altLang="ko-KR" sz="14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xmlns:a="http://schemas.openxmlformats.org/drawingml/2006/main" marL="0" indent="0">
              <a:buNone/>
            </a:pP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[ </a:t>
            </a:r>
            <a:r xmlns:a="http://schemas.openxmlformats.org/drawingml/2006/main">
              <a:rPr lang="en" altLang="en-US" sz="1800" dirty="0" smtClean="0">
                <a:solidFill>
                  <a:schemeClr val="accent1">
                    <a:lumMod val="50000"/>
                  </a:schemeClr>
                </a:solidFill>
              </a:rPr>
              <a:t>significant </a:t>
            </a:r>
            <a:r xmlns:a="http://schemas.openxmlformats.org/drawingml/2006/main">
              <a:rPr lang="en" altLang="ko-KR" sz="1800" dirty="0" smtClean="0">
                <a:solidFill>
                  <a:schemeClr val="accent1">
                    <a:lumMod val="50000"/>
                  </a:schemeClr>
                </a:solidFill>
              </a:rPr>
              <a:t>]</a:t>
            </a:r>
          </a:p>
          <a:p>
            <a:pPr xmlns:a="http://schemas.openxmlformats.org/drawingml/2006/main">
              <a:buFont typeface="Wingdings" panose="05000000000000000000" pitchFamily="2" charset="2"/>
              <a:buChar char="u"/>
            </a:pPr>
            <a:r xmlns:a="http://schemas.openxmlformats.org/drawingml/2006/main">
              <a:rPr lang="en" altLang="ko-KR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2000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en-US" sz="2000" dirty="0" smtClean="0">
                <a:solidFill>
                  <a:schemeClr val="accent1">
                    <a:lumMod val="50000"/>
                  </a:schemeClr>
                </a:solidFill>
              </a:rPr>
              <a:t>East </a:t>
            </a:r>
            <a:r xmlns:a="http://schemas.openxmlformats.org/drawingml/2006/main">
              <a:rPr lang="en" altLang="en-US" sz="2000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en-US" sz="2000" dirty="0">
                <a:solidFill>
                  <a:schemeClr val="accent1">
                    <a:lumMod val="50000"/>
                  </a:schemeClr>
                </a:solidFill>
              </a:rPr>
              <a:t>The </a:t>
            </a:r>
            <a:r xmlns:a="http://schemas.openxmlformats.org/drawingml/2006/main">
              <a:rPr lang="en" altLang="ko-KR" sz="2000" dirty="0">
                <a:solidFill>
                  <a:schemeClr val="accent1">
                    <a:lumMod val="50000"/>
                  </a:schemeClr>
                </a:solidFill>
              </a:rPr>
              <a:t>parameter </a:t>
            </a:r>
            <a:r xmlns:a="http://schemas.openxmlformats.org/drawingml/2006/main">
              <a:rPr lang="en" altLang="en-US" sz="2000" dirty="0">
                <a:solidFill>
                  <a:schemeClr val="accent1">
                    <a:lumMod val="50000"/>
                  </a:schemeClr>
                </a:solidFill>
              </a:rPr>
              <a:t>passed </a:t>
            </a:r>
            <a:r xmlns:a="http://schemas.openxmlformats.org/drawingml/2006/main">
              <a:rPr lang="en" altLang="en-US" sz="2000" dirty="0" smtClean="0">
                <a:solidFill>
                  <a:schemeClr val="accent1">
                    <a:lumMod val="50000"/>
                  </a:schemeClr>
                </a:solidFill>
              </a:rPr>
              <a:t>when connecting to </a:t>
            </a:r>
            <a:r xmlns:a="http://schemas.openxmlformats.org/drawingml/2006/main">
              <a:rPr lang="en" altLang="en-US" sz="2000" dirty="0">
                <a:solidFill>
                  <a:schemeClr val="accent1">
                    <a:lumMod val="50000"/>
                  </a:schemeClr>
                </a:solidFill>
              </a:rPr>
              <a:t>groupware is used as </a:t>
            </a:r>
            <a:r xmlns:a="http://schemas.openxmlformats.org/drawingml/2006/main">
              <a:rPr lang="en" altLang="ko-KR" sz="2000" dirty="0" smtClean="0">
                <a:solidFill>
                  <a:schemeClr val="accent1">
                    <a:lumMod val="50000"/>
                  </a:schemeClr>
                </a:solidFill>
              </a:rPr>
              <a:t>the </a:t>
            </a:r>
            <a:r xmlns:a="http://schemas.openxmlformats.org/drawingml/2006/main">
              <a:rPr lang="en" altLang="en-US" sz="2000" dirty="0" smtClean="0">
                <a:solidFill>
                  <a:schemeClr val="accent1">
                    <a:lumMod val="50000"/>
                  </a:schemeClr>
                </a:solidFill>
              </a:rPr>
              <a:t>default value in </a:t>
            </a:r>
            <a:r xmlns:a="http://schemas.openxmlformats.org/drawingml/2006/main">
              <a:rPr lang="en" altLang="ko-KR" sz="2000" dirty="0">
                <a:solidFill>
                  <a:schemeClr val="accent1">
                    <a:lumMod val="50000"/>
                  </a:schemeClr>
                </a:solidFill>
              </a:rPr>
              <a:t>_SWCASiteLinkSSOQuery </a:t>
            </a:r>
            <a:r xmlns:a="http://schemas.openxmlformats.org/drawingml/2006/main">
              <a:rPr lang="en" altLang="ko-KR" sz="2000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xmlns:a="http://schemas.openxmlformats.org/drawingml/2006/main" lang="ko-KR" alt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892480" cy="990600"/>
          </a:xfrm>
        </p:spPr>
        <p:txBody>
          <a:bodyPr>
            <a:normAutofit/>
          </a:bodyPr>
          <a:lstStyle/>
          <a:p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7.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Settings when using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Eastern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(Google Apps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-based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groupware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xmlns:a="http://schemas.openxmlformats.org/drawingml/2006/main" lang="ko-KR" alt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12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3779912" y="1609564"/>
            <a:ext cx="1296144" cy="50405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New customers</a:t>
            </a:r>
            <a:endParaRPr xmlns:a="http://schemas.openxmlformats.org/drawingml/2006/main" lang="ko-KR" altLang="en-US" b="1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539552" y="2113620"/>
            <a:ext cx="2016224" cy="50405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Yeonglimwon Soft Lab</a:t>
            </a:r>
            <a:endParaRPr xmlns:a="http://schemas.openxmlformats.org/drawingml/2006/main" lang="ko-KR" altLang="en-US" b="1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6228184" y="2113620"/>
            <a:ext cx="2160240" cy="50405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East</a:t>
            </a:r>
            <a:endParaRPr xmlns:a="http://schemas.openxmlformats.org/drawingml/2006/main" lang="ko-KR" altLang="en-US" b="1" dirty="0"/>
          </a:p>
        </p:txBody>
      </p:sp>
      <p:cxnSp>
        <p:nvCxnSpPr>
          <p:cNvPr id="8" name="직선 화살표 연결선 7"/>
          <p:cNvCxnSpPr>
            <a:stCxn id="4" idx="1"/>
            <a:endCxn id="5" idx="3"/>
          </p:cNvCxnSpPr>
          <p:nvPr/>
        </p:nvCxnSpPr>
        <p:spPr>
          <a:xfrm flipH="1">
            <a:off x="2555776" y="1861592"/>
            <a:ext cx="1224136" cy="504056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5076056" y="1844824"/>
            <a:ext cx="1152128" cy="504056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10"/>
          <p:cNvSpPr/>
          <p:nvPr/>
        </p:nvSpPr>
        <p:spPr>
          <a:xfrm>
            <a:off x="2437447" y="1691190"/>
            <a:ext cx="936104" cy="3072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600" b="1" dirty="0" smtClean="0"/>
              <a:t>contract</a:t>
            </a:r>
            <a:r xmlns:a="http://schemas.openxmlformats.org/drawingml/2006/main">
              <a:rPr lang="en" altLang="en-US" sz="1600" b="1" dirty="0"/>
              <a:t>​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436096" y="1707958"/>
            <a:ext cx="936104" cy="3072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600" b="1" dirty="0" smtClean="0"/>
              <a:t>contract</a:t>
            </a:r>
            <a:r xmlns:a="http://schemas.openxmlformats.org/drawingml/2006/main">
              <a:rPr lang="en" altLang="en-US" sz="1600" b="1" dirty="0"/>
              <a:t>​</a:t>
            </a:r>
          </a:p>
        </p:txBody>
      </p:sp>
      <p:cxnSp>
        <p:nvCxnSpPr>
          <p:cNvPr id="14" name="직선 연결선 13"/>
          <p:cNvCxnSpPr>
            <a:stCxn id="5" idx="2"/>
          </p:cNvCxnSpPr>
          <p:nvPr/>
        </p:nvCxnSpPr>
        <p:spPr>
          <a:xfrm>
            <a:off x="1547664" y="2617676"/>
            <a:ext cx="0" cy="3763652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H="1">
            <a:off x="7380311" y="2617676"/>
            <a:ext cx="1" cy="3763652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29"/>
          <p:cNvSpPr/>
          <p:nvPr/>
        </p:nvSpPr>
        <p:spPr>
          <a:xfrm>
            <a:off x="649221" y="4086690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Internal settings</a:t>
            </a:r>
            <a:endParaRPr xmlns:a="http://schemas.openxmlformats.org/drawingml/2006/main" lang="ko-KR" altLang="en-US" b="1" dirty="0"/>
          </a:p>
        </p:txBody>
      </p:sp>
      <p:sp>
        <p:nvSpPr>
          <p:cNvPr id="34" name="모서리가 둥근 직사각형 33"/>
          <p:cNvSpPr/>
          <p:nvPr/>
        </p:nvSpPr>
        <p:spPr>
          <a:xfrm>
            <a:off x="6516216" y="3398066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Internal settings</a:t>
            </a:r>
            <a:endParaRPr xmlns:a="http://schemas.openxmlformats.org/drawingml/2006/main" lang="ko-KR" altLang="en-US" b="1" dirty="0"/>
          </a:p>
        </p:txBody>
      </p:sp>
      <p:cxnSp>
        <p:nvCxnSpPr>
          <p:cNvPr id="37" name="직선 연결선 36"/>
          <p:cNvCxnSpPr/>
          <p:nvPr/>
        </p:nvCxnSpPr>
        <p:spPr>
          <a:xfrm>
            <a:off x="4427984" y="2113620"/>
            <a:ext cx="0" cy="4267708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/>
          <p:cNvSpPr/>
          <p:nvPr/>
        </p:nvSpPr>
        <p:spPr>
          <a:xfrm>
            <a:off x="2195736" y="3140968"/>
            <a:ext cx="3609815" cy="4320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marL="171450" indent="-171450">
              <a:buFont typeface="Arial" panose="020B0604020202020204" pitchFamily="34" charset="0"/>
              <a:buChar char="•"/>
            </a:pPr>
            <a:r xmlns:a="http://schemas.openxmlformats.org/drawingml/2006/main">
              <a:rPr lang="en" altLang="ko-KR" sz="1200" b="1" dirty="0" err="1" smtClean="0">
                <a:solidFill>
                  <a:schemeClr val="accent1">
                    <a:lumMod val="50000"/>
                  </a:schemeClr>
                </a:solidFill>
              </a:rPr>
              <a:t>TargetURL </a:t>
            </a:r>
            <a:r xmlns:a="http://schemas.openxmlformats.org/drawingml/2006/main">
              <a:rPr lang="en" altLang="ko-KR" sz="1200" b="1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ko-KR" sz="1200" b="1" dirty="0" err="1" smtClean="0">
                <a:solidFill>
                  <a:schemeClr val="accent1">
                    <a:lumMod val="50000"/>
                  </a:schemeClr>
                </a:solidFill>
              </a:rPr>
              <a:t>HttpExecute</a:t>
            </a:r>
            <a:r xmlns:a="http://schemas.openxmlformats.org/drawingml/2006/main">
              <a:rPr lang="en" altLang="ko-KR" sz="12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en-US" sz="1200" b="1" dirty="0" smtClean="0">
                <a:solidFill>
                  <a:schemeClr val="accent1">
                    <a:lumMod val="50000"/>
                  </a:schemeClr>
                </a:solidFill>
              </a:rPr>
              <a:t>Service </a:t>
            </a:r>
            <a:r xmlns:a="http://schemas.openxmlformats.org/drawingml/2006/main">
              <a:rPr lang="en" altLang="ko-KR" sz="1200" b="1" dirty="0" smtClean="0">
                <a:solidFill>
                  <a:schemeClr val="accent1">
                    <a:lumMod val="50000"/>
                  </a:schemeClr>
                </a:solidFill>
              </a:rPr>
              <a:t>URL)</a:t>
            </a:r>
          </a:p>
          <a:p>
            <a:pPr xmlns:a="http://schemas.openxmlformats.org/drawingml/2006/main" marL="171450" indent="-171450">
              <a:buFont typeface="Arial" panose="020B0604020202020204" pitchFamily="34" charset="0"/>
              <a:buChar char="•"/>
            </a:pPr>
            <a:r xmlns:a="http://schemas.openxmlformats.org/drawingml/2006/main">
              <a:rPr lang="en" altLang="ko-KR" sz="12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 xmlns:a="http://schemas.openxmlformats.org/drawingml/2006/main">
              <a:rPr lang="en" altLang="ko-KR" sz="1200" b="1" dirty="0" err="1" smtClean="0">
                <a:solidFill>
                  <a:schemeClr val="accent1">
                    <a:lumMod val="50000"/>
                  </a:schemeClr>
                </a:solidFill>
              </a:rPr>
              <a:t>SecuKey </a:t>
            </a:r>
            <a:r xmlns:a="http://schemas.openxmlformats.org/drawingml/2006/main">
              <a:rPr lang="en" altLang="ko-KR" sz="1200" b="1" dirty="0" smtClean="0">
                <a:solidFill>
                  <a:schemeClr val="accent1">
                    <a:lumMod val="50000"/>
                  </a:schemeClr>
                </a:solidFill>
              </a:rPr>
              <a:t>( </a:t>
            </a:r>
            <a:r xmlns:a="http://schemas.openxmlformats.org/drawingml/2006/main">
              <a:rPr lang="en" altLang="ko-KR" sz="1200" b="1" dirty="0" err="1" smtClean="0">
                <a:solidFill>
                  <a:schemeClr val="accent1">
                    <a:lumMod val="50000"/>
                  </a:schemeClr>
                </a:solidFill>
              </a:rPr>
              <a:t>Guid </a:t>
            </a:r>
            <a:r xmlns:a="http://schemas.openxmlformats.org/drawingml/2006/main">
              <a:rPr lang="en" altLang="ko-KR" sz="1200" b="1" dirty="0" smtClean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xmlns:a="http://schemas.openxmlformats.org/drawingml/2006/main" lang="ko-KR" alt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1547664" y="3645024"/>
            <a:ext cx="4968552" cy="507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endCxn id="46" idx="1"/>
          </p:cNvCxnSpPr>
          <p:nvPr/>
        </p:nvCxnSpPr>
        <p:spPr>
          <a:xfrm>
            <a:off x="5076056" y="5306278"/>
            <a:ext cx="1458990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/>
          <p:cNvSpPr/>
          <p:nvPr/>
        </p:nvSpPr>
        <p:spPr>
          <a:xfrm>
            <a:off x="649220" y="5054250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User </a:t>
            </a:r>
            <a:r xmlns:a="http://schemas.openxmlformats.org/drawingml/2006/main">
              <a:rPr lang="en" altLang="en-US" b="1" dirty="0"/>
              <a:t>registration</a:t>
            </a:r>
          </a:p>
        </p:txBody>
      </p:sp>
      <p:sp>
        <p:nvSpPr>
          <p:cNvPr id="46" name="모서리가 둥근 직사각형 45"/>
          <p:cNvSpPr/>
          <p:nvPr/>
        </p:nvSpPr>
        <p:spPr>
          <a:xfrm>
            <a:off x="6535046" y="5054250"/>
            <a:ext cx="1690531" cy="50405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dirty="0" smtClean="0"/>
              <a:t>User </a:t>
            </a:r>
            <a:r xmlns:a="http://schemas.openxmlformats.org/drawingml/2006/main">
              <a:rPr lang="en" altLang="en-US" b="1" dirty="0"/>
              <a:t>registration</a:t>
            </a:r>
          </a:p>
        </p:txBody>
      </p:sp>
      <p:cxnSp>
        <p:nvCxnSpPr>
          <p:cNvPr id="49" name="직선 화살표 연결선 48"/>
          <p:cNvCxnSpPr>
            <a:endCxn id="45" idx="3"/>
          </p:cNvCxnSpPr>
          <p:nvPr/>
        </p:nvCxnSpPr>
        <p:spPr>
          <a:xfrm flipH="1">
            <a:off x="2339751" y="5306278"/>
            <a:ext cx="1440161" cy="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직사각형 61"/>
          <p:cNvSpPr/>
          <p:nvPr/>
        </p:nvSpPr>
        <p:spPr>
          <a:xfrm>
            <a:off x="2581462" y="4818468"/>
            <a:ext cx="1054434" cy="4107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050" b="1" dirty="0" smtClean="0"/>
              <a:t>Register by </a:t>
            </a:r>
            <a:endParaRPr xmlns:a="http://schemas.openxmlformats.org/drawingml/2006/main" lang="ko-KR" altLang="en-US" sz="1050" b="1" dirty="0"/>
            <a:r xmlns:a="http://schemas.openxmlformats.org/drawingml/2006/main">
              <a:rPr lang="en" altLang="ko-KR" sz="1050" b="1" dirty="0" smtClean="0"/>
              <a:t>email account</a:t>
            </a:r>
          </a:p>
        </p:txBody>
      </p:sp>
      <p:sp>
        <p:nvSpPr>
          <p:cNvPr id="63" name="모서리가 둥근 직사각형 62"/>
          <p:cNvSpPr/>
          <p:nvPr/>
        </p:nvSpPr>
        <p:spPr>
          <a:xfrm>
            <a:off x="5213897" y="4818468"/>
            <a:ext cx="1054434" cy="4107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050" b="1" dirty="0" smtClean="0"/>
              <a:t>Register by </a:t>
            </a:r>
            <a:endParaRPr xmlns:a="http://schemas.openxmlformats.org/drawingml/2006/main" lang="ko-KR" altLang="en-US" sz="1050" b="1" dirty="0"/>
            <a:r xmlns:a="http://schemas.openxmlformats.org/drawingml/2006/main">
              <a:rPr lang="en" altLang="ko-KR" sz="1050" b="1" dirty="0" smtClean="0"/>
              <a:t>email account</a:t>
            </a:r>
          </a:p>
        </p:txBody>
      </p:sp>
      <p:sp>
        <p:nvSpPr>
          <p:cNvPr id="64" name="타원 63"/>
          <p:cNvSpPr/>
          <p:nvPr/>
        </p:nvSpPr>
        <p:spPr>
          <a:xfrm>
            <a:off x="3779912" y="5090254"/>
            <a:ext cx="1296144" cy="43204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b="1" smtClean="0">
                <a:solidFill>
                  <a:schemeClr val="accent1">
                    <a:lumMod val="50000"/>
                  </a:schemeClr>
                </a:solidFill>
              </a:rPr>
              <a:t>manager</a:t>
            </a:r>
            <a:r xmlns:a="http://schemas.openxmlformats.org/drawingml/2006/main">
              <a:rPr lang="en" altLang="en-US" b="1">
                <a:solidFill>
                  <a:schemeClr val="accent1">
                    <a:lumMod val="50000"/>
                  </a:schemeClr>
                </a:solidFill>
              </a:rPr>
              <a:t>​</a:t>
            </a:r>
          </a:p>
        </p:txBody>
      </p:sp>
      <p:sp>
        <p:nvSpPr>
          <p:cNvPr id="28" name="제목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579296" cy="990600"/>
          </a:xfrm>
        </p:spPr>
        <p:txBody>
          <a:bodyPr>
            <a:normAutofit/>
          </a:bodyPr>
          <a:lstStyle/>
          <a:p>
            <a:r xmlns:a="http://schemas.openxmlformats.org/drawingml/2006/main">
              <a:rPr lang="en" altLang="en-US" sz="2500" b="1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Process </a:t>
            </a:r>
            <a:r xmlns:a="http://schemas.openxmlformats.org/drawingml/2006/main">
              <a:rPr lang="en" altLang="en-US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when </a:t>
            </a:r>
            <a:r xmlns:a="http://schemas.openxmlformats.org/drawingml/2006/main">
              <a:rPr lang="en" altLang="en-US" sz="2500" b="1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using </a:t>
            </a:r>
            <a:r xmlns:a="http://schemas.openxmlformats.org/drawingml/2006/main">
              <a:rPr lang="en" altLang="en-US" sz="2500" b="1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Eastern </a:t>
            </a:r>
            <a:r xmlns:a="http://schemas.openxmlformats.org/drawingml/2006/main">
              <a:rPr lang="en" altLang="ko-KR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(Google Apps </a:t>
            </a:r>
            <a:r xmlns:a="http://schemas.openxmlformats.org/drawingml/2006/main">
              <a:rPr lang="en" altLang="en-US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 xmlns:a="http://schemas.openxmlformats.org/drawingml/2006/main">
              <a:rPr lang="en" altLang="en-US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based </a:t>
            </a:r>
            <a:r xmlns:a="http://schemas.openxmlformats.org/drawingml/2006/main">
              <a:rPr lang="en" altLang="ko-KR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 xmlns:a="http://schemas.openxmlformats.org/drawingml/2006/main">
              <a:rPr lang="en" altLang="en-US" sz="25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groupware</a:t>
            </a:r>
            <a:r xmlns:a="http://schemas.openxmlformats.org/drawingml/2006/main">
              <a:rPr lang="en" altLang="ko-KR" sz="2500" b="1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xmlns:a="http://schemas.openxmlformats.org/drawingml/2006/main" lang="ko-KR" altLang="en-US" sz="2500" b="1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945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7-1.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East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(Google Apps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-based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Payment Document Forms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(5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[ </a:t>
            </a:r>
            <a:br xmlns:a="http://schemas.openxmlformats.org/drawingml/2006/main"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Order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Form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Item Composition and Form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16832"/>
            <a:ext cx="7428501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8593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72008" y="422176"/>
            <a:ext cx="8892480" cy="990600"/>
          </a:xfrm>
        </p:spPr>
        <p:txBody>
          <a:bodyPr>
            <a:norm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7-2.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East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(Google Apps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-based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Payment Document Forms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(5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[ </a:t>
            </a:r>
            <a:br xmlns:a="http://schemas.openxmlformats.org/drawingml/2006/main"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Shipping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Request Form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Item Composition and Form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88840"/>
            <a:ext cx="7488832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965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76672"/>
            <a:ext cx="8892480" cy="990600"/>
          </a:xfrm>
        </p:spPr>
        <p:txBody>
          <a:bodyPr>
            <a:norm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7-3.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East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(Google Apps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-based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Payment Document Forms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(5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[ </a:t>
            </a:r>
            <a:br xmlns:a="http://schemas.openxmlformats.org/drawingml/2006/main"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Purchase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Inquiry Form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Item Composition and Form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132856"/>
            <a:ext cx="7542595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965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7-4.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East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(Google Apps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-based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Payment Document Form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(5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items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br xmlns:a="http://schemas.openxmlformats.org/drawingml/2006/main"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[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Other Delivery Request Form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Item Composition and Form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348880"/>
            <a:ext cx="7643386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965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107504" y="422176"/>
            <a:ext cx="8892480" cy="990600"/>
          </a:xfrm>
        </p:spPr>
        <p:txBody>
          <a:bodyPr>
            <a:normAutofit/>
          </a:bodyPr>
          <a:lstStyle/>
          <a:p>
            <a:pPr xmlns:a="http://schemas.openxmlformats.org/drawingml/2006/main" algn="ctr"/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7-5.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East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(Google Apps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-based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Approval Document Forms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(5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[ </a:t>
            </a:r>
            <a:br xmlns:a="http://schemas.openxmlformats.org/drawingml/2006/main">
              <a:rPr lang="en-US" altLang="ko-KR" sz="2800" b="1" dirty="0">
                <a:solidFill>
                  <a:schemeClr val="accent1">
                    <a:lumMod val="50000"/>
                  </a:schemeClr>
                </a:solidFill>
              </a:rPr>
            </a:b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Accounting </a:t>
            </a:r>
            <a:r xmlns:a="http://schemas.openxmlformats.org/drawingml/2006/main">
              <a:rPr lang="en" altLang="en-US" sz="2800" b="1" dirty="0" smtClean="0">
                <a:solidFill>
                  <a:schemeClr val="accent1">
                    <a:lumMod val="50000"/>
                  </a:schemeClr>
                </a:solidFill>
              </a:rPr>
              <a:t>Voucher </a:t>
            </a:r>
            <a:r xmlns:a="http://schemas.openxmlformats.org/drawingml/2006/main">
              <a:rPr lang="en" altLang="ko-KR" sz="2800" b="1" dirty="0" smtClean="0">
                <a:solidFill>
                  <a:schemeClr val="accent1">
                    <a:lumMod val="50000"/>
                  </a:schemeClr>
                </a:solidFill>
              </a:rPr>
              <a:t>] </a:t>
            </a:r>
            <a:r xmlns:a="http://schemas.openxmlformats.org/drawingml/2006/main">
              <a:rPr lang="en" altLang="ko-KR" sz="2800" b="1" dirty="0">
                <a:solidFill>
                  <a:schemeClr val="accent1">
                    <a:lumMod val="50000"/>
                  </a:schemeClr>
                </a:solidFill>
              </a:rPr>
              <a:t>- </a:t>
            </a:r>
            <a:r xmlns:a="http://schemas.openxmlformats.org/drawingml/2006/main">
              <a:rPr lang="en" altLang="en-US" sz="2800" b="1" dirty="0">
                <a:solidFill>
                  <a:schemeClr val="accent1">
                    <a:lumMod val="50000"/>
                  </a:schemeClr>
                </a:solidFill>
              </a:rPr>
              <a:t>Item Composition and Form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16832"/>
            <a:ext cx="7477947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965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47664" y="2492896"/>
            <a:ext cx="6203032" cy="1252736"/>
          </a:xfrm>
        </p:spPr>
        <p:txBody>
          <a:bodyPr>
            <a:normAutofit/>
          </a:bodyPr>
          <a:lstStyle/>
          <a:p>
            <a:pPr xmlns:a="http://schemas.openxmlformats.org/drawingml/2006/main" marL="0" indent="0" algn="ctr">
              <a:buNone/>
            </a:pPr>
            <a:r xmlns:a="http://schemas.openxmlformats.org/drawingml/2006/main">
              <a:rPr lang="en" altLang="en-US" sz="3600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thank you </a:t>
            </a:r>
            <a:r xmlns:a="http://schemas.openxmlformats.org/drawingml/2006/main">
              <a:rPr lang="en" altLang="ko-KR" sz="3600" dirty="0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xmlns:a="http://schemas.openxmlformats.org/drawingml/2006/main" lang="ko-KR" altLang="en-US" sz="3600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890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투명도">
  <a:themeElements>
    <a:clrScheme name="투명도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클래식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투명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3749</TotalTime>
  <Words>1768</Words>
  <Application>Microsoft Office PowerPoint</Application>
  <PresentationFormat>화면 슬라이드 쇼(4:3)</PresentationFormat>
  <Paragraphs>228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Myriad Web Pro</vt:lpstr>
      <vt:lpstr>굴림</vt:lpstr>
      <vt:lpstr>돋움</vt:lpstr>
      <vt:lpstr>맑은 고딕</vt:lpstr>
      <vt:lpstr>Arial</vt:lpstr>
      <vt:lpstr>Wingdings</vt:lpstr>
      <vt:lpstr>투명도</vt:lpstr>
      <vt:lpstr>SystemEver 전자결재 사용법</vt:lpstr>
      <vt:lpstr>1. ERP와 그룹웨어 상호 연관관계</vt:lpstr>
      <vt:lpstr>그룹웨어 관련 Table &amp; SP </vt:lpstr>
      <vt:lpstr>2. 그룹웨어 사용하기 위한 ERP설정     2 - 1)  [확정관리]  - 확정관련 정의 및 확정 사용하는 프로그램 등록하는 화면</vt:lpstr>
      <vt:lpstr>2. 그룹웨어 사용하기 위한 ERP설정     2 - 2)  환경설정-  [그룹웨어]  - 연결할 그룹웨어 선택 및 설정</vt:lpstr>
      <vt:lpstr>2. 그룹웨어 사용하기 위한 ERP설정     2 - 3)  환경설정-  [전자결재문서설정]                  - 전자결재문서별로 사용하는 확정,   문서데이터 조회를 위한 DataService,  SP 등을 등록하고 각 전자결재 사용하는 화면을 등록.</vt:lpstr>
      <vt:lpstr>3. 그룹웨어연결 시 필요한 URL &amp; parameter값에 대한 설명</vt:lpstr>
      <vt:lpstr>4. 그룹웨어 관련 환경설정에 의하여 버튼 생성</vt:lpstr>
      <vt:lpstr>‘결재상신’ 버튼을 클릭하여 그룹웨어(Office365) 연결한 페이지 모습</vt:lpstr>
      <vt:lpstr>5. 전자결재 상신에 따른 Table 변화</vt:lpstr>
      <vt:lpstr>6. 삼정데이터서비스(Office 365) 그룹웨어 사용시 설정.</vt:lpstr>
      <vt:lpstr>삼정데이터서비스(Office 365) 그룹웨어 사용 프로세스 </vt:lpstr>
      <vt:lpstr>6-1. 삼정데이터서비스(Office 365) - 결재문서양식( 5개)    [ 주문서 ] – 항목 구성 및 양식</vt:lpstr>
      <vt:lpstr>6-2. 삼정데이터서비스(Office 365) - 결재문서양식( 5개)    [ 출하요청서 ] – 항목 구성 및 양식</vt:lpstr>
      <vt:lpstr>6-3. 삼정데이터서비스(Office 365) - 결재문서양식( 5개)    [ 구매품의서 ] – 항목 구성 및 양식</vt:lpstr>
      <vt:lpstr>6-4. 삼정데이터서비스(Office 365) - 결재문서양식( 5개)    [ 기타출고요청서 ] – 항목 구성 및 양식</vt:lpstr>
      <vt:lpstr>6-5. 삼정데이터서비스(Office 365) - 결재문서양식( 5개)    [ 회계전표 ] – 항목 구성 및 양식</vt:lpstr>
      <vt:lpstr>7. 동부(Google Apps 기반) 그룹웨어 사용시 설정.</vt:lpstr>
      <vt:lpstr>동부(Google Apps 기반) 그룹웨어 사용시 프로세스 </vt:lpstr>
      <vt:lpstr>7-1. 동부(Google Apps 기반) - 결재문서양식( 5개)    [ 주문서 ] – 항목 구성 및 양식</vt:lpstr>
      <vt:lpstr>7-2. 동부(Google Apps 기반) - 결재문서양식( 5개)    [ 출하요청서 ] – 항목 구성 및 양식</vt:lpstr>
      <vt:lpstr>7-3. 동부(Google Apps 기반) - 결재문서양식( 5개)    [ 구매품의서 ] – 항목 구성 및 양식</vt:lpstr>
      <vt:lpstr>7-4. 동부(Google Apps 기반) - 결재문서양식( 5개)    [ 기타출고요청서 ] – 항목 구성 및 양식</vt:lpstr>
      <vt:lpstr>7-5. 동부(Google Apps 기반) - 결재문서양식( 5개)    [ 회계전표 ] – 항목 구성 및 양식</vt:lpstr>
      <vt:lpstr>PowerPoint 프레젠테이션</vt:lpstr>
    </vt:vector>
  </TitlesOfParts>
  <Company>R&amp;D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SystemEver전자결재 사용법</dc:title>
  <dc:creator>Microsoft Corporation</dc:creator>
  <cp:lastModifiedBy>김 명남</cp:lastModifiedBy>
  <cp:revision>198</cp:revision>
  <dcterms:created xsi:type="dcterms:W3CDTF">2006-10-05T04:04:58Z</dcterms:created>
  <dcterms:modified xsi:type="dcterms:W3CDTF">2019-05-13T07:58:00Z</dcterms:modified>
</cp:coreProperties>
</file>