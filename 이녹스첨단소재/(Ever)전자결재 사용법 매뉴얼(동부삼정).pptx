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27"/>
  </p:notesMasterIdLst>
  <p:sldIdLst>
    <p:sldId id="256" r:id="rId2"/>
    <p:sldId id="257" r:id="rId3"/>
    <p:sldId id="271" r:id="rId4"/>
    <p:sldId id="259" r:id="rId5"/>
    <p:sldId id="260" r:id="rId6"/>
    <p:sldId id="261" r:id="rId7"/>
    <p:sldId id="267" r:id="rId8"/>
    <p:sldId id="263" r:id="rId9"/>
    <p:sldId id="284" r:id="rId10"/>
    <p:sldId id="265" r:id="rId11"/>
    <p:sldId id="268" r:id="rId12"/>
    <p:sldId id="272" r:id="rId13"/>
    <p:sldId id="274" r:id="rId14"/>
    <p:sldId id="275" r:id="rId15"/>
    <p:sldId id="276" r:id="rId16"/>
    <p:sldId id="277" r:id="rId17"/>
    <p:sldId id="278" r:id="rId18"/>
    <p:sldId id="269" r:id="rId19"/>
    <p:sldId id="273" r:id="rId20"/>
    <p:sldId id="279" r:id="rId21"/>
    <p:sldId id="280" r:id="rId22"/>
    <p:sldId id="281" r:id="rId23"/>
    <p:sldId id="282" r:id="rId24"/>
    <p:sldId id="283" r:id="rId25"/>
    <p:sldId id="270" r:id="rId2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D78A10-E3CE-4A66-B592-0AC6225B8C4F}" v="1" dt="2025-10-27T23:52:59.6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7708" autoAdjust="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명남" userId="1d740899-c680-4906-a41e-d7b9e7ca5218" providerId="ADAL" clId="{2134A58C-2484-4599-AEC8-D857BD1B3B94}"/>
    <pc:docChg chg="modSld">
      <pc:chgData name="김 명남" userId="1d740899-c680-4906-a41e-d7b9e7ca5218" providerId="ADAL" clId="{2134A58C-2484-4599-AEC8-D857BD1B3B94}" dt="2025-10-27T23:52:59.676" v="0"/>
      <pc:docMkLst>
        <pc:docMk/>
      </pc:docMkLst>
      <pc:sldChg chg="modSp">
        <pc:chgData name="김 명남" userId="1d740899-c680-4906-a41e-d7b9e7ca5218" providerId="ADAL" clId="{2134A58C-2484-4599-AEC8-D857BD1B3B94}" dt="2025-10-27T23:52:59.676" v="0"/>
        <pc:sldMkLst>
          <pc:docMk/>
          <pc:sldMk cId="472493865" sldId="271"/>
        </pc:sldMkLst>
        <pc:graphicFrameChg chg="mod">
          <ac:chgData name="김 명남" userId="1d740899-c680-4906-a41e-d7b9e7ca5218" providerId="ADAL" clId="{2134A58C-2484-4599-AEC8-D857BD1B3B94}" dt="2025-10-27T23:52:59.676" v="0"/>
          <ac:graphicFrameMkLst>
            <pc:docMk/>
            <pc:sldMk cId="472493865" sldId="271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D5DB9-2121-427E-90CA-12B7A3FEBC15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329E5-1045-4192-ABD9-63102C706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147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6329E5-1045-4192-ABD9-63102C706C7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239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1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1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SystemEver</a:t>
            </a:r>
            <a:b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전자결재 사용법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이미금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2015-11-27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4897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0832" y="533400"/>
            <a:ext cx="8229600" cy="990600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</a:rPr>
              <a:t>1. ERP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</a:rPr>
              <a:t>와 그룹웨어 상호 연관관계</a:t>
            </a:r>
          </a:p>
        </p:txBody>
      </p:sp>
      <p:grpSp>
        <p:nvGrpSpPr>
          <p:cNvPr id="4" name="그룹 213"/>
          <p:cNvGrpSpPr>
            <a:grpSpLocks/>
          </p:cNvGrpSpPr>
          <p:nvPr/>
        </p:nvGrpSpPr>
        <p:grpSpPr bwMode="auto">
          <a:xfrm>
            <a:off x="266700" y="1655340"/>
            <a:ext cx="8591550" cy="4725988"/>
            <a:chOff x="266700" y="1571611"/>
            <a:chExt cx="8591580" cy="4725233"/>
          </a:xfrm>
        </p:grpSpPr>
        <p:cxnSp>
          <p:nvCxnSpPr>
            <p:cNvPr id="5" name="직선 연결선 189"/>
            <p:cNvCxnSpPr>
              <a:cxnSpLocks noChangeShapeType="1"/>
            </p:cNvCxnSpPr>
            <p:nvPr/>
          </p:nvCxnSpPr>
          <p:spPr bwMode="auto">
            <a:xfrm rot="5400000">
              <a:off x="-2084818" y="3926306"/>
              <a:ext cx="4725233" cy="1584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" name="직선 연결선 190"/>
            <p:cNvCxnSpPr>
              <a:cxnSpLocks noChangeShapeType="1"/>
            </p:cNvCxnSpPr>
            <p:nvPr/>
          </p:nvCxnSpPr>
          <p:spPr bwMode="auto">
            <a:xfrm rot="5400000">
              <a:off x="6500032" y="3928272"/>
              <a:ext cx="4714908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직선 연결선 207"/>
            <p:cNvCxnSpPr>
              <a:cxnSpLocks noChangeShapeType="1"/>
            </p:cNvCxnSpPr>
            <p:nvPr/>
          </p:nvCxnSpPr>
          <p:spPr bwMode="auto">
            <a:xfrm>
              <a:off x="266700" y="6281738"/>
              <a:ext cx="8591580" cy="637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직선 연결선 209"/>
            <p:cNvCxnSpPr>
              <a:cxnSpLocks noChangeShapeType="1"/>
            </p:cNvCxnSpPr>
            <p:nvPr/>
          </p:nvCxnSpPr>
          <p:spPr bwMode="auto">
            <a:xfrm rot="5400000">
              <a:off x="-921134" y="3941349"/>
              <a:ext cx="4685510" cy="47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" name="Line 20"/>
          <p:cNvSpPr>
            <a:spLocks noChangeShapeType="1"/>
          </p:cNvSpPr>
          <p:nvPr/>
        </p:nvSpPr>
        <p:spPr bwMode="auto">
          <a:xfrm>
            <a:off x="285750" y="4227090"/>
            <a:ext cx="858361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ea"/>
              <a:ea typeface="+mn-ea"/>
            </a:endParaRPr>
          </a:p>
        </p:txBody>
      </p:sp>
      <p:cxnSp>
        <p:nvCxnSpPr>
          <p:cNvPr id="10" name="직선 연결선 64"/>
          <p:cNvCxnSpPr>
            <a:cxnSpLocks noChangeShapeType="1"/>
          </p:cNvCxnSpPr>
          <p:nvPr/>
        </p:nvCxnSpPr>
        <p:spPr bwMode="auto">
          <a:xfrm>
            <a:off x="285750" y="1655340"/>
            <a:ext cx="85725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61"/>
          <p:cNvSpPr>
            <a:spLocks noChangeArrowheads="1"/>
          </p:cNvSpPr>
          <p:nvPr/>
        </p:nvSpPr>
        <p:spPr bwMode="auto">
          <a:xfrm>
            <a:off x="285750" y="1869653"/>
            <a:ext cx="1143000" cy="714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ERP</a:t>
            </a:r>
            <a:endParaRPr kumimoji="0" lang="ko-KR" altLang="en-US" sz="1400" b="1" dirty="0">
              <a:solidFill>
                <a:schemeClr val="accent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2" name="Rectangle 61"/>
          <p:cNvSpPr>
            <a:spLocks noChangeArrowheads="1"/>
          </p:cNvSpPr>
          <p:nvPr/>
        </p:nvSpPr>
        <p:spPr bwMode="auto">
          <a:xfrm>
            <a:off x="285750" y="3727028"/>
            <a:ext cx="1143000" cy="714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b="1" dirty="0">
              <a:latin typeface="+mn-ea"/>
              <a:ea typeface="+mn-ea"/>
            </a:endParaRPr>
          </a:p>
        </p:txBody>
      </p:sp>
      <p:sp>
        <p:nvSpPr>
          <p:cNvPr id="13" name="Rectangle 61"/>
          <p:cNvSpPr>
            <a:spLocks noChangeArrowheads="1"/>
          </p:cNvSpPr>
          <p:nvPr/>
        </p:nvSpPr>
        <p:spPr bwMode="auto">
          <a:xfrm>
            <a:off x="285750" y="4369965"/>
            <a:ext cx="1143000" cy="714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400" b="1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그룹웨어</a:t>
            </a:r>
          </a:p>
        </p:txBody>
      </p:sp>
      <p:sp>
        <p:nvSpPr>
          <p:cNvPr id="14" name="Rectangle 72"/>
          <p:cNvSpPr>
            <a:spLocks noChangeArrowheads="1"/>
          </p:cNvSpPr>
          <p:nvPr/>
        </p:nvSpPr>
        <p:spPr bwMode="auto">
          <a:xfrm>
            <a:off x="6169306" y="1726777"/>
            <a:ext cx="948084" cy="43180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1.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확정관리</a:t>
            </a:r>
          </a:p>
        </p:txBody>
      </p:sp>
      <p:sp>
        <p:nvSpPr>
          <p:cNvPr id="15" name="Rectangle 72"/>
          <p:cNvSpPr>
            <a:spLocks noChangeArrowheads="1"/>
          </p:cNvSpPr>
          <p:nvPr/>
        </p:nvSpPr>
        <p:spPr bwMode="auto">
          <a:xfrm>
            <a:off x="1547664" y="1728365"/>
            <a:ext cx="1563809" cy="43180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2.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환경설정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-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그룹웨어</a:t>
            </a:r>
          </a:p>
        </p:txBody>
      </p:sp>
      <p:sp>
        <p:nvSpPr>
          <p:cNvPr id="16" name="Rectangle 72"/>
          <p:cNvSpPr>
            <a:spLocks noChangeArrowheads="1"/>
          </p:cNvSpPr>
          <p:nvPr/>
        </p:nvSpPr>
        <p:spPr bwMode="auto">
          <a:xfrm>
            <a:off x="3624087" y="1726778"/>
            <a:ext cx="2143125" cy="43180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3.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환경설정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-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전자결재문서설정</a:t>
            </a:r>
          </a:p>
        </p:txBody>
      </p:sp>
      <p:sp>
        <p:nvSpPr>
          <p:cNvPr id="17" name="Rectangle 72"/>
          <p:cNvSpPr>
            <a:spLocks noChangeArrowheads="1"/>
          </p:cNvSpPr>
          <p:nvPr/>
        </p:nvSpPr>
        <p:spPr bwMode="auto">
          <a:xfrm>
            <a:off x="3671888" y="3512715"/>
            <a:ext cx="1225550" cy="431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ko-KR" altLang="en-US" sz="1200" b="1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결재상신</a:t>
            </a:r>
          </a:p>
        </p:txBody>
      </p:sp>
      <p:sp>
        <p:nvSpPr>
          <p:cNvPr id="18" name="Rectangle 72"/>
          <p:cNvSpPr>
            <a:spLocks noChangeArrowheads="1"/>
          </p:cNvSpPr>
          <p:nvPr/>
        </p:nvSpPr>
        <p:spPr bwMode="auto">
          <a:xfrm>
            <a:off x="3671888" y="4546178"/>
            <a:ext cx="1225550" cy="431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ko-KR" altLang="en-US" sz="1200" b="1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결재</a:t>
            </a:r>
          </a:p>
        </p:txBody>
      </p:sp>
      <p:sp>
        <p:nvSpPr>
          <p:cNvPr id="19" name="Rectangle 72"/>
          <p:cNvSpPr>
            <a:spLocks noChangeArrowheads="1"/>
          </p:cNvSpPr>
          <p:nvPr/>
        </p:nvSpPr>
        <p:spPr bwMode="auto">
          <a:xfrm>
            <a:off x="3667125" y="5441528"/>
            <a:ext cx="1225550" cy="431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ko-KR" altLang="en-US" sz="1200" b="1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최종결재</a:t>
            </a:r>
          </a:p>
        </p:txBody>
      </p:sp>
      <p:sp>
        <p:nvSpPr>
          <p:cNvPr id="20" name="Rectangle 137"/>
          <p:cNvSpPr>
            <a:spLocks noChangeArrowheads="1"/>
          </p:cNvSpPr>
          <p:nvPr/>
        </p:nvSpPr>
        <p:spPr bwMode="auto">
          <a:xfrm>
            <a:off x="2466975" y="2512590"/>
            <a:ext cx="3643313" cy="642938"/>
          </a:xfrm>
          <a:prstGeom prst="rect">
            <a:avLst/>
          </a:prstGeom>
          <a:noFill/>
          <a:ln w="28575" algn="ctr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사용문서 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( 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현재 구성된 표준 문서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)</a:t>
            </a:r>
            <a:endParaRPr lang="ko-KR" altLang="en-US" sz="1100" b="1" dirty="0">
              <a:solidFill>
                <a:schemeClr val="accent1">
                  <a:lumMod val="50000"/>
                </a:schemeClr>
              </a:solidFill>
              <a:latin typeface="굴림" charset="-127"/>
            </a:endParaRPr>
          </a:p>
          <a:p>
            <a:pPr algn="l" eaLnBrk="1" hangingPunct="1">
              <a:lnSpc>
                <a:spcPct val="150000"/>
              </a:lnSpc>
            </a:pPr>
            <a:r>
              <a:rPr lang="ko-KR" altLang="en-US" sz="1100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구매품의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, </a:t>
            </a:r>
            <a:r>
              <a:rPr lang="ko-KR" altLang="en-US" sz="1100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수주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, </a:t>
            </a:r>
            <a:r>
              <a:rPr lang="ko-KR" altLang="en-US" sz="1100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출하의뢰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, </a:t>
            </a:r>
            <a:r>
              <a:rPr lang="ko-KR" altLang="en-US" sz="1100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기타출고요청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, </a:t>
            </a:r>
            <a:r>
              <a:rPr lang="ko-KR" altLang="en-US" sz="1100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회계전표 </a:t>
            </a:r>
            <a:endParaRPr lang="en-US" altLang="ko-KR" sz="1100" dirty="0">
              <a:solidFill>
                <a:schemeClr val="accent1">
                  <a:lumMod val="50000"/>
                </a:schemeClr>
              </a:solidFill>
              <a:latin typeface="굴림" charset="-127"/>
            </a:endParaRPr>
          </a:p>
        </p:txBody>
      </p:sp>
      <p:sp>
        <p:nvSpPr>
          <p:cNvPr id="21" name="순서도: 자기 디스크 45"/>
          <p:cNvSpPr>
            <a:spLocks noChangeArrowheads="1"/>
          </p:cNvSpPr>
          <p:nvPr/>
        </p:nvSpPr>
        <p:spPr bwMode="auto">
          <a:xfrm>
            <a:off x="6929438" y="2726903"/>
            <a:ext cx="1428750" cy="714375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</a:rPr>
              <a:t>확정상태관리</a:t>
            </a:r>
          </a:p>
        </p:txBody>
      </p:sp>
      <p:cxnSp>
        <p:nvCxnSpPr>
          <p:cNvPr id="22" name="꺾인 연결선 50"/>
          <p:cNvCxnSpPr>
            <a:cxnSpLocks noChangeShapeType="1"/>
            <a:stCxn id="15" idx="3"/>
            <a:endCxn id="16" idx="1"/>
          </p:cNvCxnSpPr>
          <p:nvPr/>
        </p:nvCxnSpPr>
        <p:spPr bwMode="auto">
          <a:xfrm flipV="1">
            <a:off x="3111473" y="1942678"/>
            <a:ext cx="512614" cy="1587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꺾인 연결선 52"/>
          <p:cNvCxnSpPr>
            <a:cxnSpLocks noChangeShapeType="1"/>
            <a:stCxn id="14" idx="1"/>
            <a:endCxn id="16" idx="3"/>
          </p:cNvCxnSpPr>
          <p:nvPr/>
        </p:nvCxnSpPr>
        <p:spPr bwMode="auto">
          <a:xfrm rot="10800000" flipV="1">
            <a:off x="5767212" y="1942676"/>
            <a:ext cx="402094" cy="1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꺾인 연결선 54"/>
          <p:cNvCxnSpPr>
            <a:cxnSpLocks noChangeShapeType="1"/>
          </p:cNvCxnSpPr>
          <p:nvPr/>
        </p:nvCxnSpPr>
        <p:spPr bwMode="auto">
          <a:xfrm rot="5400000">
            <a:off x="4107755" y="2336377"/>
            <a:ext cx="352423" cy="3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꺾인 연결선 59"/>
          <p:cNvCxnSpPr>
            <a:cxnSpLocks noChangeShapeType="1"/>
            <a:stCxn id="17" idx="2"/>
            <a:endCxn id="18" idx="0"/>
          </p:cNvCxnSpPr>
          <p:nvPr/>
        </p:nvCxnSpPr>
        <p:spPr bwMode="auto">
          <a:xfrm rot="5400000">
            <a:off x="3982244" y="4245346"/>
            <a:ext cx="603250" cy="1588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꺾인 연결선 64"/>
          <p:cNvCxnSpPr>
            <a:cxnSpLocks noChangeShapeType="1"/>
            <a:stCxn id="18" idx="2"/>
            <a:endCxn id="19" idx="0"/>
          </p:cNvCxnSpPr>
          <p:nvPr/>
        </p:nvCxnSpPr>
        <p:spPr bwMode="auto">
          <a:xfrm rot="5400000">
            <a:off x="4050507" y="5207371"/>
            <a:ext cx="463550" cy="4763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꺾인 연결선 70"/>
          <p:cNvCxnSpPr>
            <a:cxnSpLocks noChangeShapeType="1"/>
            <a:stCxn id="17" idx="3"/>
            <a:endCxn id="21" idx="3"/>
          </p:cNvCxnSpPr>
          <p:nvPr/>
        </p:nvCxnSpPr>
        <p:spPr bwMode="auto">
          <a:xfrm flipV="1">
            <a:off x="4897438" y="3441278"/>
            <a:ext cx="2746375" cy="287337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Shape 77"/>
          <p:cNvCxnSpPr>
            <a:cxnSpLocks noChangeShapeType="1"/>
            <a:stCxn id="18" idx="3"/>
            <a:endCxn id="21" idx="3"/>
          </p:cNvCxnSpPr>
          <p:nvPr/>
        </p:nvCxnSpPr>
        <p:spPr bwMode="auto">
          <a:xfrm flipV="1">
            <a:off x="4897438" y="3441278"/>
            <a:ext cx="2746375" cy="132080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hape 79"/>
          <p:cNvCxnSpPr>
            <a:cxnSpLocks noChangeShapeType="1"/>
            <a:stCxn id="19" idx="3"/>
            <a:endCxn id="21" idx="3"/>
          </p:cNvCxnSpPr>
          <p:nvPr/>
        </p:nvCxnSpPr>
        <p:spPr bwMode="auto">
          <a:xfrm flipV="1">
            <a:off x="4892675" y="3441278"/>
            <a:ext cx="2751138" cy="221615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직사각형 36"/>
          <p:cNvSpPr>
            <a:spLocks noChangeArrowheads="1"/>
          </p:cNvSpPr>
          <p:nvPr/>
        </p:nvSpPr>
        <p:spPr bwMode="auto">
          <a:xfrm>
            <a:off x="5643563" y="4441403"/>
            <a:ext cx="890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eaLnBrk="1" hangingPunct="1"/>
            <a:r>
              <a:rPr lang="ko-KR" altLang="en-US" b="1">
                <a:solidFill>
                  <a:schemeClr val="accent1">
                    <a:lumMod val="50000"/>
                  </a:schemeClr>
                </a:solidFill>
              </a:rPr>
              <a:t>결재취소</a:t>
            </a:r>
          </a:p>
        </p:txBody>
      </p:sp>
      <p:sp>
        <p:nvSpPr>
          <p:cNvPr id="32" name="직사각형 36"/>
          <p:cNvSpPr>
            <a:spLocks noChangeArrowheads="1"/>
          </p:cNvSpPr>
          <p:nvPr/>
        </p:nvSpPr>
        <p:spPr bwMode="auto">
          <a:xfrm>
            <a:off x="5643563" y="5347865"/>
            <a:ext cx="890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eaLnBrk="1" hangingPunct="1"/>
            <a:r>
              <a:rPr lang="ko-KR" altLang="en-US" b="1">
                <a:solidFill>
                  <a:schemeClr val="accent1">
                    <a:lumMod val="50000"/>
                  </a:schemeClr>
                </a:solidFill>
              </a:rPr>
              <a:t>결재완료</a:t>
            </a:r>
          </a:p>
        </p:txBody>
      </p:sp>
      <p:sp>
        <p:nvSpPr>
          <p:cNvPr id="33" name="직사각형 36"/>
          <p:cNvSpPr>
            <a:spLocks noChangeArrowheads="1"/>
          </p:cNvSpPr>
          <p:nvPr/>
        </p:nvSpPr>
        <p:spPr bwMode="auto">
          <a:xfrm>
            <a:off x="3749675" y="5084340"/>
            <a:ext cx="5365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eaLnBrk="1" hangingPunct="1"/>
            <a:r>
              <a:rPr lang="ko-KR" altLang="en-US" b="1">
                <a:solidFill>
                  <a:schemeClr val="accent1">
                    <a:lumMod val="50000"/>
                  </a:schemeClr>
                </a:solidFill>
              </a:rPr>
              <a:t>결재</a:t>
            </a:r>
          </a:p>
        </p:txBody>
      </p:sp>
      <p:sp>
        <p:nvSpPr>
          <p:cNvPr id="34" name="직사각형 36"/>
          <p:cNvSpPr>
            <a:spLocks noChangeArrowheads="1"/>
          </p:cNvSpPr>
          <p:nvPr/>
        </p:nvSpPr>
        <p:spPr bwMode="auto">
          <a:xfrm>
            <a:off x="5662613" y="3422228"/>
            <a:ext cx="890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eaLnBrk="1" hangingPunct="1"/>
            <a:r>
              <a:rPr lang="ko-KR" altLang="en-US" b="1">
                <a:solidFill>
                  <a:schemeClr val="accent1">
                    <a:lumMod val="50000"/>
                  </a:schemeClr>
                </a:solidFill>
              </a:rPr>
              <a:t>결재진행</a:t>
            </a:r>
          </a:p>
        </p:txBody>
      </p:sp>
      <p:sp>
        <p:nvSpPr>
          <p:cNvPr id="35" name="직사각형 36"/>
          <p:cNvSpPr>
            <a:spLocks noChangeArrowheads="1"/>
          </p:cNvSpPr>
          <p:nvPr/>
        </p:nvSpPr>
        <p:spPr bwMode="auto">
          <a:xfrm>
            <a:off x="7662863" y="4490615"/>
            <a:ext cx="536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eaLnBrk="1" hangingPunct="1"/>
            <a:r>
              <a:rPr lang="ko-KR" altLang="en-US" b="1">
                <a:solidFill>
                  <a:schemeClr val="accent1">
                    <a:lumMod val="50000"/>
                  </a:schemeClr>
                </a:solidFill>
              </a:rPr>
              <a:t>상태</a:t>
            </a:r>
            <a:endParaRPr lang="en-US" altLang="ko-KR" b="1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/>
            <a:r>
              <a:rPr lang="ko-KR" altLang="en-US" b="1">
                <a:solidFill>
                  <a:schemeClr val="accent1">
                    <a:lumMod val="50000"/>
                  </a:schemeClr>
                </a:solidFill>
              </a:rPr>
              <a:t>변경</a:t>
            </a:r>
          </a:p>
        </p:txBody>
      </p:sp>
      <p:cxnSp>
        <p:nvCxnSpPr>
          <p:cNvPr id="55" name="꺾인 연결선 54"/>
          <p:cNvCxnSpPr>
            <a:cxnSpLocks noChangeShapeType="1"/>
          </p:cNvCxnSpPr>
          <p:nvPr/>
        </p:nvCxnSpPr>
        <p:spPr bwMode="auto">
          <a:xfrm rot="5400000">
            <a:off x="4112426" y="3331738"/>
            <a:ext cx="352423" cy="3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367253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5976664" cy="504056"/>
          </a:xfrm>
        </p:spPr>
        <p:txBody>
          <a:bodyPr>
            <a:noAutofit/>
          </a:bodyPr>
          <a:lstStyle/>
          <a:p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</a:rPr>
              <a:t>그룹웨어 관련 </a:t>
            </a:r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</a:rPr>
              <a:t>Table &amp; SP </a:t>
            </a:r>
            <a:endParaRPr lang="ko-KR" alt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361284"/>
              </p:ext>
            </p:extLst>
          </p:nvPr>
        </p:nvGraphicFramePr>
        <p:xfrm>
          <a:off x="107504" y="836712"/>
          <a:ext cx="8928993" cy="575468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0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구분</a:t>
                      </a: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Table &amp; SP</a:t>
                      </a:r>
                      <a:endParaRPr lang="ko-KR" altLang="en-US" sz="1600" dirty="0"/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비고</a:t>
                      </a: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13">
                <a:tc rowSpan="6"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12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12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그룹웨어 설정관련 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Table</a:t>
                      </a:r>
                      <a:endParaRPr lang="ko-KR" alt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</a:t>
                      </a:r>
                      <a:r>
                        <a:rPr lang="en-US" altLang="ko-KR" sz="1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TCOMConfirmTable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확정테이블관리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_TCOMConfirmDef 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확정관리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– 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확정관리정의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확정테이블의 연결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_TCOMConfirmPGM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확정관리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– 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확정을 사용하는 화면 등록</a:t>
                      </a: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_TCOMEnv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환경설정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-[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그룹웨어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0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_TCOMEnvGroupWare 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환경설정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-[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전자결재문서설정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</a:t>
                      </a: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결재문서번호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사용여부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문서데이터를 출력하기 위한 </a:t>
                      </a:r>
                      <a:r>
                        <a:rPr lang="en-US" altLang="ko-KR" sz="1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DataService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, Method, </a:t>
                      </a:r>
                      <a:r>
                        <a:rPr lang="en-US" altLang="ko-KR" sz="1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sp</a:t>
                      </a:r>
                      <a:r>
                        <a:rPr lang="en-US" altLang="ko-KR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등 등록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2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_TCOMEnvGroupWarePgm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환경설정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-[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전자결재문서설정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</a:t>
                      </a: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전자결재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를 사용하는 화면 및 해당 화면의 항목 중 </a:t>
                      </a:r>
                      <a:r>
                        <a:rPr lang="en-US" altLang="ko-KR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Key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값 되는 컨트롤 설정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488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그룹웨어 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TR</a:t>
                      </a:r>
                      <a:r>
                        <a:rPr lang="en-US" altLang="ko-KR" sz="12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Table</a:t>
                      </a:r>
                      <a:endParaRPr lang="ko-KR" alt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_TCOMGroupWare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전자결재상태값과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ERP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데이터를 연결해주는 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Table.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결재상태를 변경시켜주는 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SQL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구문이 저장 되어 있고 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ERP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데이터의 전자결재 </a:t>
                      </a:r>
                      <a:r>
                        <a:rPr kumimoji="1" lang="ko-KR" altLang="en-US" sz="10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진행상태값이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저장되는 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Table.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_TCOMConfirm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ERP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데이터의 확정에 대한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상태값이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저장됨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795">
                <a:tc rowSpan="6">
                  <a:txBody>
                    <a:bodyPr/>
                    <a:lstStyle/>
                    <a:p>
                      <a:pPr latinLnBrk="1"/>
                      <a:endParaRPr lang="en-US" altLang="ko-K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SP</a:t>
                      </a:r>
                      <a:endParaRPr lang="ko-KR" altLang="en-US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_</a:t>
                      </a:r>
                      <a:r>
                        <a:rPr lang="en-US" altLang="ko-KR" sz="100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SCAGetPageNew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전자결재연동시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그룹웨어  환경설정의 사용여부에 의하여 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ERP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화면에 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결재상신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,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결재상태 버튼을 자동생성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7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_SCOMGroupWareStart</a:t>
                      </a: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(Ever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용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00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내부에호출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 </a:t>
                      </a:r>
                      <a:r>
                        <a:rPr lang="en-US" altLang="ko-KR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_</a:t>
                      </a:r>
                      <a:r>
                        <a:rPr lang="en-US" altLang="ko-KR" sz="1000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SWCOMGroupWareStart</a:t>
                      </a:r>
                      <a:r>
                        <a:rPr lang="en-US" altLang="ko-KR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결재상신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결재상태 버튼 클릭 시  데이터에 대한 사전 체크 및 </a:t>
                      </a:r>
                      <a:r>
                        <a:rPr lang="en-US" altLang="ko-KR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_TCOMGroupWare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에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상태값변경하는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실행구문 만들어줌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05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_SCASiteLinkSSOQuery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(Ever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용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내부호출  </a:t>
                      </a:r>
                      <a:r>
                        <a:rPr lang="en-US" altLang="ko-KR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_SWCASiteLinkSSOQuery)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그룹웨어 페이지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호출시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 넘겨주는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파라미터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구성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업체와 협의하여 구성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-&gt;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영림원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필수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파라미터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+ 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그룹웨어업체와 약속한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파라미터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84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</a:t>
                      </a:r>
                      <a:r>
                        <a:rPr lang="en-US" altLang="ko-KR" sz="1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SCOMGroupWarePrint</a:t>
                      </a:r>
                      <a:endParaRPr lang="en-US" altLang="ko-KR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(Ever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용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내부호출  </a:t>
                      </a:r>
                      <a:r>
                        <a:rPr lang="en-US" altLang="ko-KR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_</a:t>
                      </a:r>
                      <a:r>
                        <a:rPr lang="en-US" altLang="ko-KR" sz="1000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SWCOMGroupWarePrint</a:t>
                      </a:r>
                      <a:r>
                        <a:rPr lang="en-US" altLang="ko-KR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_TCOMEnvGroupWare </a:t>
                      </a:r>
                      <a:r>
                        <a:rPr lang="ko-KR" alt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에 등록된 문서출력</a:t>
                      </a:r>
                      <a:r>
                        <a:rPr lang="en-US" altLang="ko-KR" sz="100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sp</a:t>
                      </a:r>
                      <a:r>
                        <a:rPr lang="en-US" altLang="ko-KR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ko-KR" alt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를 호출하는 공통</a:t>
                      </a:r>
                      <a:r>
                        <a:rPr lang="en-US" altLang="ko-KR" sz="100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sp</a:t>
                      </a:r>
                      <a:endParaRPr lang="en-US" altLang="ko-KR" sz="100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algn="l" rtl="0" fontAlgn="ctr"/>
                      <a:r>
                        <a:rPr lang="en-US" altLang="ko-KR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-&gt;</a:t>
                      </a:r>
                      <a:r>
                        <a:rPr lang="en-US" altLang="ko-KR" sz="1000" u="none" strike="noStrike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ko-KR" altLang="en-US" sz="100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웹서비스를</a:t>
                      </a:r>
                      <a:r>
                        <a:rPr lang="ko-KR" alt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통한 통신</a:t>
                      </a:r>
                      <a:endParaRPr lang="en-US" altLang="ko-KR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굴림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7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_SCOMGroupWareStatus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(Ever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용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내부호출  </a:t>
                      </a:r>
                      <a:r>
                        <a:rPr lang="en-US" altLang="ko-KR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_</a:t>
                      </a:r>
                      <a:r>
                        <a:rPr lang="en-US" altLang="ko-KR" sz="1000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SWCOMGroupWareStatus</a:t>
                      </a:r>
                      <a:r>
                        <a:rPr lang="en-US" altLang="ko-KR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전자결재상신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완결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취소 등 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에 의하여 </a:t>
                      </a:r>
                      <a:r>
                        <a:rPr lang="en-US" altLang="ko-KR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_TCOMGroupWare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에 저장되어 있는 </a:t>
                      </a:r>
                      <a:r>
                        <a:rPr lang="ko-KR" altLang="en-US" sz="1000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상태값변경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SQL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구문을 실행하여 전자결재 </a:t>
                      </a:r>
                      <a:r>
                        <a:rPr lang="ko-KR" altLang="en-US" sz="1000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상태값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바꿔줌</a:t>
                      </a:r>
                      <a:r>
                        <a:rPr lang="en-US" altLang="ko-KR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. –&gt; </a:t>
                      </a:r>
                      <a:r>
                        <a:rPr lang="ko-KR" altLang="en-US" sz="1000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웹서비스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통한 통신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3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</a:t>
                      </a:r>
                      <a:r>
                        <a:rPr lang="en-US" altLang="ko-KR" sz="1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SCOMGroupWareNextProc</a:t>
                      </a:r>
                      <a:endParaRPr lang="en-US" altLang="ko-KR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(Ever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용</a:t>
                      </a:r>
                      <a:r>
                        <a:rPr lang="ko-KR" altLang="en-US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내부호출  </a:t>
                      </a:r>
                      <a:r>
                        <a:rPr lang="en-US" altLang="ko-KR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_</a:t>
                      </a:r>
                      <a:r>
                        <a:rPr lang="en-US" altLang="ko-KR" sz="1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SWCOMGroupWareNextProc</a:t>
                      </a:r>
                      <a:r>
                        <a:rPr lang="en-US" altLang="ko-KR" sz="10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그룹웨어전자결재 완료 시 전표관련 승인처리</a:t>
                      </a: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493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8229600" cy="1152128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2.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그룹웨어 사용하기 위한 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ERP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설정</a:t>
            </a:r>
            <a:b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3200" b="1" dirty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</a:rPr>
              <a:t>2 - 1)  [</a:t>
            </a:r>
            <a:r>
              <a:rPr lang="ko-KR" altLang="en-US" sz="2000" b="1" dirty="0">
                <a:solidFill>
                  <a:schemeClr val="accent1">
                    <a:lumMod val="50000"/>
                  </a:schemeClr>
                </a:solidFill>
              </a:rPr>
              <a:t>확정관리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</a:rPr>
              <a:t>]  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</a:rPr>
              <a:t>확정관련 정의 및 확정 사용하는 프로그램 등록하는 화면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2"/>
            <a:ext cx="6480720" cy="5033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004048" y="1988840"/>
            <a:ext cx="504056" cy="187220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131840" y="4149080"/>
            <a:ext cx="720080" cy="172819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사각형 설명선 12"/>
          <p:cNvSpPr/>
          <p:nvPr/>
        </p:nvSpPr>
        <p:spPr>
          <a:xfrm>
            <a:off x="6611884" y="2384884"/>
            <a:ext cx="2016224" cy="1080120"/>
          </a:xfrm>
          <a:prstGeom prst="wedgeRoundRectCallout">
            <a:avLst>
              <a:gd name="adj1" fmla="val -105218"/>
              <a:gd name="adj2" fmla="val -5568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</a:rPr>
              <a:t>전자결재를 통한 확정관리를 하기 위하여 먼저 확정기능을 사용하여야  함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</a:rPr>
              <a:t>사용하고자 하는 확정명을 찾아  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</a:rPr>
              <a:t>[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</a:rPr>
              <a:t>사용안함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</a:rPr>
              <a:t> ]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</a:rPr>
              <a:t>의 체크를 풀어줘야 함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ko-KR" altLang="en-US" sz="10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모서리가 둥근 사각형 설명선 16"/>
          <p:cNvSpPr/>
          <p:nvPr/>
        </p:nvSpPr>
        <p:spPr>
          <a:xfrm>
            <a:off x="4949160" y="5157192"/>
            <a:ext cx="3096344" cy="1080120"/>
          </a:xfrm>
          <a:prstGeom prst="wedgeRoundRectCallout">
            <a:avLst>
              <a:gd name="adj1" fmla="val -84907"/>
              <a:gd name="adj2" fmla="val -4624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</a:rPr>
              <a:t>전자결재를 통하여 확정 하고자 하기 때문에 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</a:rPr>
              <a:t>ERP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</a:rPr>
              <a:t>화면에서는 확정을 </a:t>
            </a:r>
            <a:r>
              <a:rPr lang="ko-KR" altLang="en-US" sz="1050" b="1" dirty="0" err="1">
                <a:solidFill>
                  <a:schemeClr val="accent1">
                    <a:lumMod val="50000"/>
                  </a:schemeClr>
                </a:solidFill>
              </a:rPr>
              <a:t>할수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</a:rPr>
              <a:t> 없도록 해당 </a:t>
            </a:r>
            <a:r>
              <a:rPr lang="ko-KR" altLang="en-US" sz="1050" b="1" dirty="0" err="1">
                <a:solidFill>
                  <a:schemeClr val="accent1">
                    <a:lumMod val="50000"/>
                  </a:schemeClr>
                </a:solidFill>
              </a:rPr>
              <a:t>확정컬럼을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</a:rPr>
              <a:t> 비활성화되게 하여야 함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</a:rPr>
              <a:t> [</a:t>
            </a:r>
            <a:r>
              <a:rPr lang="en-US" altLang="ko-KR" sz="1050" b="1" dirty="0" err="1">
                <a:solidFill>
                  <a:schemeClr val="accent1">
                    <a:lumMod val="50000"/>
                  </a:schemeClr>
                </a:solidFill>
              </a:rPr>
              <a:t>IsReadOnly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</a:rPr>
              <a:t>]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</a:rPr>
              <a:t>에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</a:rPr>
              <a:t>체크하면 해당 </a:t>
            </a:r>
            <a:r>
              <a:rPr lang="ko-KR" altLang="en-US" sz="1050" b="1" dirty="0" err="1">
                <a:solidFill>
                  <a:schemeClr val="accent1">
                    <a:lumMod val="50000"/>
                  </a:schemeClr>
                </a:solidFill>
              </a:rPr>
              <a:t>확정컬럼이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</a:rPr>
              <a:t> 비활성화로 보여지게 됨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6312022" y="1916832"/>
            <a:ext cx="2615948" cy="36596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테이블 </a:t>
            </a:r>
            <a:r>
              <a:rPr lang="en-US" altLang="ko-KR" sz="1400" dirty="0"/>
              <a:t>: _TCOMConfirmDef </a:t>
            </a:r>
            <a:endParaRPr lang="ko-KR" altLang="en-US" sz="14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5021168" y="4509120"/>
            <a:ext cx="2952328" cy="3600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테이블 </a:t>
            </a:r>
            <a:r>
              <a:rPr lang="en-US" altLang="ko-KR" sz="1400" dirty="0"/>
              <a:t>: _TCOMConfirmPGM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32970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8280920" cy="1152128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2.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ko-KR" altLang="en-US" sz="3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사용하기 위한 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ERP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설정</a:t>
            </a:r>
            <a:b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</a:rPr>
              <a:t>2 - 2)</a:t>
            </a:r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ko-KR" altLang="en-US" sz="2000" b="1" dirty="0">
                <a:solidFill>
                  <a:schemeClr val="accent1">
                    <a:lumMod val="50000"/>
                  </a:schemeClr>
                </a:solidFill>
              </a:rPr>
              <a:t>환경설정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</a:rPr>
              <a:t>-  [</a:t>
            </a:r>
            <a:r>
              <a:rPr lang="ko-KR" altLang="en-US" sz="2000" b="1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</a:rPr>
              <a:t>]  </a:t>
            </a:r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</a:rPr>
              <a:t>연결할 그룹웨어 선택 및 설정</a:t>
            </a:r>
            <a:endParaRPr lang="ko-KR" altLang="en-US" sz="10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29" y="1354228"/>
            <a:ext cx="8822601" cy="3154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모서리가 둥근 직사각형 7"/>
          <p:cNvSpPr/>
          <p:nvPr/>
        </p:nvSpPr>
        <p:spPr>
          <a:xfrm>
            <a:off x="5868144" y="1628800"/>
            <a:ext cx="2304256" cy="21602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테이블 </a:t>
            </a:r>
            <a:r>
              <a:rPr lang="en-US" altLang="ko-KR" sz="1200" dirty="0"/>
              <a:t>: _TCOMEnv</a:t>
            </a:r>
            <a:endParaRPr lang="ko-KR" altLang="en-US" sz="1200" dirty="0"/>
          </a:p>
        </p:txBody>
      </p:sp>
      <p:sp>
        <p:nvSpPr>
          <p:cNvPr id="10" name="모서리가 둥근 사각형 설명선 9"/>
          <p:cNvSpPr/>
          <p:nvPr/>
        </p:nvSpPr>
        <p:spPr>
          <a:xfrm>
            <a:off x="1763688" y="4005064"/>
            <a:ext cx="6931983" cy="2448272"/>
          </a:xfrm>
          <a:prstGeom prst="wedgeRoundRectCallout">
            <a:avLst>
              <a:gd name="adj1" fmla="val 1884"/>
              <a:gd name="adj2" fmla="val -65416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항목설명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marL="228600" indent="-228600">
              <a:buAutoNum type="arabicPeriod"/>
            </a:pP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&gt; 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그룹웨어사용여부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: 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 사용시 해당 항목을 체크하면 전자결재 사용하는 화면에서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결재상신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’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버튼이 보여짐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해당 버튼을 클릭하여 그룹웨어를 연결 할 수 있음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28600" indent="-228600">
              <a:buAutoNum type="arabicPeriod"/>
            </a:pP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&gt; 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그룹웨어상태버튼사용하기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 사용시 해당 항목을 체크하면 전자결재 사용하는 화면에서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결재상태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’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버튼이 보여짐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해당 버튼을 클릭하여 그룹웨어에 연결한 후 결재 진행상태를 확인가능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28600" indent="-228600">
              <a:buAutoNum type="arabicPeriod"/>
            </a:pP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&gt; 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그룹웨어종류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 업체를 선택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할수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있음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.(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동부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삼정데이타서비스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..)</a:t>
            </a:r>
          </a:p>
          <a:p>
            <a:pPr marL="228600" indent="-228600">
              <a:buAutoNum type="arabicPeriod"/>
            </a:pP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&gt; 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Web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서버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IP :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n-US" altLang="ko-KR" sz="900" dirty="0">
              <a:solidFill>
                <a:schemeClr val="accent1">
                  <a:lumMod val="50000"/>
                </a:schemeClr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&gt; 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URL : </a:t>
            </a:r>
          </a:p>
          <a:p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       4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번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(9002)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그룹웨어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Web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서버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IP + 5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번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(9004)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그룹웨어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URL  :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결재상신 시 그룹웨어페이지를 호출할 수 있는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URL</a:t>
            </a:r>
          </a:p>
          <a:p>
            <a:pPr marL="228600" indent="-228600">
              <a:buAutoNum type="arabicPeriod" startAt="6"/>
            </a:pP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그룹웨어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&gt;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그룹웨어문서구분파라메터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그룹웨어 문서구분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파라메터명칭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수정할 필요가 없는 값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)</a:t>
            </a:r>
          </a:p>
          <a:p>
            <a:pPr marL="228600" indent="-228600">
              <a:buAutoNum type="arabicPeriod" startAt="6"/>
            </a:pP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그룹웨어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&gt;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그룹웨어문서키파라메터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: 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그룹웨어 사용하는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ERP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화면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내부키를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파라메터로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넘길때의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명칭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.(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수정할 필요가 없는 값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. )</a:t>
            </a:r>
          </a:p>
          <a:p>
            <a:pPr marL="228600" indent="-228600">
              <a:buAutoNum type="arabicPeriod" startAt="6"/>
            </a:pP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그룹웨어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&gt;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그룹웨어 진행상태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URL :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전자결재상신할때의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그룹웨어페이지와 전자결재 진행 상태를 확인하는 그룹웨어페이지가 다른 경우가 있으므로 그럴 경우 사용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.</a:t>
            </a:r>
          </a:p>
          <a:p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  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4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번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(9002)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그룹웨어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Web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서버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IP + 8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번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(9012)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그룹웨어 진행상태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URL  :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결재상태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확인시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그룹웨어페이지를 호출하는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2489437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76376" y="404664"/>
            <a:ext cx="8842471" cy="1152128"/>
          </a:xfrm>
        </p:spPr>
        <p:txBody>
          <a:bodyPr>
            <a:normAutofit fontScale="90000"/>
          </a:bodyPr>
          <a:lstStyle/>
          <a:p>
            <a:r>
              <a:rPr lang="en-US" altLang="ko-KR" sz="3100" b="1" dirty="0">
                <a:solidFill>
                  <a:schemeClr val="accent1">
                    <a:lumMod val="50000"/>
                  </a:schemeClr>
                </a:solidFill>
              </a:rPr>
              <a:t>2. </a:t>
            </a:r>
            <a:r>
              <a:rPr lang="ko-KR" altLang="en-US" sz="3100" b="1" dirty="0">
                <a:solidFill>
                  <a:schemeClr val="accent1">
                    <a:lumMod val="50000"/>
                  </a:schemeClr>
                </a:solidFill>
              </a:rPr>
              <a:t>그룹웨어 사용하기 위한 </a:t>
            </a:r>
            <a:r>
              <a:rPr lang="en-US" altLang="ko-KR" sz="3100" b="1" dirty="0">
                <a:solidFill>
                  <a:schemeClr val="accent1">
                    <a:lumMod val="50000"/>
                  </a:schemeClr>
                </a:solidFill>
              </a:rPr>
              <a:t>ERP</a:t>
            </a:r>
            <a:r>
              <a:rPr lang="ko-KR" altLang="en-US" sz="3100" b="1" dirty="0">
                <a:solidFill>
                  <a:schemeClr val="accent1">
                    <a:lumMod val="50000"/>
                  </a:schemeClr>
                </a:solidFill>
              </a:rPr>
              <a:t>설정</a:t>
            </a:r>
            <a:br>
              <a:rPr lang="en-US" altLang="ko-KR" sz="32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2700" b="1" dirty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altLang="ko-KR" sz="2200" b="1" dirty="0">
                <a:solidFill>
                  <a:schemeClr val="accent1">
                    <a:lumMod val="50000"/>
                  </a:schemeClr>
                </a:solidFill>
              </a:rPr>
              <a:t>2 - 3)  </a:t>
            </a:r>
            <a:r>
              <a:rPr lang="ko-KR" altLang="en-US" sz="2200" b="1" dirty="0">
                <a:solidFill>
                  <a:schemeClr val="accent1">
                    <a:lumMod val="50000"/>
                  </a:schemeClr>
                </a:solidFill>
              </a:rPr>
              <a:t>환경설정</a:t>
            </a:r>
            <a:r>
              <a:rPr lang="en-US" altLang="ko-KR" sz="2200" b="1" dirty="0">
                <a:solidFill>
                  <a:schemeClr val="accent1">
                    <a:lumMod val="50000"/>
                  </a:schemeClr>
                </a:solidFill>
              </a:rPr>
              <a:t>-  [</a:t>
            </a:r>
            <a:r>
              <a:rPr lang="ko-KR" altLang="en-US" sz="2200" b="1" dirty="0">
                <a:solidFill>
                  <a:schemeClr val="accent1">
                    <a:lumMod val="50000"/>
                  </a:schemeClr>
                </a:solidFill>
              </a:rPr>
              <a:t>전자결재문서설정</a:t>
            </a:r>
            <a:r>
              <a:rPr lang="en-US" altLang="ko-KR" sz="2200" b="1" dirty="0">
                <a:solidFill>
                  <a:schemeClr val="accent1">
                    <a:lumMod val="50000"/>
                  </a:schemeClr>
                </a:solidFill>
              </a:rPr>
              <a:t>]  </a:t>
            </a:r>
            <a:br>
              <a:rPr lang="en-US" altLang="ko-KR" sz="22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2200" b="1" dirty="0">
                <a:solidFill>
                  <a:schemeClr val="accent1">
                    <a:lumMod val="50000"/>
                  </a:schemeClr>
                </a:solidFill>
              </a:rPr>
              <a:t>               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>
              <a:rPr lang="ko-KR" altLang="en-US" sz="1300" b="1" dirty="0">
                <a:solidFill>
                  <a:schemeClr val="accent1">
                    <a:lumMod val="50000"/>
                  </a:schemeClr>
                </a:solidFill>
              </a:rPr>
              <a:t>전자결재문서별로 사용하는 확정</a:t>
            </a:r>
            <a:r>
              <a:rPr lang="en-US" altLang="ko-KR" sz="1300" b="1" dirty="0">
                <a:solidFill>
                  <a:schemeClr val="accent1">
                    <a:lumMod val="50000"/>
                  </a:schemeClr>
                </a:solidFill>
              </a:rPr>
              <a:t>,   </a:t>
            </a:r>
            <a:r>
              <a:rPr lang="ko-KR" altLang="en-US" sz="1300" b="1" dirty="0">
                <a:solidFill>
                  <a:schemeClr val="accent1">
                    <a:lumMod val="50000"/>
                  </a:schemeClr>
                </a:solidFill>
              </a:rPr>
              <a:t>문서데이터 조회를 위한 </a:t>
            </a:r>
            <a:r>
              <a:rPr lang="en-US" altLang="ko-KR" sz="1300" b="1" dirty="0" err="1">
                <a:solidFill>
                  <a:schemeClr val="accent1">
                    <a:lumMod val="50000"/>
                  </a:schemeClr>
                </a:solidFill>
              </a:rPr>
              <a:t>DataService</a:t>
            </a:r>
            <a:r>
              <a:rPr lang="en-US" altLang="ko-KR" sz="1300" b="1" dirty="0">
                <a:solidFill>
                  <a:schemeClr val="accent1">
                    <a:lumMod val="50000"/>
                  </a:schemeClr>
                </a:solidFill>
              </a:rPr>
              <a:t>,  SP </a:t>
            </a:r>
            <a:r>
              <a:rPr lang="ko-KR" altLang="en-US" sz="1300" b="1" dirty="0">
                <a:solidFill>
                  <a:schemeClr val="accent1">
                    <a:lumMod val="50000"/>
                  </a:schemeClr>
                </a:solidFill>
              </a:rPr>
              <a:t>등을 등록하고 각 전자결재 사용하는 화면을 등록</a:t>
            </a:r>
            <a:r>
              <a:rPr lang="en-US" altLang="ko-KR" sz="13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ko-KR" altLang="en-US" sz="600" b="1" dirty="0">
              <a:solidFill>
                <a:srgbClr val="FF0000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07504" y="3933056"/>
            <a:ext cx="8856984" cy="28083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900" b="1" dirty="0" err="1">
                <a:solidFill>
                  <a:schemeClr val="accent1">
                    <a:lumMod val="50000"/>
                  </a:schemeClr>
                </a:solidFill>
              </a:rPr>
              <a:t>첫번째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 시트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:  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현재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개 표준문서가 구성되어 있음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28600" indent="-228600">
              <a:buAutoNum type="arabicPeriod"/>
            </a:pP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사용여부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환경설정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-[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]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에서 그룹웨어 사용여부에 체크되어 있고 해당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결재문서별로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사용여부에 체크되어야만 하위에서 등록한 전자결재 사용하는 화면에서 결재상신버튼이 보여짐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28600" indent="-228600">
              <a:buAutoNum type="arabicPeriod"/>
            </a:pP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결재문서번호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: 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각 전자결재 문서를 구분하는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Key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값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전자결재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상태값이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저장되는 테이블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_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TCOMGroupWare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에서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WorkKind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로 저장됨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그룹웨어페이지를 호출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할때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WorkKind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라는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파라미터로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넘겨짐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.(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필수키값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수정하면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안되는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값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.)</a:t>
            </a:r>
          </a:p>
          <a:p>
            <a:pPr marL="228600" indent="-228600">
              <a:buAutoNum type="arabicPeriod"/>
            </a:pP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확정여부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전자결재 처리시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ERP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데이터에 대한 확정기능을 함께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사용할것인지에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대하여 선택하는 항목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.(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업무흐름과 관련된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ERP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전자결재 사용은 일반적으로 전자결재가 완결됨과 동시에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ERP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데이터가 확정되도록 하기 위함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해당 데이터의 확정 전에는 수정 및 다음단계 진행을 통제함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.)</a:t>
            </a:r>
          </a:p>
          <a:p>
            <a:pPr marL="228600" indent="-228600">
              <a:buAutoNum type="arabicPeriod"/>
            </a:pP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확정명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: [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확정관리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]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에서 등록한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확정명을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선택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28600" indent="-228600">
              <a:buAutoNum type="arabicPeriod"/>
            </a:pP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진행여부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해당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컬럼에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체크되면 다음 단계 프로세스로 진행된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ERP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데이터는 전자결재 취소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할수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없게 됨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.(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현재 동부와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삼정은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전자결제 전체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완결후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다시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취소할수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없음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하여 해당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진행여부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’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에 체크가 의미 없음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.)</a:t>
            </a:r>
          </a:p>
          <a:p>
            <a:pPr marL="228600" indent="-228600">
              <a:buFontTx/>
              <a:buAutoNum type="arabicPeriod"/>
            </a:pP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그룹웨어문서에 출력을 위한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DataService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, Method, SP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등록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       -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문서출력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SP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작성시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주의할점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출력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sp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작성시 출력되는 모든 데이터는 원하는 소수점처리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날짜형태처리 등을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sp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에서 처리하여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string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형태로 출력되게 하여야 함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                                                         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sp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에서 작성한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output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그대로 그룹웨어업체에 전달되게 하여 추후 수정작업이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있을때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sp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만 수정되게 하기 위함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.(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숫자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금액에</a:t>
            </a:r>
            <a:endParaRPr lang="en-US" altLang="ko-KR" sz="9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                                                         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대하여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ERP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환경설정값에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의해 화폐처리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소수점처리하는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부분은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_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fnGWAmtCommma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함수를 사용하면 됨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.)</a:t>
            </a:r>
          </a:p>
          <a:p>
            <a:r>
              <a:rPr lang="ko-KR" altLang="en-US" sz="900" b="1" dirty="0" err="1">
                <a:solidFill>
                  <a:schemeClr val="accent1">
                    <a:lumMod val="50000"/>
                  </a:schemeClr>
                </a:solidFill>
              </a:rPr>
              <a:t>두번째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 시트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marL="228600" indent="-228600">
              <a:buAutoNum type="arabicPeriod"/>
            </a:pP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첫번째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시트에서 등록한 해당 결재문서를 사용할 화면 등록</a:t>
            </a:r>
            <a:endParaRPr lang="en-US" altLang="ko-KR" sz="900" dirty="0">
              <a:solidFill>
                <a:schemeClr val="accent1">
                  <a:lumMod val="50000"/>
                </a:schemeClr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Seq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컨트롤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Seq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데이타블럭필드명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해당 화면에서의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키값이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되는 항목 선택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선택한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키값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항목의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DataFieldName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을 입력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pPr marL="228600" indent="-228600">
              <a:buAutoNum type="arabicPeriod"/>
            </a:pP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해당 화면의 확정시 사용하는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키값이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여러 개가 있을 경우 최대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3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개 입력 가능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.(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Serl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SubSerl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에 필요한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키값을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넣으면 됨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.)</a:t>
            </a:r>
          </a:p>
          <a:p>
            <a:pPr marL="228600" indent="-228600">
              <a:buAutoNum type="arabicPeriod"/>
            </a:pP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제목컨트롤명칭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&amp;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제목데이타필드명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TblTitle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파라메터로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제목으로 조합될 데이터를 넘겨줌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 (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전자결재 문서에서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기본 제목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–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TblTitle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’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이런 형태로 만들어지게 됨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.)</a:t>
            </a:r>
          </a:p>
          <a:p>
            <a:pPr marL="228600" indent="-228600">
              <a:buAutoNum type="arabicPeriod"/>
            </a:pP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문서번호컨트롤명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</a:rPr>
              <a:t>ErpNo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파라메터로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문서번호로 사용될 데이터를 넘겨줌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(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동부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dirty="0" err="1">
                <a:solidFill>
                  <a:schemeClr val="accent1">
                    <a:lumMod val="50000"/>
                  </a:schemeClr>
                </a:solidFill>
              </a:rPr>
              <a:t>삼정에는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적용하지 않음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.)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541370"/>
            <a:ext cx="9144000" cy="2391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모서리가 둥근 직사각형 7"/>
          <p:cNvSpPr/>
          <p:nvPr/>
        </p:nvSpPr>
        <p:spPr>
          <a:xfrm>
            <a:off x="6228184" y="2204864"/>
            <a:ext cx="2866644" cy="3600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테이블 </a:t>
            </a:r>
            <a:r>
              <a:rPr lang="en-US" altLang="ko-KR" sz="1200" dirty="0"/>
              <a:t>: _TCOMEnvGroupWare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4766180" y="3182567"/>
            <a:ext cx="3125833" cy="31338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테이블 </a:t>
            </a:r>
            <a:r>
              <a:rPr lang="en-US" altLang="ko-KR" sz="1200" dirty="0"/>
              <a:t>: _TCOMEnvGroupWarePgm</a:t>
            </a:r>
          </a:p>
        </p:txBody>
      </p:sp>
    </p:spTree>
    <p:extLst>
      <p:ext uri="{BB962C8B-B14F-4D97-AF65-F5344CB8AC3E}">
        <p14:creationId xmlns:p14="http://schemas.microsoft.com/office/powerpoint/2010/main" val="429003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280248"/>
          </a:xfrm>
        </p:spPr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 그룹웨어 웹 페이지 호출 </a:t>
            </a:r>
            <a:endParaRPr lang="en-US" altLang="ko-KR" sz="18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환경설정에서 저장한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[ ‘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그룹웨어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Web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서버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IP’ + ‘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그룹웨어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URL’ ] 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와 그룹웨어 업체와 약속한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parameter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값에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의하여 그룹웨어 웹 페이지 호출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>
              <a:buFontTx/>
              <a:buChar char="-"/>
            </a:pPr>
            <a:endParaRPr lang="en-US" altLang="ko-KR" sz="18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 그룹웨어 업체와 약속한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parameter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값  </a:t>
            </a:r>
            <a:endParaRPr lang="en-US" altLang="ko-KR" sz="18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 -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서로 협의한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parameter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값을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_SCASiteLinkSSOQuery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에 구성하여 그룹웨어 웹 페이지로 넘겨줌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>
              <a:buFontTx/>
              <a:buChar char="-"/>
            </a:pPr>
            <a:endParaRPr lang="en-US" altLang="ko-KR" sz="18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 결재상신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결재상태 버튼 클릭 시 연결하는 그룹웨어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URL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이 다른 경우</a:t>
            </a:r>
            <a:endParaRPr lang="en-US" altLang="ko-KR" sz="18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 -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환경설정에서 다르게 지정 할 수 있음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.(2-2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에서 설명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>
              <a:buFontTx/>
              <a:buChar char="-"/>
            </a:pPr>
            <a:endParaRPr lang="en-US" altLang="ko-KR" sz="18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 결재상신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결재상태 버튼 클릭 시 넘겨주는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parameter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값이 다른 경우</a:t>
            </a:r>
            <a:endParaRPr lang="en-US" altLang="ko-KR" sz="18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 -  _SCASiteLinkSSOQuery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에서 다르게 구성하여 줄 수 있음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 - 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해당 </a:t>
            </a:r>
            <a:r>
              <a:rPr lang="en-US" altLang="ko-KR" sz="1800" dirty="0" err="1">
                <a:solidFill>
                  <a:schemeClr val="accent1">
                    <a:lumMod val="50000"/>
                  </a:schemeClr>
                </a:solidFill>
              </a:rPr>
              <a:t>sp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에서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@GWValue4 =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1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이면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‘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결재상태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’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버튼을 클릭한 경우를 의미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ko-KR" altLang="en-US" sz="1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260648"/>
            <a:ext cx="9073008" cy="990600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3.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그룹웨어연결 시 필요한 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URL &amp; parameter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값에 대한 설명</a:t>
            </a:r>
          </a:p>
        </p:txBody>
      </p:sp>
    </p:spTree>
    <p:extLst>
      <p:ext uri="{BB962C8B-B14F-4D97-AF65-F5344CB8AC3E}">
        <p14:creationId xmlns:p14="http://schemas.microsoft.com/office/powerpoint/2010/main" val="2540110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29600" cy="990600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4.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그룹웨어 관련 환경설정에 의하여 버튼 생성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5" y="1462088"/>
            <a:ext cx="9085989" cy="3263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1520" y="4869160"/>
            <a:ext cx="85689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en-US" altLang="ko-KR" sz="1600" dirty="0"/>
              <a:t>‘</a:t>
            </a:r>
            <a:r>
              <a:rPr lang="ko-KR" altLang="en-US" sz="1600" dirty="0"/>
              <a:t>결재상신</a:t>
            </a:r>
            <a:r>
              <a:rPr lang="en-US" altLang="ko-KR" sz="1600" dirty="0"/>
              <a:t>’ </a:t>
            </a:r>
            <a:r>
              <a:rPr lang="ko-KR" altLang="en-US" sz="1600" dirty="0"/>
              <a:t>버튼을 클릭하여 그룹웨어를 연결 및 전자결재 진행</a:t>
            </a:r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en-US" altLang="ko-KR" sz="1600" dirty="0"/>
              <a:t>‘</a:t>
            </a:r>
            <a:r>
              <a:rPr lang="ko-KR" altLang="en-US" sz="1600" dirty="0"/>
              <a:t>결재상태</a:t>
            </a:r>
            <a:r>
              <a:rPr lang="en-US" altLang="ko-KR" sz="1600" dirty="0"/>
              <a:t>’ </a:t>
            </a:r>
            <a:r>
              <a:rPr lang="ko-KR" altLang="en-US" sz="1600" dirty="0"/>
              <a:t>버튼을 클릭 및 그룹웨어에 연결하여 해당 건의 전자결재 진행상태를 확인</a:t>
            </a:r>
            <a:endParaRPr lang="en-US" altLang="ko-KR" sz="16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539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51519" y="260648"/>
            <a:ext cx="8824119" cy="990600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</a:rPr>
              <a:t>‘</a:t>
            </a:r>
            <a:r>
              <a:rPr lang="ko-KR" altLang="en-US" sz="2400" b="1" dirty="0">
                <a:solidFill>
                  <a:schemeClr val="accent1">
                    <a:lumMod val="50000"/>
                  </a:schemeClr>
                </a:solidFill>
              </a:rPr>
              <a:t>결재상신</a:t>
            </a:r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</a:rPr>
              <a:t>’ </a:t>
            </a:r>
            <a:r>
              <a:rPr lang="ko-KR" altLang="en-US" sz="2400" b="1" dirty="0">
                <a:solidFill>
                  <a:schemeClr val="accent1">
                    <a:lumMod val="50000"/>
                  </a:schemeClr>
                </a:solidFill>
              </a:rPr>
              <a:t>버튼을 클릭하여 그룹웨어</a:t>
            </a:r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</a:rPr>
              <a:t>(Office365) </a:t>
            </a:r>
            <a:r>
              <a:rPr lang="ko-KR" altLang="en-US" sz="2400" b="1" dirty="0">
                <a:solidFill>
                  <a:schemeClr val="accent1">
                    <a:lumMod val="50000"/>
                  </a:schemeClr>
                </a:solidFill>
              </a:rPr>
              <a:t>연결한 페이지 모습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1196752"/>
            <a:ext cx="9036496" cy="5069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6086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3956" y="980728"/>
            <a:ext cx="8880044" cy="43204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1. [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출하의뢰입력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] 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데이터 입력 및 저장 </a:t>
            </a:r>
            <a:endParaRPr lang="en-US" altLang="ko-KR" sz="11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해당 화면에서 저장하면 그룹웨어설정에서 확정관리를 하기로  하였으므로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_TCOMConfirm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에 확정관련 데이터가 생성됨</a:t>
            </a: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892480" cy="990600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5.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전자결재 상신에 따른 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Table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변화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251520" y="1724529"/>
            <a:ext cx="8892480" cy="6243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2. ERP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화면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 ‘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결재 상신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’ 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버튼 클릭</a:t>
            </a:r>
            <a:endParaRPr lang="en-US" altLang="ko-KR" sz="11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- _SCOMGroupWareStart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를 이용하여 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_TCOMGroupWare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에 전자결재 관련 액션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전자결재상신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결재완료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결재취소 등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에 따라 호출될 상태변경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SQL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문 생성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74320" lvl="1" indent="0">
              <a:buNone/>
            </a:pP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- WorkKind :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결재문서번호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       TblKey :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환경설정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-[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전자결재문서설정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]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에서 구성한 화면의 키 값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.(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예제에서는 출하의뢰내부코드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: 92)</a:t>
            </a:r>
            <a:endParaRPr lang="en-US" altLang="ko-KR" sz="10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76771"/>
            <a:ext cx="7465319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57478"/>
            <a:ext cx="9036496" cy="31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내용 개체 틀 2"/>
          <p:cNvSpPr txBox="1">
            <a:spLocks/>
          </p:cNvSpPr>
          <p:nvPr/>
        </p:nvSpPr>
        <p:spPr>
          <a:xfrm>
            <a:off x="251520" y="2804649"/>
            <a:ext cx="8892480" cy="11127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3. 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그룹웨어  페이지로  이동 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:  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전자결재 관련 액션에 따라 그룹웨어 업체에서  영림원에서  제공하는 상태변경 웹서비스를  호출하여  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_SCOMGroupWareStatus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  실행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. (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아래 내역은  전자결재 영역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endParaRPr lang="en-US" altLang="ko-KR" sz="7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3-1. 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결재 상신</a:t>
            </a:r>
            <a:endParaRPr lang="en-US" altLang="ko-KR" sz="11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-  _TCOMGroupWare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의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ProgSQL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을 실행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. IsProg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값이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1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로 변경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74320" lvl="1" indent="0">
              <a:buNone/>
            </a:pP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-  _TCOMConfirm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에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CfmCode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값이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로 변경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3917429"/>
            <a:ext cx="9108504" cy="591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내용 개체 틀 2"/>
          <p:cNvSpPr txBox="1">
            <a:spLocks/>
          </p:cNvSpPr>
          <p:nvPr/>
        </p:nvSpPr>
        <p:spPr>
          <a:xfrm>
            <a:off x="251520" y="4509120"/>
            <a:ext cx="8892480" cy="6081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3-2. 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결재 완료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( 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최종결재자 승인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marL="274320" lvl="1" indent="0">
              <a:buNone/>
            </a:pP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-  _TCOMGroupWare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의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ProgSQL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을 실행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. IsProg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값이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1 , IsEnd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값이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로 변경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74320" lvl="1" indent="0">
              <a:buNone/>
            </a:pP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-  _TCOMConfirm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에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CfmCode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값이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로 변경</a:t>
            </a:r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251520" y="5666687"/>
            <a:ext cx="8892480" cy="5706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3-3. 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결재 취소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( 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반려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,  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문서삭제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marL="274320" lvl="1" indent="0">
              <a:buNone/>
            </a:pP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-  _TCOMGroupWare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의 해당 데이터 삭제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74320" lvl="1" indent="0">
              <a:buNone/>
            </a:pP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-  _TCOMConfirm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에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CfmCode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값이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로 변경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244403"/>
            <a:ext cx="9108504" cy="568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5085184"/>
            <a:ext cx="9108504" cy="616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1598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19" y="1196752"/>
            <a:ext cx="8704911" cy="528024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900" dirty="0">
                <a:solidFill>
                  <a:schemeClr val="accent1">
                    <a:lumMod val="50000"/>
                  </a:schemeClr>
                </a:solidFill>
              </a:rPr>
              <a:t>[</a:t>
            </a:r>
            <a:r>
              <a:rPr lang="ko-KR" altLang="en-US" sz="1900" dirty="0">
                <a:solidFill>
                  <a:schemeClr val="accent1">
                    <a:lumMod val="50000"/>
                  </a:schemeClr>
                </a:solidFill>
              </a:rPr>
              <a:t>필요한 작업</a:t>
            </a:r>
            <a:r>
              <a:rPr lang="en-US" altLang="ko-KR" sz="1900" dirty="0">
                <a:solidFill>
                  <a:schemeClr val="accent1">
                    <a:lumMod val="50000"/>
                  </a:schemeClr>
                </a:solidFill>
              </a:rPr>
              <a:t>]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1.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삼정데이터베이스에 제공하여야 항목</a:t>
            </a:r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법인번호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 CompanySeq )</a:t>
            </a:r>
          </a:p>
          <a:p>
            <a:pPr lvl="1"/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고정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SecuKey  (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해당고객 업무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DB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에 저장되어 있는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_TDEVCust : </a:t>
            </a: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Guid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) </a:t>
            </a:r>
          </a:p>
          <a:p>
            <a:pPr lvl="1"/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WCF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 </a:t>
            </a: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EndPoint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주소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HttpExecute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서비스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URL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marL="274320" lvl="1" indent="0">
              <a:buNone/>
            </a:pP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    -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예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: WBS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개발서버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: http://wbs.ksystem.co.kr:8088/AngKor.Ylw.Common.HttpExecute/httpexecute.svc</a:t>
            </a:r>
          </a:p>
          <a:p>
            <a:pPr marL="274320" lvl="1" indent="0">
              <a:buNone/>
            </a:pP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             </a:t>
            </a: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ABCInit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: http://abcinit.cloudapp.net/HttpExecute.svc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2.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영림원 내부설정 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환경설정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- [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]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 설정</a:t>
            </a:r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&gt; 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그룹웨어종류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(9001) :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삼정데이타서비스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(9001502)</a:t>
            </a:r>
          </a:p>
          <a:p>
            <a:pPr lvl="1"/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&gt; 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그룹웨어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Web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서버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IP(9002) : http://o365brg.directcloud.co.kr/</a:t>
            </a:r>
          </a:p>
          <a:p>
            <a:pPr lvl="1"/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&gt; 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그룹웨어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URL(9004) : ylwerp.aspx</a:t>
            </a:r>
          </a:p>
          <a:p>
            <a:pPr lvl="1">
              <a:lnSpc>
                <a:spcPct val="120000"/>
              </a:lnSpc>
            </a:pPr>
            <a:r>
              <a:rPr lang="en-US" altLang="ko-KR" sz="1400" dirty="0">
                <a:solidFill>
                  <a:schemeClr val="tx2">
                    <a:lumMod val="75000"/>
                  </a:schemeClr>
                </a:solidFill>
              </a:rPr>
              <a:t>&lt;</a:t>
            </a:r>
            <a:r>
              <a:rPr lang="ko-KR" altLang="en-US" sz="1400" dirty="0">
                <a:solidFill>
                  <a:schemeClr val="tx2">
                    <a:lumMod val="75000"/>
                  </a:schemeClr>
                </a:solidFill>
              </a:rPr>
              <a:t>그룹웨어</a:t>
            </a:r>
            <a:r>
              <a:rPr lang="en-US" altLang="ko-KR" sz="1400" dirty="0">
                <a:solidFill>
                  <a:schemeClr val="tx2">
                    <a:lumMod val="75000"/>
                  </a:schemeClr>
                </a:solidFill>
              </a:rPr>
              <a:t>&gt;  </a:t>
            </a:r>
            <a:r>
              <a:rPr lang="ko-KR" altLang="en-US" sz="1400" dirty="0">
                <a:solidFill>
                  <a:schemeClr val="tx2">
                    <a:lumMod val="75000"/>
                  </a:schemeClr>
                </a:solidFill>
              </a:rPr>
              <a:t>그룹웨어연결 인증키</a:t>
            </a:r>
            <a:r>
              <a:rPr lang="en-US" altLang="ko-KR" sz="1400" dirty="0">
                <a:solidFill>
                  <a:schemeClr val="tx2">
                    <a:lumMod val="75000"/>
                  </a:schemeClr>
                </a:solidFill>
              </a:rPr>
              <a:t>(9103) : </a:t>
            </a:r>
            <a:r>
              <a:rPr lang="ko-KR" altLang="en-US" sz="1400" dirty="0">
                <a:solidFill>
                  <a:schemeClr val="tx2">
                    <a:lumMod val="75000"/>
                  </a:schemeClr>
                </a:solidFill>
              </a:rPr>
              <a:t>삼정에서 부여하여준 인증키 </a:t>
            </a:r>
            <a:r>
              <a:rPr lang="en-US" altLang="ko-KR" sz="1400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2">
                    <a:lumMod val="75000"/>
                  </a:schemeClr>
                </a:solidFill>
              </a:rPr>
              <a:t>고객마다 다름</a:t>
            </a:r>
            <a:r>
              <a:rPr lang="en-US" altLang="ko-KR" sz="1400" dirty="0">
                <a:solidFill>
                  <a:schemeClr val="tx2">
                    <a:lumMod val="75000"/>
                  </a:schemeClr>
                </a:solidFill>
              </a:rPr>
              <a:t>.(</a:t>
            </a:r>
            <a:r>
              <a:rPr lang="ko-KR" altLang="en-US" sz="1400" dirty="0" err="1">
                <a:solidFill>
                  <a:schemeClr val="tx2">
                    <a:lumMod val="75000"/>
                  </a:schemeClr>
                </a:solidFill>
              </a:rPr>
              <a:t>필수값</a:t>
            </a:r>
            <a:r>
              <a:rPr lang="en-US" altLang="ko-KR" sz="1400" dirty="0">
                <a:solidFill>
                  <a:schemeClr val="tx2">
                    <a:lumMod val="75000"/>
                  </a:schemeClr>
                </a:solidFill>
              </a:rPr>
              <a:t>)) 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altLang="ko-KR" sz="1400" dirty="0">
                <a:solidFill>
                  <a:schemeClr val="tx2">
                    <a:lumMod val="75000"/>
                  </a:schemeClr>
                </a:solidFill>
              </a:rPr>
              <a:t>			                 </a:t>
            </a:r>
            <a:r>
              <a:rPr lang="ko-KR" altLang="en-US" sz="1400" dirty="0">
                <a:solidFill>
                  <a:schemeClr val="tx2">
                    <a:lumMod val="75000"/>
                  </a:schemeClr>
                </a:solidFill>
              </a:rPr>
              <a:t>해당 항목은 특수하여 환경설정 화면에서 </a:t>
            </a:r>
            <a:r>
              <a:rPr lang="ko-KR" altLang="en-US" sz="1400" dirty="0" err="1">
                <a:solidFill>
                  <a:schemeClr val="tx2">
                    <a:lumMod val="75000"/>
                  </a:schemeClr>
                </a:solidFill>
              </a:rPr>
              <a:t>오픈되지</a:t>
            </a:r>
            <a:r>
              <a:rPr lang="ko-KR" altLang="en-US" sz="1400" dirty="0">
                <a:solidFill>
                  <a:schemeClr val="tx2">
                    <a:lumMod val="75000"/>
                  </a:schemeClr>
                </a:solidFill>
              </a:rPr>
              <a:t> 않게 함</a:t>
            </a:r>
            <a:r>
              <a:rPr lang="en-US" altLang="ko-KR" sz="14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74320" lvl="1" indent="0">
              <a:buNone/>
            </a:pPr>
            <a:r>
              <a:rPr lang="en-US" altLang="ko-KR" sz="1400" dirty="0">
                <a:solidFill>
                  <a:schemeClr val="tx2">
                    <a:lumMod val="75000"/>
                  </a:schemeClr>
                </a:solidFill>
              </a:rPr>
              <a:t>                                                                       (DB</a:t>
            </a:r>
            <a:r>
              <a:rPr lang="ko-KR" altLang="en-US" sz="1400" dirty="0">
                <a:solidFill>
                  <a:schemeClr val="tx2">
                    <a:lumMod val="75000"/>
                  </a:schemeClr>
                </a:solidFill>
              </a:rPr>
              <a:t>에서 </a:t>
            </a:r>
            <a:r>
              <a:rPr lang="en-US" altLang="ko-KR" sz="1400" dirty="0">
                <a:solidFill>
                  <a:schemeClr val="tx2">
                    <a:lumMod val="75000"/>
                  </a:schemeClr>
                </a:solidFill>
              </a:rPr>
              <a:t>Table</a:t>
            </a:r>
            <a:r>
              <a:rPr lang="ko-KR" altLang="en-US" sz="1400" dirty="0">
                <a:solidFill>
                  <a:schemeClr val="tx2">
                    <a:lumMod val="75000"/>
                  </a:schemeClr>
                </a:solidFill>
              </a:rPr>
              <a:t>에 직접 </a:t>
            </a:r>
            <a:r>
              <a:rPr lang="en-US" altLang="ko-KR" sz="1400" dirty="0">
                <a:solidFill>
                  <a:schemeClr val="tx2">
                    <a:lumMod val="75000"/>
                  </a:schemeClr>
                </a:solidFill>
              </a:rPr>
              <a:t>Insert</a:t>
            </a:r>
            <a:r>
              <a:rPr lang="ko-KR" altLang="en-US" sz="1400" dirty="0">
                <a:solidFill>
                  <a:schemeClr val="tx2">
                    <a:lumMod val="75000"/>
                  </a:schemeClr>
                </a:solidFill>
              </a:rPr>
              <a:t>해주어야 함</a:t>
            </a:r>
            <a:r>
              <a:rPr lang="en-US" altLang="ko-KR" sz="1400" dirty="0">
                <a:solidFill>
                  <a:schemeClr val="tx2">
                    <a:lumMod val="75000"/>
                  </a:schemeClr>
                </a:solidFill>
              </a:rPr>
              <a:t>.)</a:t>
            </a:r>
          </a:p>
          <a:p>
            <a:pPr marL="0" indent="0">
              <a:buNone/>
            </a:pPr>
            <a:r>
              <a:rPr lang="en-US" altLang="ko-KR" sz="1900" dirty="0">
                <a:solidFill>
                  <a:schemeClr val="accent1">
                    <a:lumMod val="50000"/>
                  </a:schemeClr>
                </a:solidFill>
              </a:rPr>
              <a:t>[</a:t>
            </a:r>
            <a:r>
              <a:rPr lang="ko-KR" altLang="en-US" sz="1900" dirty="0">
                <a:solidFill>
                  <a:schemeClr val="accent1">
                    <a:lumMod val="50000"/>
                  </a:schemeClr>
                </a:solidFill>
              </a:rPr>
              <a:t>특이사항</a:t>
            </a:r>
            <a:r>
              <a:rPr lang="en-US" altLang="ko-KR" sz="1900" dirty="0">
                <a:solidFill>
                  <a:schemeClr val="accent1">
                    <a:lumMod val="50000"/>
                  </a:schemeClr>
                </a:solidFill>
              </a:rPr>
              <a:t>] 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삼정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그룹웨어 연결 인증키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환경설정 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: 9103)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 생성 프로세스 설명</a:t>
            </a:r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     1)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신규 고객 계약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74320" lvl="1" indent="0">
              <a:buNone/>
            </a:pP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2) </a:t>
            </a:r>
            <a:r>
              <a:rPr lang="ko-KR" altLang="en-US" sz="1400" dirty="0" err="1">
                <a:solidFill>
                  <a:schemeClr val="accent1">
                    <a:lumMod val="50000"/>
                  </a:schemeClr>
                </a:solidFill>
              </a:rPr>
              <a:t>영림원에서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1400" dirty="0" err="1">
                <a:solidFill>
                  <a:schemeClr val="accent1">
                    <a:lumMod val="50000"/>
                  </a:schemeClr>
                </a:solidFill>
              </a:rPr>
              <a:t>삼정데이타서비스에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 계약된 고객 정보에 의하여 고정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SecuKey(_TDEVCust : Guid) , CompanySeq,</a:t>
            </a:r>
          </a:p>
          <a:p>
            <a:pPr marL="274320" lvl="1" indent="0">
              <a:buNone/>
            </a:pP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   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WCF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 </a:t>
            </a: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EndPoint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주소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를 제공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74320" lvl="1" indent="0">
              <a:buNone/>
            </a:pP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3)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삼정데이타서비스에서 고정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SecuKey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및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CompanySeq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에 의하여 그룹웨어 연결 </a:t>
            </a:r>
            <a:r>
              <a:rPr lang="ko-KR" altLang="en-US" sz="1400" dirty="0" err="1">
                <a:solidFill>
                  <a:schemeClr val="accent1">
                    <a:lumMod val="50000"/>
                  </a:schemeClr>
                </a:solidFill>
              </a:rPr>
              <a:t>할때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사용 되는 인증키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(DCGWAuthKey)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를 생성하여 </a:t>
            </a:r>
            <a:r>
              <a:rPr lang="ko-KR" altLang="en-US" sz="1400" dirty="0" err="1">
                <a:solidFill>
                  <a:schemeClr val="accent1">
                    <a:lumMod val="50000"/>
                  </a:schemeClr>
                </a:solidFill>
              </a:rPr>
              <a:t>영림원에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 전달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74320" lvl="1" indent="0">
              <a:buNone/>
            </a:pP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4)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부여된 인증키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(DCGWAuthKey)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를 환경설정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(9103)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에 저장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. (DB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에서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2000" dirty="0" err="1">
                <a:solidFill>
                  <a:schemeClr val="accent1">
                    <a:lumMod val="50000"/>
                  </a:schemeClr>
                </a:solidFill>
              </a:rPr>
              <a:t>삼정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</a:rPr>
              <a:t>그룹웨어 연결기 넘기는 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</a:rPr>
              <a:t>parameter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</a:rPr>
              <a:t>은 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</a:rPr>
              <a:t>_</a:t>
            </a:r>
            <a:r>
              <a:rPr lang="en-US" altLang="ko-KR" sz="2000" dirty="0" err="1">
                <a:solidFill>
                  <a:schemeClr val="accent1">
                    <a:lumMod val="50000"/>
                  </a:schemeClr>
                </a:solidFill>
              </a:rPr>
              <a:t>SWCASiteLinkSSOQuery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</a:rPr>
              <a:t>에서 따로 구성되어 있음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892480" cy="990600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6.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삼정데이터서비스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(Office 365)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그룹웨어 사용시 설정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ko-KR" alt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597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579296" cy="990600"/>
          </a:xfrm>
        </p:spPr>
        <p:txBody>
          <a:bodyPr>
            <a:normAutofit/>
          </a:bodyPr>
          <a:lstStyle/>
          <a:p>
            <a:r>
              <a:rPr lang="ko-KR" altLang="en-US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삼정데이터서비스</a:t>
            </a:r>
            <a:r>
              <a:rPr lang="en-US" altLang="ko-KR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(Office 365) </a:t>
            </a:r>
            <a:r>
              <a:rPr lang="ko-KR" altLang="en-US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그룹웨어 사용 프로세스</a:t>
            </a:r>
            <a:r>
              <a:rPr lang="en-US" altLang="ko-KR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2500" b="1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3779912" y="1609564"/>
            <a:ext cx="1296144" cy="50405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신규고객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539552" y="2113620"/>
            <a:ext cx="2016224" cy="50405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영림원소프트랩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6228184" y="2113620"/>
            <a:ext cx="2160240" cy="50405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삼정데이터서비스</a:t>
            </a:r>
          </a:p>
        </p:txBody>
      </p:sp>
      <p:cxnSp>
        <p:nvCxnSpPr>
          <p:cNvPr id="8" name="직선 화살표 연결선 7"/>
          <p:cNvCxnSpPr>
            <a:stCxn id="4" idx="1"/>
            <a:endCxn id="5" idx="3"/>
          </p:cNvCxnSpPr>
          <p:nvPr/>
        </p:nvCxnSpPr>
        <p:spPr>
          <a:xfrm flipH="1">
            <a:off x="2555776" y="1861592"/>
            <a:ext cx="1224136" cy="504056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5076056" y="1844824"/>
            <a:ext cx="1152128" cy="504056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10"/>
          <p:cNvSpPr/>
          <p:nvPr/>
        </p:nvSpPr>
        <p:spPr>
          <a:xfrm>
            <a:off x="2437447" y="1691190"/>
            <a:ext cx="936104" cy="3072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계약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5436096" y="1707958"/>
            <a:ext cx="936104" cy="3072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계약</a:t>
            </a:r>
          </a:p>
        </p:txBody>
      </p:sp>
      <p:cxnSp>
        <p:nvCxnSpPr>
          <p:cNvPr id="14" name="직선 연결선 13"/>
          <p:cNvCxnSpPr>
            <a:stCxn id="5" idx="2"/>
          </p:cNvCxnSpPr>
          <p:nvPr/>
        </p:nvCxnSpPr>
        <p:spPr>
          <a:xfrm>
            <a:off x="1547664" y="2617676"/>
            <a:ext cx="0" cy="3763652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H="1">
            <a:off x="7380311" y="2617676"/>
            <a:ext cx="1" cy="3763652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29"/>
          <p:cNvSpPr/>
          <p:nvPr/>
        </p:nvSpPr>
        <p:spPr>
          <a:xfrm>
            <a:off x="649221" y="4086690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내부설정</a:t>
            </a:r>
          </a:p>
        </p:txBody>
      </p:sp>
      <p:sp>
        <p:nvSpPr>
          <p:cNvPr id="34" name="모서리가 둥근 직사각형 33"/>
          <p:cNvSpPr/>
          <p:nvPr/>
        </p:nvSpPr>
        <p:spPr>
          <a:xfrm>
            <a:off x="6516216" y="3398066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내부설정</a:t>
            </a:r>
          </a:p>
        </p:txBody>
      </p:sp>
      <p:cxnSp>
        <p:nvCxnSpPr>
          <p:cNvPr id="37" name="직선 연결선 36"/>
          <p:cNvCxnSpPr/>
          <p:nvPr/>
        </p:nvCxnSpPr>
        <p:spPr>
          <a:xfrm>
            <a:off x="4427984" y="2113620"/>
            <a:ext cx="0" cy="4267708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/>
          <p:cNvSpPr/>
          <p:nvPr/>
        </p:nvSpPr>
        <p:spPr>
          <a:xfrm>
            <a:off x="2051720" y="2996952"/>
            <a:ext cx="4304643" cy="57606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법인번호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(CompanySeq)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WCF 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서비스  </a:t>
            </a:r>
            <a:r>
              <a:rPr lang="en-US" altLang="ko-KR" sz="1100" b="1" dirty="0" err="1">
                <a:solidFill>
                  <a:schemeClr val="accent1">
                    <a:lumMod val="50000"/>
                  </a:schemeClr>
                </a:solidFill>
              </a:rPr>
              <a:t>EndPoint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 주소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altLang="ko-KR" sz="1100" b="1" dirty="0" err="1">
                <a:solidFill>
                  <a:schemeClr val="accent1">
                    <a:lumMod val="50000"/>
                  </a:schemeClr>
                </a:solidFill>
              </a:rPr>
              <a:t>HttpExecute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서비스 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URL)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accent1">
                    <a:lumMod val="50000"/>
                  </a:schemeClr>
                </a:solidFill>
              </a:rPr>
              <a:t>고정</a:t>
            </a:r>
            <a:r>
              <a:rPr lang="en-US" altLang="ko-KR" sz="1100" b="1" dirty="0" err="1">
                <a:solidFill>
                  <a:schemeClr val="accent1">
                    <a:lumMod val="50000"/>
                  </a:schemeClr>
                </a:solidFill>
              </a:rPr>
              <a:t>SecuKey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altLang="ko-KR" sz="1100" b="1" dirty="0" err="1">
                <a:solidFill>
                  <a:schemeClr val="accent1">
                    <a:lumMod val="50000"/>
                  </a:schemeClr>
                </a:solidFill>
              </a:rPr>
              <a:t>Guid</a:t>
            </a:r>
            <a:r>
              <a:rPr lang="en-US" altLang="ko-KR" sz="11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ko-KR" altLang="en-US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3121523" y="3933056"/>
            <a:ext cx="2818629" cy="3600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</a:rPr>
              <a:t>그룹웨어연결 인증키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altLang="ko-KR" sz="1200" b="1" dirty="0" err="1">
                <a:solidFill>
                  <a:schemeClr val="accent1">
                    <a:lumMod val="50000"/>
                  </a:schemeClr>
                </a:solidFill>
              </a:rPr>
              <a:t>DCGWAuthKey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1547664" y="3645024"/>
            <a:ext cx="4968552" cy="507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 flipH="1">
            <a:off x="2339752" y="4338718"/>
            <a:ext cx="5021729" cy="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endCxn id="46" idx="1"/>
          </p:cNvCxnSpPr>
          <p:nvPr/>
        </p:nvCxnSpPr>
        <p:spPr>
          <a:xfrm>
            <a:off x="5076056" y="5306278"/>
            <a:ext cx="1458990" cy="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44"/>
          <p:cNvSpPr/>
          <p:nvPr/>
        </p:nvSpPr>
        <p:spPr>
          <a:xfrm>
            <a:off x="649220" y="5054250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사용자등록</a:t>
            </a:r>
          </a:p>
        </p:txBody>
      </p:sp>
      <p:sp>
        <p:nvSpPr>
          <p:cNvPr id="46" name="모서리가 둥근 직사각형 45"/>
          <p:cNvSpPr/>
          <p:nvPr/>
        </p:nvSpPr>
        <p:spPr>
          <a:xfrm>
            <a:off x="6535046" y="5054250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사용자등록</a:t>
            </a:r>
          </a:p>
        </p:txBody>
      </p:sp>
      <p:cxnSp>
        <p:nvCxnSpPr>
          <p:cNvPr id="49" name="직선 화살표 연결선 48"/>
          <p:cNvCxnSpPr>
            <a:endCxn id="45" idx="3"/>
          </p:cNvCxnSpPr>
          <p:nvPr/>
        </p:nvCxnSpPr>
        <p:spPr>
          <a:xfrm flipH="1">
            <a:off x="2339751" y="5306278"/>
            <a:ext cx="1440161" cy="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모서리가 둥근 직사각형 61"/>
          <p:cNvSpPr/>
          <p:nvPr/>
        </p:nvSpPr>
        <p:spPr>
          <a:xfrm>
            <a:off x="2581462" y="4818468"/>
            <a:ext cx="1054434" cy="4107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/>
              <a:t>Email</a:t>
            </a:r>
            <a:r>
              <a:rPr lang="ko-KR" altLang="en-US" sz="1050" b="1" dirty="0"/>
              <a:t> 계정에 의하여 등록</a:t>
            </a:r>
          </a:p>
        </p:txBody>
      </p:sp>
      <p:sp>
        <p:nvSpPr>
          <p:cNvPr id="63" name="모서리가 둥근 직사각형 62"/>
          <p:cNvSpPr/>
          <p:nvPr/>
        </p:nvSpPr>
        <p:spPr>
          <a:xfrm>
            <a:off x="5213897" y="4818468"/>
            <a:ext cx="1054434" cy="4107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/>
              <a:t>Email</a:t>
            </a:r>
            <a:r>
              <a:rPr lang="ko-KR" altLang="en-US" sz="1050" b="1" dirty="0"/>
              <a:t> 계정에 의하여 등록</a:t>
            </a:r>
          </a:p>
        </p:txBody>
      </p:sp>
      <p:sp>
        <p:nvSpPr>
          <p:cNvPr id="64" name="타원 63"/>
          <p:cNvSpPr/>
          <p:nvPr/>
        </p:nvSpPr>
        <p:spPr>
          <a:xfrm>
            <a:off x="3779912" y="5090254"/>
            <a:ext cx="1296144" cy="43204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accent1">
                    <a:lumMod val="50000"/>
                  </a:schemeClr>
                </a:solidFill>
              </a:rPr>
              <a:t>관리자</a:t>
            </a:r>
          </a:p>
        </p:txBody>
      </p:sp>
    </p:spTree>
    <p:extLst>
      <p:ext uri="{BB962C8B-B14F-4D97-AF65-F5344CB8AC3E}">
        <p14:creationId xmlns:p14="http://schemas.microsoft.com/office/powerpoint/2010/main" val="1541757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6-1.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삼정데이터서비스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(Office 365) -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결재문서양식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( 5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개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b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   [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주문서 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] –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항목 구성 및 양식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1" y="1916833"/>
            <a:ext cx="8316415" cy="3553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68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6-2.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삼정데이터서비스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(Office 365) -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결재문서양식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( 5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개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b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   [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출하요청서 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] –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항목 구성 및 양식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1" y="2064597"/>
            <a:ext cx="8388423" cy="323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8755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6-3.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삼정데이터서비스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(Office 365) -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결재문서양식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( 5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개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b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   [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구매품의서 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] –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항목 구성 및 양식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48" y="2250214"/>
            <a:ext cx="8244408" cy="2945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8755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6-4.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삼정데이터서비스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(Office 365) -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결재문서양식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( 5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개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b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   [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기타출고요청서 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] –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항목 구성 및 양식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22" y="2564904"/>
            <a:ext cx="8332942" cy="2035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8755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6-5.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삼정데이터서비스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(Office 365) -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결재문서양식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( 5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개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b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   [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회계전표 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] –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항목 구성 및 양식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008953"/>
            <a:ext cx="8100392" cy="336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8755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19" y="1196752"/>
            <a:ext cx="8704911" cy="528024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[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필요한 작업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]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1.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동부에 제공하여야 항목</a:t>
            </a:r>
          </a:p>
          <a:p>
            <a:pPr lvl="1"/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SecuKey (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해당고객 업무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DB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에 저장되어 있는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_TDEVCust : </a:t>
            </a: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Guid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)</a:t>
            </a:r>
          </a:p>
          <a:p>
            <a:pPr lvl="1"/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TargetURL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ko-KR" altLang="en-US" sz="1400" dirty="0" err="1">
                <a:solidFill>
                  <a:schemeClr val="accent1">
                    <a:lumMod val="50000"/>
                  </a:schemeClr>
                </a:solidFill>
              </a:rPr>
              <a:t>영림원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ERP HttpExecute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서비스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URL)</a:t>
            </a:r>
          </a:p>
          <a:p>
            <a:pPr marL="274320" lvl="1" indent="0">
              <a:buNone/>
            </a:pP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   -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예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: WBS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개발서버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:http://wbs.ksystem.co.kr:8088/AngKor.Ylw.Common.HttpExecute/httpexecute.svc</a:t>
            </a:r>
          </a:p>
          <a:p>
            <a:pPr marL="274320" lvl="1" indent="0">
              <a:buNone/>
            </a:pP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             </a:t>
            </a: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ABCInit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: http://abcinit.cloudapp.net/HttpExecute.svc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2.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영림원 내부설정 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환경설정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- [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]</a:t>
            </a: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</a:rPr>
              <a:t> 설정</a:t>
            </a:r>
            <a:endParaRPr lang="en-US" altLang="ko-KR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&gt; 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그룹웨어종류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(9001) :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동부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(9001501)</a:t>
            </a:r>
          </a:p>
          <a:p>
            <a:pPr lvl="1"/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&gt; 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그룹웨어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Web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서버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IP(9002) : https://sun-sign-dev-two.appspot.com/jsp/extlink/saas/</a:t>
            </a:r>
          </a:p>
          <a:p>
            <a:pPr lvl="1"/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그룹웨어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&gt; 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그룹웨어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URL(9004) : </a:t>
            </a: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erpLinkStart.jsp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[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</a:rPr>
              <a:t>특이사항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</a:rPr>
              <a:t>]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</a:rPr>
              <a:t>동부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</a:rPr>
              <a:t>그룹웨어 연결 시 넘기는 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</a:rPr>
              <a:t>parameter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</a:rPr>
              <a:t>은 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</a:rPr>
              <a:t>_SWCASiteLinkSSOQuery</a:t>
            </a:r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</a:rPr>
              <a:t>에서의 기본값으로 사용</a:t>
            </a:r>
            <a:r>
              <a:rPr lang="en-US" altLang="ko-KR" sz="2000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ko-KR" alt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892480" cy="990600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7.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동부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(Google Apps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기반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그룹웨어 사용시 설정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ko-KR" alt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125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3779912" y="1609564"/>
            <a:ext cx="1296144" cy="50405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신규고객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539552" y="2113620"/>
            <a:ext cx="2016224" cy="50405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영림원소프트랩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6228184" y="2113620"/>
            <a:ext cx="2160240" cy="50405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동부</a:t>
            </a:r>
          </a:p>
        </p:txBody>
      </p:sp>
      <p:cxnSp>
        <p:nvCxnSpPr>
          <p:cNvPr id="8" name="직선 화살표 연결선 7"/>
          <p:cNvCxnSpPr>
            <a:stCxn id="4" idx="1"/>
            <a:endCxn id="5" idx="3"/>
          </p:cNvCxnSpPr>
          <p:nvPr/>
        </p:nvCxnSpPr>
        <p:spPr>
          <a:xfrm flipH="1">
            <a:off x="2555776" y="1861592"/>
            <a:ext cx="1224136" cy="504056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5076056" y="1844824"/>
            <a:ext cx="1152128" cy="504056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10"/>
          <p:cNvSpPr/>
          <p:nvPr/>
        </p:nvSpPr>
        <p:spPr>
          <a:xfrm>
            <a:off x="2437447" y="1691190"/>
            <a:ext cx="936104" cy="3072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계약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5436096" y="1707958"/>
            <a:ext cx="936104" cy="3072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계약</a:t>
            </a:r>
          </a:p>
        </p:txBody>
      </p:sp>
      <p:cxnSp>
        <p:nvCxnSpPr>
          <p:cNvPr id="14" name="직선 연결선 13"/>
          <p:cNvCxnSpPr>
            <a:stCxn id="5" idx="2"/>
          </p:cNvCxnSpPr>
          <p:nvPr/>
        </p:nvCxnSpPr>
        <p:spPr>
          <a:xfrm>
            <a:off x="1547664" y="2617676"/>
            <a:ext cx="0" cy="3763652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H="1">
            <a:off x="7380311" y="2617676"/>
            <a:ext cx="1" cy="3763652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29"/>
          <p:cNvSpPr/>
          <p:nvPr/>
        </p:nvSpPr>
        <p:spPr>
          <a:xfrm>
            <a:off x="649221" y="4086690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내부설정</a:t>
            </a:r>
          </a:p>
        </p:txBody>
      </p:sp>
      <p:sp>
        <p:nvSpPr>
          <p:cNvPr id="34" name="모서리가 둥근 직사각형 33"/>
          <p:cNvSpPr/>
          <p:nvPr/>
        </p:nvSpPr>
        <p:spPr>
          <a:xfrm>
            <a:off x="6516216" y="3398066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내부설정</a:t>
            </a:r>
          </a:p>
        </p:txBody>
      </p:sp>
      <p:cxnSp>
        <p:nvCxnSpPr>
          <p:cNvPr id="37" name="직선 연결선 36"/>
          <p:cNvCxnSpPr/>
          <p:nvPr/>
        </p:nvCxnSpPr>
        <p:spPr>
          <a:xfrm>
            <a:off x="4427984" y="2113620"/>
            <a:ext cx="0" cy="4267708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/>
          <p:cNvSpPr/>
          <p:nvPr/>
        </p:nvSpPr>
        <p:spPr>
          <a:xfrm>
            <a:off x="2195736" y="3140968"/>
            <a:ext cx="3609815" cy="43204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dirty="0" err="1">
                <a:solidFill>
                  <a:schemeClr val="accent1">
                    <a:lumMod val="50000"/>
                  </a:schemeClr>
                </a:solidFill>
              </a:rPr>
              <a:t>TargetURL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altLang="ko-KR" sz="1200" b="1" dirty="0" err="1">
                <a:solidFill>
                  <a:schemeClr val="accent1">
                    <a:lumMod val="50000"/>
                  </a:schemeClr>
                </a:solidFill>
              </a:rPr>
              <a:t>HttpExecute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</a:rPr>
              <a:t>서비스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URL)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accent1">
                    <a:lumMod val="50000"/>
                  </a:schemeClr>
                </a:solidFill>
              </a:rPr>
              <a:t>SecuKey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altLang="ko-KR" sz="1200" b="1" dirty="0" err="1">
                <a:solidFill>
                  <a:schemeClr val="accent1">
                    <a:lumMod val="50000"/>
                  </a:schemeClr>
                </a:solidFill>
              </a:rPr>
              <a:t>Guid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ko-KR" alt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1547664" y="3645024"/>
            <a:ext cx="4968552" cy="507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endCxn id="46" idx="1"/>
          </p:cNvCxnSpPr>
          <p:nvPr/>
        </p:nvCxnSpPr>
        <p:spPr>
          <a:xfrm>
            <a:off x="5076056" y="5306278"/>
            <a:ext cx="1458990" cy="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44"/>
          <p:cNvSpPr/>
          <p:nvPr/>
        </p:nvSpPr>
        <p:spPr>
          <a:xfrm>
            <a:off x="649220" y="5054250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사용자등록</a:t>
            </a:r>
          </a:p>
        </p:txBody>
      </p:sp>
      <p:sp>
        <p:nvSpPr>
          <p:cNvPr id="46" name="모서리가 둥근 직사각형 45"/>
          <p:cNvSpPr/>
          <p:nvPr/>
        </p:nvSpPr>
        <p:spPr>
          <a:xfrm>
            <a:off x="6535046" y="5054250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사용자등록</a:t>
            </a:r>
          </a:p>
        </p:txBody>
      </p:sp>
      <p:cxnSp>
        <p:nvCxnSpPr>
          <p:cNvPr id="49" name="직선 화살표 연결선 48"/>
          <p:cNvCxnSpPr>
            <a:endCxn id="45" idx="3"/>
          </p:cNvCxnSpPr>
          <p:nvPr/>
        </p:nvCxnSpPr>
        <p:spPr>
          <a:xfrm flipH="1">
            <a:off x="2339751" y="5306278"/>
            <a:ext cx="1440161" cy="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모서리가 둥근 직사각형 61"/>
          <p:cNvSpPr/>
          <p:nvPr/>
        </p:nvSpPr>
        <p:spPr>
          <a:xfrm>
            <a:off x="2581462" y="4818468"/>
            <a:ext cx="1054434" cy="4107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/>
              <a:t>Email</a:t>
            </a:r>
            <a:r>
              <a:rPr lang="ko-KR" altLang="en-US" sz="1050" b="1" dirty="0"/>
              <a:t> 계정에 의하여 등록</a:t>
            </a:r>
          </a:p>
        </p:txBody>
      </p:sp>
      <p:sp>
        <p:nvSpPr>
          <p:cNvPr id="63" name="모서리가 둥근 직사각형 62"/>
          <p:cNvSpPr/>
          <p:nvPr/>
        </p:nvSpPr>
        <p:spPr>
          <a:xfrm>
            <a:off x="5213897" y="4818468"/>
            <a:ext cx="1054434" cy="4107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/>
              <a:t>Email</a:t>
            </a:r>
            <a:r>
              <a:rPr lang="ko-KR" altLang="en-US" sz="1050" b="1" dirty="0"/>
              <a:t> 계정에 의하여 등록</a:t>
            </a:r>
          </a:p>
        </p:txBody>
      </p:sp>
      <p:sp>
        <p:nvSpPr>
          <p:cNvPr id="64" name="타원 63"/>
          <p:cNvSpPr/>
          <p:nvPr/>
        </p:nvSpPr>
        <p:spPr>
          <a:xfrm>
            <a:off x="3779912" y="5090254"/>
            <a:ext cx="1296144" cy="43204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accent1">
                    <a:lumMod val="50000"/>
                  </a:schemeClr>
                </a:solidFill>
              </a:rPr>
              <a:t>관리자</a:t>
            </a:r>
          </a:p>
        </p:txBody>
      </p:sp>
      <p:sp>
        <p:nvSpPr>
          <p:cNvPr id="28" name="제목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579296" cy="990600"/>
          </a:xfrm>
        </p:spPr>
        <p:txBody>
          <a:bodyPr>
            <a:normAutofit/>
          </a:bodyPr>
          <a:lstStyle/>
          <a:p>
            <a:r>
              <a:rPr lang="ko-KR" altLang="en-US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동부</a:t>
            </a:r>
            <a:r>
              <a:rPr lang="en-US" altLang="ko-KR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(Google Apps </a:t>
            </a:r>
            <a:r>
              <a:rPr lang="ko-KR" altLang="en-US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</a:t>
            </a:r>
            <a:r>
              <a:rPr lang="en-US" altLang="ko-KR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그룹웨어 사용시 프로세스</a:t>
            </a:r>
            <a:r>
              <a:rPr lang="en-US" altLang="ko-KR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2500" b="1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9456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7-1.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동부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(Google Apps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기반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 -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결재문서양식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( 5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개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b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   [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주문서 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] –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항목 구성 및 양식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16832"/>
            <a:ext cx="7428501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8593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72008" y="422176"/>
            <a:ext cx="8892480" cy="990600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7-2.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동부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(Google Apps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기반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 -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결재문서양식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( 5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개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b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   [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출하요청서 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] –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항목 구성 및 양식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88840"/>
            <a:ext cx="7488832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965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76672"/>
            <a:ext cx="8892480" cy="990600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7-3.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동부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(Google Apps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기반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 -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결재문서양식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( 5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개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b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   [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구매품의서 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] –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항목 구성 및 양식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132856"/>
            <a:ext cx="7542595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965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7-4.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동부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(Google Apps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기반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 -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결재문서양식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( 5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개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b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   [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기타출고요청서 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] –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항목 구성 및 양식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348880"/>
            <a:ext cx="7643386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965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7-5.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동부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(Google Apps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기반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 -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결재문서양식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( 5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개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b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   [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회계전표 </a:t>
            </a:r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  <a:t>] – 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</a:rPr>
              <a:t>항목 구성 및 양식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16832"/>
            <a:ext cx="7477947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965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547664" y="2492896"/>
            <a:ext cx="6203032" cy="12527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o-KR" altLang="en-US" sz="36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r>
              <a:rPr lang="en-US" altLang="ko-KR" sz="36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3600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89009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투명도">
  <a:themeElements>
    <a:clrScheme name="투명도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클래식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투명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3751</TotalTime>
  <Words>2160</Words>
  <Application>Microsoft Office PowerPoint</Application>
  <PresentationFormat>화면 슬라이드 쇼(4:3)</PresentationFormat>
  <Paragraphs>228</Paragraphs>
  <Slides>25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굴림</vt:lpstr>
      <vt:lpstr>맑은 고딕</vt:lpstr>
      <vt:lpstr>Arial</vt:lpstr>
      <vt:lpstr>Wingdings</vt:lpstr>
      <vt:lpstr>투명도</vt:lpstr>
      <vt:lpstr>SystemEver 전자결재 사용법</vt:lpstr>
      <vt:lpstr>1. ERP와 그룹웨어 상호 연관관계</vt:lpstr>
      <vt:lpstr>그룹웨어 관련 Table &amp; SP </vt:lpstr>
      <vt:lpstr>2. 그룹웨어 사용하기 위한 ERP설정     2 - 1)  [확정관리]  - 확정관련 정의 및 확정 사용하는 프로그램 등록하는 화면</vt:lpstr>
      <vt:lpstr>2. 그룹웨어 사용하기 위한 ERP설정     2 - 2)  환경설정-  [그룹웨어]  - 연결할 그룹웨어 선택 및 설정</vt:lpstr>
      <vt:lpstr>2. 그룹웨어 사용하기 위한 ERP설정     2 - 3)  환경설정-  [전자결재문서설정]                  - 전자결재문서별로 사용하는 확정,   문서데이터 조회를 위한 DataService,  SP 등을 등록하고 각 전자결재 사용하는 화면을 등록.</vt:lpstr>
      <vt:lpstr>3. 그룹웨어연결 시 필요한 URL &amp; parameter값에 대한 설명</vt:lpstr>
      <vt:lpstr>4. 그룹웨어 관련 환경설정에 의하여 버튼 생성</vt:lpstr>
      <vt:lpstr>‘결재상신’ 버튼을 클릭하여 그룹웨어(Office365) 연결한 페이지 모습</vt:lpstr>
      <vt:lpstr>5. 전자결재 상신에 따른 Table 변화</vt:lpstr>
      <vt:lpstr>6. 삼정데이터서비스(Office 365) 그룹웨어 사용시 설정.</vt:lpstr>
      <vt:lpstr>삼정데이터서비스(Office 365) 그룹웨어 사용 프로세스 </vt:lpstr>
      <vt:lpstr>6-1. 삼정데이터서비스(Office 365) - 결재문서양식( 5개)    [ 주문서 ] – 항목 구성 및 양식</vt:lpstr>
      <vt:lpstr>6-2. 삼정데이터서비스(Office 365) - 결재문서양식( 5개)    [ 출하요청서 ] – 항목 구성 및 양식</vt:lpstr>
      <vt:lpstr>6-3. 삼정데이터서비스(Office 365) - 결재문서양식( 5개)    [ 구매품의서 ] – 항목 구성 및 양식</vt:lpstr>
      <vt:lpstr>6-4. 삼정데이터서비스(Office 365) - 결재문서양식( 5개)    [ 기타출고요청서 ] – 항목 구성 및 양식</vt:lpstr>
      <vt:lpstr>6-5. 삼정데이터서비스(Office 365) - 결재문서양식( 5개)    [ 회계전표 ] – 항목 구성 및 양식</vt:lpstr>
      <vt:lpstr>7. 동부(Google Apps 기반) 그룹웨어 사용시 설정.</vt:lpstr>
      <vt:lpstr>동부(Google Apps 기반) 그룹웨어 사용시 프로세스 </vt:lpstr>
      <vt:lpstr>7-1. 동부(Google Apps 기반) - 결재문서양식( 5개)    [ 주문서 ] – 항목 구성 및 양식</vt:lpstr>
      <vt:lpstr>7-2. 동부(Google Apps 기반) - 결재문서양식( 5개)    [ 출하요청서 ] – 항목 구성 및 양식</vt:lpstr>
      <vt:lpstr>7-3. 동부(Google Apps 기반) - 결재문서양식( 5개)    [ 구매품의서 ] – 항목 구성 및 양식</vt:lpstr>
      <vt:lpstr>7-4. 동부(Google Apps 기반) - 결재문서양식( 5개)    [ 기타출고요청서 ] – 항목 구성 및 양식</vt:lpstr>
      <vt:lpstr>7-5. 동부(Google Apps 기반) - 결재문서양식( 5개)    [ 회계전표 ] – 항목 구성 및 양식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SystemEver전자결재 사용법</dc:title>
  <dc:creator>Microsoft Corporation</dc:creator>
  <cp:lastModifiedBy>김 명남</cp:lastModifiedBy>
  <cp:revision>198</cp:revision>
  <dcterms:created xsi:type="dcterms:W3CDTF">2006-10-05T04:04:58Z</dcterms:created>
  <dcterms:modified xsi:type="dcterms:W3CDTF">2025-10-27T23:53:10Z</dcterms:modified>
</cp:coreProperties>
</file>