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052" r:id="rId2"/>
    <p:sldId id="2053" r:id="rId3"/>
    <p:sldId id="2058" r:id="rId4"/>
    <p:sldId id="2059" r:id="rId5"/>
    <p:sldId id="2057" r:id="rId6"/>
    <p:sldId id="2060" r:id="rId7"/>
  </p:sldIdLst>
  <p:sldSz cx="9906000" cy="6858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1" userDrawn="1">
          <p15:clr>
            <a:srgbClr val="A4A3A4"/>
          </p15:clr>
        </p15:guide>
        <p15:guide id="3" orient="horz" pos="3974" userDrawn="1">
          <p15:clr>
            <a:srgbClr val="A4A3A4"/>
          </p15:clr>
        </p15:guide>
        <p15:guide id="4" pos="3301" userDrawn="1">
          <p15:clr>
            <a:srgbClr val="A4A3A4"/>
          </p15:clr>
        </p15:guide>
        <p15:guide id="5" pos="149" userDrawn="1">
          <p15:clr>
            <a:srgbClr val="A4A3A4"/>
          </p15:clr>
        </p15:guide>
        <p15:guide id="6" pos="6037" userDrawn="1">
          <p15:clr>
            <a:srgbClr val="A4A3A4"/>
          </p15:clr>
        </p15:guide>
        <p15:guide id="7" orient="horz" pos="1026" userDrawn="1">
          <p15:clr>
            <a:srgbClr val="A4A3A4"/>
          </p15:clr>
        </p15:guide>
        <p15:guide id="8" orient="horz" pos="231" userDrawn="1">
          <p15:clr>
            <a:srgbClr val="A4A3A4"/>
          </p15:clr>
        </p15:guide>
        <p15:guide id="9" pos="285" userDrawn="1">
          <p15:clr>
            <a:srgbClr val="A4A3A4"/>
          </p15:clr>
        </p15:guide>
        <p15:guide id="10" pos="2009" userDrawn="1">
          <p15:clr>
            <a:srgbClr val="A4A3A4"/>
          </p15:clr>
        </p15:guide>
        <p15:guide id="11" pos="81" userDrawn="1">
          <p15:clr>
            <a:srgbClr val="A4A3A4"/>
          </p15:clr>
        </p15:guide>
        <p15:guide id="12" pos="61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철희" initials="김" lastIdx="1" clrIdx="0">
    <p:extLst>
      <p:ext uri="{19B8F6BF-5375-455C-9EA6-DF929625EA0E}">
        <p15:presenceInfo xmlns:p15="http://schemas.microsoft.com/office/powerpoint/2012/main" userId="S-1-5-21-1272353657-2170783559-3657338873-2531" providerId="AD"/>
      </p:ext>
    </p:extLst>
  </p:cmAuthor>
  <p:cmAuthor id="2" name="박태진" initials="박" lastIdx="1" clrIdx="1">
    <p:extLst>
      <p:ext uri="{19B8F6BF-5375-455C-9EA6-DF929625EA0E}">
        <p15:presenceInfo xmlns:p15="http://schemas.microsoft.com/office/powerpoint/2012/main" userId="S-1-5-21-1272353657-2170783559-3657338873-3884" providerId="AD"/>
      </p:ext>
    </p:extLst>
  </p:cmAuthor>
  <p:cmAuthor id="3" name="전재형" initials="전" lastIdx="3" clrIdx="2">
    <p:extLst>
      <p:ext uri="{19B8F6BF-5375-455C-9EA6-DF929625EA0E}">
        <p15:presenceInfo xmlns:p15="http://schemas.microsoft.com/office/powerpoint/2012/main" userId="S-1-5-21-1272353657-2170783559-3657338873-258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3333FF"/>
    <a:srgbClr val="A50021"/>
    <a:srgbClr val="000000"/>
    <a:srgbClr val="00FFFF"/>
    <a:srgbClr val="135069"/>
    <a:srgbClr val="1C6380"/>
    <a:srgbClr val="F1823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6370" autoAdjust="0"/>
  </p:normalViewPr>
  <p:slideViewPr>
    <p:cSldViewPr snapToGrid="0">
      <p:cViewPr varScale="1">
        <p:scale>
          <a:sx n="120" d="100"/>
          <a:sy n="120" d="100"/>
        </p:scale>
        <p:origin x="306" y="120"/>
      </p:cViewPr>
      <p:guideLst>
        <p:guide orient="horz" pos="731"/>
        <p:guide orient="horz" pos="3974"/>
        <p:guide pos="3301"/>
        <p:guide pos="149"/>
        <p:guide pos="6037"/>
        <p:guide orient="horz" pos="1026"/>
        <p:guide orient="horz" pos="231"/>
        <p:guide pos="285"/>
        <p:guide pos="2009"/>
        <p:guide pos="81"/>
        <p:guide pos="618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399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2BBAA3C-2D6C-4891-A81E-C9F0AA6C99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2327" cy="497994"/>
          </a:xfrm>
          <a:prstGeom prst="rect">
            <a:avLst/>
          </a:prstGeom>
        </p:spPr>
        <p:txBody>
          <a:bodyPr vert="horz" lIns="90873" tIns="45437" rIns="90873" bIns="4543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CA0C3D7-09BB-4DFB-84FC-FD2F33C932A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095" y="2"/>
            <a:ext cx="2972327" cy="497994"/>
          </a:xfrm>
          <a:prstGeom prst="rect">
            <a:avLst/>
          </a:prstGeom>
        </p:spPr>
        <p:txBody>
          <a:bodyPr vert="horz" lIns="90873" tIns="45437" rIns="90873" bIns="45437" rtlCol="0"/>
          <a:lstStyle>
            <a:lvl1pPr algn="r">
              <a:defRPr sz="1200"/>
            </a:lvl1pPr>
          </a:lstStyle>
          <a:p>
            <a:fld id="{57706932-8A0A-48D1-8AA9-68D69D2CD4DD}" type="datetimeFigureOut">
              <a:rPr lang="ko-KR" altLang="en-US" smtClean="0"/>
              <a:t>2025-08-26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CE0600-2206-4D2C-AD48-F05E76A69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9447695"/>
            <a:ext cx="2972327" cy="497994"/>
          </a:xfrm>
          <a:prstGeom prst="rect">
            <a:avLst/>
          </a:prstGeom>
        </p:spPr>
        <p:txBody>
          <a:bodyPr vert="horz" lIns="90873" tIns="45437" rIns="90873" bIns="4543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AFF1E2-1316-4A63-83FA-ADC3BBB1A4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095" y="9447695"/>
            <a:ext cx="2972327" cy="497994"/>
          </a:xfrm>
          <a:prstGeom prst="rect">
            <a:avLst/>
          </a:prstGeom>
        </p:spPr>
        <p:txBody>
          <a:bodyPr vert="horz" lIns="90873" tIns="45437" rIns="90873" bIns="45437" rtlCol="0" anchor="b"/>
          <a:lstStyle>
            <a:lvl1pPr algn="r">
              <a:defRPr sz="1200"/>
            </a:lvl1pPr>
          </a:lstStyle>
          <a:p>
            <a:fld id="{3CA00DA5-E06C-4911-8CEF-8FCF6DDDF2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5080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4"/>
            <a:ext cx="2971801" cy="499011"/>
          </a:xfrm>
          <a:prstGeom prst="rect">
            <a:avLst/>
          </a:prstGeom>
        </p:spPr>
        <p:txBody>
          <a:bodyPr vert="horz" lIns="92545" tIns="46272" rIns="92545" bIns="46272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6" y="4"/>
            <a:ext cx="2971801" cy="499011"/>
          </a:xfrm>
          <a:prstGeom prst="rect">
            <a:avLst/>
          </a:prstGeom>
        </p:spPr>
        <p:txBody>
          <a:bodyPr vert="horz" lIns="92545" tIns="46272" rIns="92545" bIns="46272" rtlCol="0"/>
          <a:lstStyle>
            <a:lvl1pPr algn="r">
              <a:defRPr sz="1200"/>
            </a:lvl1pPr>
          </a:lstStyle>
          <a:p>
            <a:fld id="{EAA3DFD2-EB51-4BC9-A0B5-9C421AE268FD}" type="datetimeFigureOut">
              <a:rPr lang="ko-KR" altLang="en-US" smtClean="0"/>
              <a:t>2025-08-26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06475" y="1243013"/>
            <a:ext cx="4845050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5" tIns="46272" rIns="92545" bIns="46272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1" y="4786364"/>
            <a:ext cx="5486400" cy="3916115"/>
          </a:xfrm>
          <a:prstGeom prst="rect">
            <a:avLst/>
          </a:prstGeom>
        </p:spPr>
        <p:txBody>
          <a:bodyPr vert="horz" lIns="92545" tIns="46272" rIns="92545" bIns="46272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446680"/>
            <a:ext cx="2971801" cy="499010"/>
          </a:xfrm>
          <a:prstGeom prst="rect">
            <a:avLst/>
          </a:prstGeom>
        </p:spPr>
        <p:txBody>
          <a:bodyPr vert="horz" lIns="92545" tIns="46272" rIns="92545" bIns="46272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6" y="9446680"/>
            <a:ext cx="2971801" cy="499010"/>
          </a:xfrm>
          <a:prstGeom prst="rect">
            <a:avLst/>
          </a:prstGeom>
        </p:spPr>
        <p:txBody>
          <a:bodyPr vert="horz" lIns="92545" tIns="46272" rIns="92545" bIns="46272" rtlCol="0" anchor="b"/>
          <a:lstStyle>
            <a:lvl1pPr algn="r">
              <a:defRPr sz="1200"/>
            </a:lvl1pPr>
          </a:lstStyle>
          <a:p>
            <a:fld id="{29B4ACB1-458C-4F31-8E4D-F01D9C1C52EB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244242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8337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F555BC1-8458-4299-A203-55FD14503A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C83D9D-6C8F-49E0-898E-AE089CDC3623}"/>
              </a:ext>
            </a:extLst>
          </p:cNvPr>
          <p:cNvSpPr/>
          <p:nvPr userDrawn="1"/>
        </p:nvSpPr>
        <p:spPr>
          <a:xfrm>
            <a:off x="914400" y="2896643"/>
            <a:ext cx="2560320" cy="6433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A0B81D-0C09-49E4-A6E5-CEA865DC6D57}"/>
              </a:ext>
            </a:extLst>
          </p:cNvPr>
          <p:cNvSpPr/>
          <p:nvPr userDrawn="1"/>
        </p:nvSpPr>
        <p:spPr>
          <a:xfrm>
            <a:off x="0" y="640080"/>
            <a:ext cx="9906000" cy="34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0672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95494"/>
            <a:ext cx="8996363" cy="562168"/>
          </a:xfrm>
        </p:spPr>
        <p:txBody>
          <a:bodyPr/>
          <a:lstStyle>
            <a:lvl1pPr>
              <a:lnSpc>
                <a:spcPct val="100000"/>
              </a:lnSpc>
              <a:defRPr b="1">
                <a:latin typeface="+mn-ea"/>
                <a:ea typeface="+mn-ea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35192" y="6443808"/>
            <a:ext cx="570807" cy="365125"/>
          </a:xfrm>
          <a:prstGeom prst="rect">
            <a:avLst/>
          </a:prstGeom>
        </p:spPr>
        <p:txBody>
          <a:bodyPr anchor="b"/>
          <a:lstStyle>
            <a:lvl1pPr algn="r">
              <a:defRPr sz="1050" b="0">
                <a:latin typeface="+mn-ea"/>
                <a:ea typeface="+mn-ea"/>
              </a:defRPr>
            </a:lvl1pPr>
          </a:lstStyle>
          <a:p>
            <a:fld id="{27622896-C2C2-4CE2-99DC-2B9375ACDD4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5143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7" y="164888"/>
            <a:ext cx="8543925" cy="5621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149536"/>
            <a:ext cx="8543925" cy="5027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256042D-53B7-4D53-9ADF-5F9F44D59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43504" y="6443808"/>
            <a:ext cx="562495" cy="365125"/>
          </a:xfrm>
          <a:prstGeom prst="rect">
            <a:avLst/>
          </a:prstGeom>
        </p:spPr>
        <p:txBody>
          <a:bodyPr anchor="b"/>
          <a:lstStyle>
            <a:lvl1pPr algn="r">
              <a:defRPr sz="1050" b="0">
                <a:latin typeface="+mn-ea"/>
                <a:ea typeface="+mn-ea"/>
              </a:defRPr>
            </a:lvl1pPr>
          </a:lstStyle>
          <a:p>
            <a:fld id="{27622896-C2C2-4CE2-99DC-2B9375ACDD4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9A8797C-BCF5-4DA9-9FD1-67BD5EDB40A2}"/>
              </a:ext>
            </a:extLst>
          </p:cNvPr>
          <p:cNvSpPr/>
          <p:nvPr userDrawn="1"/>
        </p:nvSpPr>
        <p:spPr>
          <a:xfrm>
            <a:off x="0" y="0"/>
            <a:ext cx="9906000" cy="73369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BDA2C9A-60EA-4BBB-9A66-28A86B09419E}"/>
              </a:ext>
            </a:extLst>
          </p:cNvPr>
          <p:cNvCxnSpPr/>
          <p:nvPr userDrawn="1"/>
        </p:nvCxnSpPr>
        <p:spPr>
          <a:xfrm>
            <a:off x="0" y="733698"/>
            <a:ext cx="9906000" cy="0"/>
          </a:xfrm>
          <a:prstGeom prst="line">
            <a:avLst/>
          </a:prstGeom>
          <a:ln w="38100"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A10FF066-BEBB-4FBE-8E26-0B1D4A8857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8" b="19103"/>
          <a:stretch/>
        </p:blipFill>
        <p:spPr>
          <a:xfrm>
            <a:off x="7119151" y="124621"/>
            <a:ext cx="2476492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4">
            <a:extLst>
              <a:ext uri="{FF2B5EF4-FFF2-40B4-BE49-F238E27FC236}">
                <a16:creationId xmlns:a16="http://schemas.microsoft.com/office/drawing/2014/main" id="{4067385A-84FD-4CB5-94F7-DAF08027F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768" y="127832"/>
            <a:ext cx="4724400" cy="562168"/>
          </a:xfrm>
        </p:spPr>
        <p:txBody>
          <a:bodyPr>
            <a:normAutofit/>
          </a:bodyPr>
          <a:lstStyle/>
          <a:p>
            <a:r>
              <a:rPr lang="en-US" altLang="ko-KR" sz="1800">
                <a:solidFill>
                  <a:schemeClr val="accent5">
                    <a:lumMod val="50000"/>
                  </a:schemeClr>
                </a:solidFill>
                <a:ea typeface="Pretendard ExtraBold"/>
              </a:rPr>
              <a:t>01</a:t>
            </a:r>
            <a:r>
              <a:rPr lang="en-US" altLang="ko-KR" sz="1800">
                <a:solidFill>
                  <a:srgbClr val="333333"/>
                </a:solidFill>
                <a:ea typeface="Pretendard ExtraBold"/>
              </a:rPr>
              <a:t> </a:t>
            </a:r>
            <a:r>
              <a:rPr lang="ko-KR" altLang="en-US" sz="1800">
                <a:solidFill>
                  <a:srgbClr val="333333"/>
                </a:solidFill>
                <a:ea typeface="Pretendard ExtraBold"/>
              </a:rPr>
              <a:t>수주통제</a:t>
            </a:r>
            <a:r>
              <a:rPr lang="en-US" altLang="ko-KR" sz="1800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altLang="en-US" sz="1800">
                <a:solidFill>
                  <a:srgbClr val="333333"/>
                </a:solidFill>
                <a:ea typeface="Pretendard ExtraBold"/>
              </a:rPr>
              <a:t>시스템</a:t>
            </a:r>
            <a:r>
              <a:rPr lang="en-US" altLang="ko-KR" sz="1800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altLang="en-US" sz="1800">
                <a:solidFill>
                  <a:srgbClr val="333333"/>
                </a:solidFill>
                <a:ea typeface="Pretendard ExtraBold"/>
              </a:rPr>
              <a:t>구축</a:t>
            </a:r>
            <a:r>
              <a:rPr lang="en-US" altLang="ko-KR" sz="1800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altLang="en-US" sz="1800">
                <a:solidFill>
                  <a:srgbClr val="333333"/>
                </a:solidFill>
                <a:ea typeface="Pretendard ExtraBold"/>
              </a:rPr>
              <a:t>필요성</a:t>
            </a:r>
            <a:endParaRPr lang="ko-KR" altLang="en-US" sz="180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00D547A-1BEE-4F10-AC2F-6FC778F8C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768" y="1000205"/>
            <a:ext cx="8444959" cy="1239799"/>
          </a:xfrm>
          <a:prstGeom prst="rect">
            <a:avLst/>
          </a:prstGeom>
          <a:effectLst>
            <a:outerShdw blurRad="37444" dir="2700000">
              <a:srgbClr val="333333">
                <a:alpha val="15000"/>
              </a:srgbClr>
            </a:outerShdw>
          </a:effectLst>
        </p:spPr>
      </p:pic>
      <p:sp>
        <p:nvSpPr>
          <p:cNvPr id="5" name="TextBox 11">
            <a:extLst>
              <a:ext uri="{FF2B5EF4-FFF2-40B4-BE49-F238E27FC236}">
                <a16:creationId xmlns:a16="http://schemas.microsoft.com/office/drawing/2014/main" id="{AA1125DE-5A90-46B5-8F5E-08EF6A08D938}"/>
              </a:ext>
            </a:extLst>
          </p:cNvPr>
          <p:cNvSpPr txBox="1"/>
          <p:nvPr/>
        </p:nvSpPr>
        <p:spPr>
          <a:xfrm>
            <a:off x="381654" y="1004642"/>
            <a:ext cx="9373556" cy="123979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As-is  : </a:t>
            </a:r>
            <a:r>
              <a:rPr lang="ja-JP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/>
              </a:rPr>
              <a:t>現</a:t>
            </a:r>
            <a:r>
              <a:rPr 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ERP</a:t>
            </a:r>
            <a:r>
              <a:rPr lang="ko-KR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시스템을</a:t>
            </a:r>
            <a:r>
              <a:rPr 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통한</a:t>
            </a:r>
            <a:r>
              <a:rPr 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수주통제</a:t>
            </a:r>
            <a:r>
              <a:rPr 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시스템</a:t>
            </a:r>
            <a:r>
              <a:rPr lang="en-US" altLang="ko-KR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부재</a:t>
            </a:r>
            <a:r>
              <a:rPr lang="en-US" altLang="ko-KR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.</a:t>
            </a:r>
            <a:endParaRPr lang="en-US" sz="1600" b="1">
              <a:solidFill>
                <a:srgbClr val="333333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l">
              <a:lnSpc>
                <a:spcPct val="132800"/>
              </a:lnSpc>
            </a:pPr>
            <a:r>
              <a:rPr 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To-be : </a:t>
            </a:r>
            <a:r>
              <a:rPr lang="ko-KR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여신 일자</a:t>
            </a:r>
            <a:r>
              <a:rPr 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기준</a:t>
            </a:r>
            <a:r>
              <a:rPr 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시스템</a:t>
            </a:r>
            <a:r>
              <a:rPr 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구축을</a:t>
            </a:r>
            <a:r>
              <a:rPr 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통한</a:t>
            </a:r>
            <a:r>
              <a:rPr 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매출채권</a:t>
            </a:r>
            <a:r>
              <a:rPr 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관리 강화</a:t>
            </a:r>
            <a:r>
              <a:rPr lang="en-US" altLang="ko-KR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.</a:t>
            </a:r>
          </a:p>
          <a:p>
            <a:pPr lvl="0" algn="l">
              <a:lnSpc>
                <a:spcPct val="132800"/>
              </a:lnSpc>
            </a:pPr>
            <a:r>
              <a:rPr lang="en-US" altLang="ko-KR" sz="1600" b="1">
                <a:solidFill>
                  <a:srgbClr val="333333"/>
                </a:solidFill>
                <a:latin typeface="Pretendard Bold" panose="020B0600000101010101" charset="-127"/>
                <a:ea typeface="Pretendard Bold" panose="020B0600000101010101" charset="-127"/>
              </a:rPr>
              <a:t>       </a:t>
            </a:r>
            <a:r>
              <a:rPr lang="en-US" altLang="ko-KR" sz="16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⇒ </a:t>
            </a:r>
            <a:r>
              <a:rPr lang="ko-KR" altLang="en-US" sz="16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채권 未회수 </a:t>
            </a:r>
            <a:r>
              <a:rPr lang="en-US" altLang="ko-KR" sz="16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RISK </a:t>
            </a:r>
            <a:r>
              <a:rPr lang="ko-KR" altLang="en-US" sz="16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감소↓</a:t>
            </a:r>
            <a:r>
              <a:rPr lang="en-US" altLang="ko-KR" sz="16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6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채권 관리 고도화</a:t>
            </a:r>
            <a:r>
              <a:rPr lang="en-US" altLang="ko-KR" sz="16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  <a:endParaRPr lang="ko-KR" altLang="en-US" sz="1600" b="1">
              <a:solidFill>
                <a:srgbClr val="333333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47E2E1FA-F419-43DC-BA56-A7F4213AD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0897" y="3311357"/>
            <a:ext cx="611398" cy="512785"/>
          </a:xfrm>
          <a:prstGeom prst="rect">
            <a:avLst/>
          </a:prstGeom>
          <a:noFill/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BD116C0A-B880-4098-81B8-F68502B8F6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3467" y="3418768"/>
            <a:ext cx="306239" cy="306239"/>
          </a:xfrm>
          <a:prstGeom prst="rect">
            <a:avLst/>
          </a:prstGeom>
        </p:spPr>
      </p:pic>
      <p:pic>
        <p:nvPicPr>
          <p:cNvPr id="12" name="Picture 9">
            <a:extLst>
              <a:ext uri="{FF2B5EF4-FFF2-40B4-BE49-F238E27FC236}">
                <a16:creationId xmlns:a16="http://schemas.microsoft.com/office/drawing/2014/main" id="{07104385-5BFE-48DF-9077-BBF90AEFC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373" y="4128229"/>
            <a:ext cx="607282" cy="403548"/>
          </a:xfrm>
          <a:prstGeom prst="rect">
            <a:avLst/>
          </a:prstGeom>
          <a:noFill/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944661F7-BC63-4C39-8673-E37592E1D2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090" y="4613561"/>
            <a:ext cx="7319895" cy="1239797"/>
          </a:xfrm>
          <a:prstGeom prst="rect">
            <a:avLst/>
          </a:prstGeom>
        </p:spPr>
      </p:pic>
      <p:sp>
        <p:nvSpPr>
          <p:cNvPr id="14" name="TextBox 12">
            <a:extLst>
              <a:ext uri="{FF2B5EF4-FFF2-40B4-BE49-F238E27FC236}">
                <a16:creationId xmlns:a16="http://schemas.microsoft.com/office/drawing/2014/main" id="{88FCF390-90BF-467B-B9FE-6CCB559EAF97}"/>
              </a:ext>
            </a:extLst>
          </p:cNvPr>
          <p:cNvSpPr txBox="1"/>
          <p:nvPr/>
        </p:nvSpPr>
        <p:spPr>
          <a:xfrm>
            <a:off x="622470" y="5119089"/>
            <a:ext cx="7319895" cy="63576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1600" b="1">
                <a:solidFill>
                  <a:srgbClr val="000000"/>
                </a:solidFill>
                <a:ea typeface="Pretendard Light"/>
              </a:rPr>
              <a:t>여신일자</a:t>
            </a:r>
            <a:r>
              <a:rPr lang="en-US" sz="1600" b="1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altLang="en-US" sz="1600" b="1">
                <a:solidFill>
                  <a:srgbClr val="000000"/>
                </a:solidFill>
                <a:ea typeface="Pretendard Light"/>
              </a:rPr>
              <a:t>기준</a:t>
            </a:r>
            <a:r>
              <a:rPr lang="en-US" sz="1600" b="1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altLang="en-US" sz="1600" b="1">
                <a:solidFill>
                  <a:srgbClr val="000000"/>
                </a:solidFill>
                <a:ea typeface="Pretendard Light"/>
              </a:rPr>
              <a:t>초과</a:t>
            </a:r>
            <a:r>
              <a:rPr lang="en-US" sz="1600" b="1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altLang="en-US" sz="1600" b="1">
                <a:solidFill>
                  <a:srgbClr val="000000"/>
                </a:solidFill>
                <a:ea typeface="Pretendard Light"/>
              </a:rPr>
              <a:t>채권에</a:t>
            </a:r>
            <a:r>
              <a:rPr lang="en-US" sz="1600" b="1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altLang="en-US" sz="1600" b="1">
                <a:solidFill>
                  <a:srgbClr val="000000"/>
                </a:solidFill>
                <a:ea typeface="Pretendard Light"/>
              </a:rPr>
              <a:t>대한</a:t>
            </a:r>
            <a:r>
              <a:rPr lang="en-US" sz="1600" b="1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altLang="en-US" sz="1600" b="1">
                <a:solidFill>
                  <a:srgbClr val="000000"/>
                </a:solidFill>
                <a:ea typeface="Pretendard Light"/>
              </a:rPr>
              <a:t>통제</a:t>
            </a:r>
            <a:r>
              <a:rPr lang="en-US" sz="1600" b="1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altLang="en-US" sz="1600" b="1">
                <a:solidFill>
                  <a:srgbClr val="000000"/>
                </a:solidFill>
                <a:ea typeface="Pretendard Light"/>
              </a:rPr>
              <a:t>프로그램</a:t>
            </a:r>
            <a:r>
              <a:rPr lang="en-US" sz="1600" b="1">
                <a:solidFill>
                  <a:srgbClr val="000000"/>
                </a:solidFill>
                <a:latin typeface="Pretendard Light"/>
              </a:rPr>
              <a:t> </a:t>
            </a:r>
            <a:r>
              <a:rPr lang="ko-KR" altLang="en-US" sz="1600" b="1">
                <a:solidFill>
                  <a:srgbClr val="000000"/>
                </a:solidFill>
                <a:ea typeface="Pretendard Light"/>
              </a:rPr>
              <a:t>구축</a:t>
            </a:r>
            <a:r>
              <a:rPr lang="en-US" altLang="ko-KR" sz="1600" b="1">
                <a:solidFill>
                  <a:srgbClr val="000000"/>
                </a:solidFill>
                <a:ea typeface="Pretendard Light"/>
              </a:rPr>
              <a:t> (‘25.xx</a:t>
            </a:r>
            <a:r>
              <a:rPr lang="ko-KR" altLang="en-US" sz="1600" b="1">
                <a:solidFill>
                  <a:srgbClr val="000000"/>
                </a:solidFill>
                <a:ea typeface="Pretendard Light"/>
              </a:rPr>
              <a:t>월</a:t>
            </a:r>
            <a:r>
              <a:rPr lang="en-US" altLang="ko-KR" sz="1600" b="1">
                <a:solidFill>
                  <a:srgbClr val="000000"/>
                </a:solidFill>
                <a:ea typeface="Pretendard Light"/>
              </a:rPr>
              <a:t>, </a:t>
            </a:r>
            <a:r>
              <a:rPr lang="ko-KR" altLang="en-US" sz="1600" b="1">
                <a:solidFill>
                  <a:srgbClr val="000000"/>
                </a:solidFill>
                <a:ea typeface="Pretendard Light"/>
              </a:rPr>
              <a:t>기간 확인중 </a:t>
            </a:r>
            <a:r>
              <a:rPr lang="en-US" altLang="ko-KR" sz="1600" b="1">
                <a:solidFill>
                  <a:srgbClr val="000000"/>
                </a:solidFill>
                <a:ea typeface="Pretendard Light"/>
              </a:rPr>
              <a:t>)</a:t>
            </a:r>
            <a:endParaRPr lang="ko-KR" altLang="en-US" sz="1600" b="1">
              <a:solidFill>
                <a:srgbClr val="000000"/>
              </a:solidFill>
              <a:ea typeface="Pretendard Light"/>
            </a:endParaRP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F429548E-55CA-464D-B467-E03FAB48356F}"/>
              </a:ext>
            </a:extLst>
          </p:cNvPr>
          <p:cNvSpPr txBox="1"/>
          <p:nvPr/>
        </p:nvSpPr>
        <p:spPr>
          <a:xfrm>
            <a:off x="622470" y="4733482"/>
            <a:ext cx="2581906" cy="32560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ko-KR" altLang="en-US" sz="1600" b="1">
                <a:solidFill>
                  <a:srgbClr val="000000"/>
                </a:solidFill>
                <a:ea typeface="Pretendard SemiBold"/>
              </a:rPr>
              <a:t>수주통제</a:t>
            </a:r>
            <a:r>
              <a:rPr lang="en-US" sz="1600" b="1">
                <a:solidFill>
                  <a:srgbClr val="000000"/>
                </a:solidFill>
                <a:latin typeface="Pretendard SemiBold"/>
              </a:rPr>
              <a:t> </a:t>
            </a:r>
            <a:r>
              <a:rPr lang="ko-KR" altLang="en-US" sz="1600" b="1">
                <a:solidFill>
                  <a:srgbClr val="000000"/>
                </a:solidFill>
                <a:ea typeface="Pretendard SemiBold"/>
              </a:rPr>
              <a:t>시스템 구축 계획</a:t>
            </a:r>
          </a:p>
        </p:txBody>
      </p:sp>
      <p:pic>
        <p:nvPicPr>
          <p:cNvPr id="16" name="Picture 20">
            <a:extLst>
              <a:ext uri="{FF2B5EF4-FFF2-40B4-BE49-F238E27FC236}">
                <a16:creationId xmlns:a16="http://schemas.microsoft.com/office/drawing/2014/main" id="{3FBE8DE3-1E54-4D3B-9388-DD115330B7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3768" y="3143315"/>
            <a:ext cx="1435335" cy="900000"/>
          </a:xfrm>
          <a:prstGeom prst="rect">
            <a:avLst/>
          </a:prstGeom>
          <a:effectLst>
            <a:outerShdw blurRad="15813" dist="116316" dir="2700000">
              <a:srgbClr val="000000">
                <a:alpha val="50000"/>
              </a:srgbClr>
            </a:outerShdw>
          </a:effectLst>
        </p:spPr>
      </p:pic>
      <p:sp>
        <p:nvSpPr>
          <p:cNvPr id="17" name="TextBox 21">
            <a:extLst>
              <a:ext uri="{FF2B5EF4-FFF2-40B4-BE49-F238E27FC236}">
                <a16:creationId xmlns:a16="http://schemas.microsoft.com/office/drawing/2014/main" id="{2B8E5DE7-EB28-4FD6-8A3C-C16F31436450}"/>
              </a:ext>
            </a:extLst>
          </p:cNvPr>
          <p:cNvSpPr txBox="1"/>
          <p:nvPr/>
        </p:nvSpPr>
        <p:spPr>
          <a:xfrm>
            <a:off x="318132" y="3188847"/>
            <a:ext cx="1291012" cy="788116"/>
          </a:xfrm>
          <a:prstGeom prst="rect">
            <a:avLst/>
          </a:prstGeom>
          <a:effectLst>
            <a:outerShdw dist="8401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수주</a:t>
            </a:r>
            <a:r>
              <a:rPr 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 </a:t>
            </a: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입력</a:t>
            </a:r>
            <a:endParaRPr lang="en-US" altLang="ko-KR" sz="11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(</a:t>
            </a: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영업 부서</a:t>
            </a: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)</a:t>
            </a:r>
            <a:r>
              <a:rPr 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 </a:t>
            </a:r>
          </a:p>
        </p:txBody>
      </p:sp>
      <p:pic>
        <p:nvPicPr>
          <p:cNvPr id="18" name="Picture 23">
            <a:extLst>
              <a:ext uri="{FF2B5EF4-FFF2-40B4-BE49-F238E27FC236}">
                <a16:creationId xmlns:a16="http://schemas.microsoft.com/office/drawing/2014/main" id="{EB28CEC7-D982-4BB8-BA33-E6A8A8B7BC7E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2246373" y="3132199"/>
            <a:ext cx="1436400" cy="900000"/>
          </a:xfrm>
          <a:prstGeom prst="rect">
            <a:avLst/>
          </a:prstGeom>
          <a:effectLst>
            <a:outerShdw blurRad="15813" dist="116316" dir="2700000">
              <a:srgbClr val="000000">
                <a:alpha val="50000"/>
              </a:srgbClr>
            </a:outerShdw>
          </a:effectLst>
        </p:spPr>
      </p:pic>
      <p:sp>
        <p:nvSpPr>
          <p:cNvPr id="19" name="TextBox 24">
            <a:extLst>
              <a:ext uri="{FF2B5EF4-FFF2-40B4-BE49-F238E27FC236}">
                <a16:creationId xmlns:a16="http://schemas.microsoft.com/office/drawing/2014/main" id="{971C583E-1B9A-4C6C-9FD9-AC0457F3F58F}"/>
              </a:ext>
            </a:extLst>
          </p:cNvPr>
          <p:cNvSpPr txBox="1"/>
          <p:nvPr/>
        </p:nvSpPr>
        <p:spPr>
          <a:xfrm>
            <a:off x="2389684" y="3158533"/>
            <a:ext cx="1155700" cy="818431"/>
          </a:xfrm>
          <a:prstGeom prst="rect">
            <a:avLst/>
          </a:prstGeom>
          <a:effectLst>
            <a:outerShdw dist="8401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출하 의뢰</a:t>
            </a:r>
            <a:endParaRPr lang="en-US" altLang="ko-KR" sz="11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(</a:t>
            </a: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영업 부서</a:t>
            </a: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)</a:t>
            </a:r>
            <a:endParaRPr lang="ko-KR" altLang="en-US" sz="11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</p:txBody>
      </p:sp>
      <p:pic>
        <p:nvPicPr>
          <p:cNvPr id="20" name="Picture 26">
            <a:extLst>
              <a:ext uri="{FF2B5EF4-FFF2-40B4-BE49-F238E27FC236}">
                <a16:creationId xmlns:a16="http://schemas.microsoft.com/office/drawing/2014/main" id="{3D1FF53B-6097-4B94-8AEB-C07A7FD3724D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148274" y="3143315"/>
            <a:ext cx="1436400" cy="900000"/>
          </a:xfrm>
          <a:prstGeom prst="rect">
            <a:avLst/>
          </a:prstGeom>
          <a:effectLst>
            <a:outerShdw blurRad="15813" dist="116316" dir="2700000">
              <a:srgbClr val="000000">
                <a:alpha val="50000"/>
              </a:srgbClr>
            </a:outerShdw>
          </a:effectLst>
        </p:spPr>
      </p:pic>
      <p:sp>
        <p:nvSpPr>
          <p:cNvPr id="21" name="TextBox 27">
            <a:extLst>
              <a:ext uri="{FF2B5EF4-FFF2-40B4-BE49-F238E27FC236}">
                <a16:creationId xmlns:a16="http://schemas.microsoft.com/office/drawing/2014/main" id="{159FE2A9-7A53-4588-BB37-B35F1A509C51}"/>
              </a:ext>
            </a:extLst>
          </p:cNvPr>
          <p:cNvSpPr txBox="1"/>
          <p:nvPr/>
        </p:nvSpPr>
        <p:spPr>
          <a:xfrm>
            <a:off x="4394697" y="3201144"/>
            <a:ext cx="943553" cy="775819"/>
          </a:xfrm>
          <a:prstGeom prst="rect">
            <a:avLst/>
          </a:prstGeom>
          <a:effectLst>
            <a:outerShdw dist="8401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제품</a:t>
            </a:r>
            <a:r>
              <a:rPr 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 </a:t>
            </a: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출고</a:t>
            </a:r>
            <a:endParaRPr lang="en-US" altLang="ko-KR" sz="11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(</a:t>
            </a: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제조운영팀</a:t>
            </a: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)</a:t>
            </a:r>
            <a:endParaRPr lang="ko-KR" altLang="en-US" sz="11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</p:txBody>
      </p:sp>
      <p:pic>
        <p:nvPicPr>
          <p:cNvPr id="22" name="Picture 29">
            <a:extLst>
              <a:ext uri="{FF2B5EF4-FFF2-40B4-BE49-F238E27FC236}">
                <a16:creationId xmlns:a16="http://schemas.microsoft.com/office/drawing/2014/main" id="{9CFB6540-F84F-4793-9F11-F3415CFD008F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004555" y="3143315"/>
            <a:ext cx="1684733" cy="900000"/>
          </a:xfrm>
          <a:prstGeom prst="rect">
            <a:avLst/>
          </a:prstGeom>
          <a:effectLst>
            <a:outerShdw blurRad="15813" dist="116316" dir="2700000">
              <a:srgbClr val="000000">
                <a:alpha val="50000"/>
              </a:srgbClr>
            </a:outerShdw>
          </a:effectLst>
        </p:spPr>
      </p:pic>
      <p:sp>
        <p:nvSpPr>
          <p:cNvPr id="23" name="TextBox 30">
            <a:extLst>
              <a:ext uri="{FF2B5EF4-FFF2-40B4-BE49-F238E27FC236}">
                <a16:creationId xmlns:a16="http://schemas.microsoft.com/office/drawing/2014/main" id="{6C2413D2-8D57-4A16-A9D7-D60BE4542FD6}"/>
              </a:ext>
            </a:extLst>
          </p:cNvPr>
          <p:cNvSpPr txBox="1"/>
          <p:nvPr/>
        </p:nvSpPr>
        <p:spPr>
          <a:xfrm>
            <a:off x="6048398" y="3349644"/>
            <a:ext cx="1597045" cy="603975"/>
          </a:xfrm>
          <a:prstGeom prst="rect">
            <a:avLst/>
          </a:prstGeom>
          <a:effectLst>
            <a:outerShdw dist="8401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제품 인도 및 거래명세서</a:t>
            </a:r>
            <a:endParaRPr lang="en-US" altLang="ko-KR" sz="11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(</a:t>
            </a: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수출 </a:t>
            </a: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: </a:t>
            </a: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선적 및 통관</a:t>
            </a: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)</a:t>
            </a:r>
          </a:p>
          <a:p>
            <a:pPr lvl="0" algn="ctr">
              <a:lnSpc>
                <a:spcPct val="99600"/>
              </a:lnSpc>
            </a:pP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(</a:t>
            </a: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영업 및 사업지원팀</a:t>
            </a: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)</a:t>
            </a:r>
          </a:p>
          <a:p>
            <a:pPr lvl="0" algn="ctr">
              <a:lnSpc>
                <a:spcPct val="99600"/>
              </a:lnSpc>
            </a:pPr>
            <a:endParaRPr lang="ko-KR" altLang="en-US" sz="11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</p:txBody>
      </p:sp>
      <p:pic>
        <p:nvPicPr>
          <p:cNvPr id="24" name="Picture 32">
            <a:extLst>
              <a:ext uri="{FF2B5EF4-FFF2-40B4-BE49-F238E27FC236}">
                <a16:creationId xmlns:a16="http://schemas.microsoft.com/office/drawing/2014/main" id="{337B2F19-6860-42E3-81F6-9A1527D6B665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8003160" y="3143315"/>
            <a:ext cx="1744189" cy="900000"/>
          </a:xfrm>
          <a:prstGeom prst="rect">
            <a:avLst/>
          </a:prstGeom>
          <a:effectLst>
            <a:outerShdw blurRad="15813" dist="116316" dir="2700000">
              <a:srgbClr val="000000">
                <a:alpha val="50000"/>
              </a:srgbClr>
            </a:outerShdw>
          </a:effectLst>
        </p:spPr>
      </p:pic>
      <p:sp>
        <p:nvSpPr>
          <p:cNvPr id="25" name="TextBox 33">
            <a:extLst>
              <a:ext uri="{FF2B5EF4-FFF2-40B4-BE49-F238E27FC236}">
                <a16:creationId xmlns:a16="http://schemas.microsoft.com/office/drawing/2014/main" id="{9180AC90-A622-4566-9D32-AB5F0B76199B}"/>
              </a:ext>
            </a:extLst>
          </p:cNvPr>
          <p:cNvSpPr txBox="1"/>
          <p:nvPr/>
        </p:nvSpPr>
        <p:spPr>
          <a:xfrm>
            <a:off x="8054188" y="3512765"/>
            <a:ext cx="1617528" cy="138867"/>
          </a:xfrm>
          <a:prstGeom prst="rect">
            <a:avLst/>
          </a:prstGeom>
          <a:effectLst>
            <a:outerShdw dist="8401" dir="2700000">
              <a:srgbClr val="000000">
                <a:alpha val="40000"/>
              </a:srgbClr>
            </a:outerShdw>
          </a:effectLst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세금계산서 발행 및 매출</a:t>
            </a:r>
            <a:endParaRPr lang="en-US" altLang="ko-KR" sz="11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(</a:t>
            </a: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수출 </a:t>
            </a: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: </a:t>
            </a: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인보이스 및 </a:t>
            </a: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B/L )</a:t>
            </a:r>
          </a:p>
          <a:p>
            <a:pPr lvl="0" algn="ctr">
              <a:lnSpc>
                <a:spcPct val="99600"/>
              </a:lnSpc>
            </a:pP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(</a:t>
            </a:r>
            <a:r>
              <a:rPr lang="ko-KR" altLang="en-US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영업 및 사업지원팀</a:t>
            </a:r>
            <a:r>
              <a:rPr lang="en-US" altLang="ko-KR" sz="11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)</a:t>
            </a:r>
            <a:endParaRPr lang="ko-KR" altLang="en-US" sz="11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</p:txBody>
      </p:sp>
      <p:sp>
        <p:nvSpPr>
          <p:cNvPr id="26" name="TextBox 34">
            <a:extLst>
              <a:ext uri="{FF2B5EF4-FFF2-40B4-BE49-F238E27FC236}">
                <a16:creationId xmlns:a16="http://schemas.microsoft.com/office/drawing/2014/main" id="{46F5EA81-501B-493B-86CF-2E662979EC5B}"/>
              </a:ext>
            </a:extLst>
          </p:cNvPr>
          <p:cNvSpPr txBox="1"/>
          <p:nvPr/>
        </p:nvSpPr>
        <p:spPr>
          <a:xfrm>
            <a:off x="258737" y="2534275"/>
            <a:ext cx="3326311" cy="28771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16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◆ 매출</a:t>
            </a:r>
            <a:r>
              <a:rPr lang="en-US" sz="16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 Process (ERP)</a:t>
            </a:r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B8F459E1-28E0-412D-BCA7-08C745942AF5}"/>
              </a:ext>
            </a:extLst>
          </p:cNvPr>
          <p:cNvSpPr txBox="1"/>
          <p:nvPr/>
        </p:nvSpPr>
        <p:spPr>
          <a:xfrm>
            <a:off x="1440069" y="4101695"/>
            <a:ext cx="2242704" cy="33931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en-US" altLang="ko-KR" sz="12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G/W </a:t>
            </a:r>
            <a:r>
              <a:rPr lang="ko-KR" altLang="en-US" sz="12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품의 승인 후 통제해제</a:t>
            </a:r>
          </a:p>
        </p:txBody>
      </p:sp>
      <p:pic>
        <p:nvPicPr>
          <p:cNvPr id="28" name="Picture 4">
            <a:extLst>
              <a:ext uri="{FF2B5EF4-FFF2-40B4-BE49-F238E27FC236}">
                <a16:creationId xmlns:a16="http://schemas.microsoft.com/office/drawing/2014/main" id="{2427B12A-087F-4AAD-AA39-A91A967FD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9538" y="3331329"/>
            <a:ext cx="488735" cy="512785"/>
          </a:xfrm>
          <a:prstGeom prst="rect">
            <a:avLst/>
          </a:prstGeom>
          <a:noFill/>
        </p:spPr>
      </p:pic>
      <p:pic>
        <p:nvPicPr>
          <p:cNvPr id="29" name="Picture 4">
            <a:extLst>
              <a:ext uri="{FF2B5EF4-FFF2-40B4-BE49-F238E27FC236}">
                <a16:creationId xmlns:a16="http://schemas.microsoft.com/office/drawing/2014/main" id="{F6DBD9E6-3815-489C-AA25-B32C09D1C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374" y="3311355"/>
            <a:ext cx="488735" cy="512785"/>
          </a:xfrm>
          <a:prstGeom prst="rect">
            <a:avLst/>
          </a:prstGeom>
          <a:noFill/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F08AF462-25FC-4C19-B9A6-BB9EA7FFE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6985" y="3343558"/>
            <a:ext cx="377203" cy="512785"/>
          </a:xfrm>
          <a:prstGeom prst="rect">
            <a:avLst/>
          </a:prstGeom>
          <a:noFill/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238270C-4163-4AA9-AE61-4B1A6665E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2896-C2C2-4CE2-99DC-2B9375ACDD4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5D27AFB-DA1D-4BD6-8C49-C030AE29E3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688" y="-86683"/>
            <a:ext cx="8232280" cy="104511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7" name="화살표: 왼쪽 6">
            <a:extLst>
              <a:ext uri="{FF2B5EF4-FFF2-40B4-BE49-F238E27FC236}">
                <a16:creationId xmlns:a16="http://schemas.microsoft.com/office/drawing/2014/main" id="{0FFC7CD5-2716-41D6-84AC-56ED20456A61}"/>
              </a:ext>
            </a:extLst>
          </p:cNvPr>
          <p:cNvSpPr/>
          <p:nvPr/>
        </p:nvSpPr>
        <p:spPr>
          <a:xfrm>
            <a:off x="6975300" y="538774"/>
            <a:ext cx="2772049" cy="1542037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중요 변경점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08.25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707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8F6C6B-B9ED-4983-AE35-6DB74E71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76646"/>
            <a:ext cx="8996363" cy="562168"/>
          </a:xfrm>
        </p:spPr>
        <p:txBody>
          <a:bodyPr>
            <a:normAutofit/>
          </a:bodyPr>
          <a:lstStyle/>
          <a:p>
            <a:r>
              <a:rPr lang="en-US" altLang="ko-KR" sz="1800">
                <a:solidFill>
                  <a:schemeClr val="accent5">
                    <a:lumMod val="50000"/>
                  </a:schemeClr>
                </a:solidFill>
                <a:ea typeface="Pretendard ExtraBold"/>
              </a:rPr>
              <a:t>02</a:t>
            </a:r>
            <a:r>
              <a:rPr lang="en-US" altLang="ko-KR" sz="1800">
                <a:solidFill>
                  <a:srgbClr val="333333"/>
                </a:solidFill>
                <a:ea typeface="Pretendard ExtraBold"/>
              </a:rPr>
              <a:t> </a:t>
            </a:r>
            <a:r>
              <a:rPr lang="ko-KR" altLang="en-US" sz="1800">
                <a:solidFill>
                  <a:srgbClr val="333333"/>
                </a:solidFill>
                <a:ea typeface="Pretendard ExtraBold"/>
              </a:rPr>
              <a:t>수주통제</a:t>
            </a:r>
            <a:r>
              <a:rPr lang="en-US" altLang="ko-KR" sz="1800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altLang="en-US" sz="1800">
                <a:solidFill>
                  <a:srgbClr val="333333"/>
                </a:solidFill>
                <a:ea typeface="Pretendard ExtraBold"/>
              </a:rPr>
              <a:t>시스템</a:t>
            </a:r>
            <a:r>
              <a:rPr lang="en-US" altLang="ko-KR" sz="1800">
                <a:solidFill>
                  <a:srgbClr val="333333"/>
                </a:solidFill>
                <a:latin typeface="Pretendard ExtraBold"/>
              </a:rPr>
              <a:t> </a:t>
            </a:r>
            <a:r>
              <a:rPr lang="ko-KR" altLang="en-US" sz="1800">
                <a:solidFill>
                  <a:srgbClr val="333333"/>
                </a:solidFill>
                <a:ea typeface="Pretendard ExtraBold"/>
              </a:rPr>
              <a:t>구축 계획</a:t>
            </a:r>
            <a:endParaRPr lang="ko-KR" altLang="en-US" sz="18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7B39C9-6BD9-476A-9B74-17F1E59D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2896-C2C2-4CE2-99DC-2B9375ACDD4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FE86CCE-D0C2-47AE-8BD4-C23AE2607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39" y="1177696"/>
            <a:ext cx="9118083" cy="457199"/>
          </a:xfrm>
          <a:prstGeom prst="rect">
            <a:avLst/>
          </a:prstGeom>
          <a:effectLst>
            <a:outerShdw blurRad="37444" dir="2700000">
              <a:srgbClr val="333333">
                <a:alpha val="15000"/>
              </a:srgbClr>
            </a:outerShdw>
          </a:effectLst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231F82C8-91EE-4C8F-A5A2-DC6A9FB4B653}"/>
              </a:ext>
            </a:extLst>
          </p:cNvPr>
          <p:cNvSpPr txBox="1"/>
          <p:nvPr/>
        </p:nvSpPr>
        <p:spPr>
          <a:xfrm>
            <a:off x="284676" y="1177696"/>
            <a:ext cx="15875000" cy="4571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32800"/>
              </a:lnSpc>
            </a:pPr>
            <a:r>
              <a:rPr lang="ko-KR" altLang="en-US" sz="1600" b="1">
                <a:solidFill>
                  <a:srgbClr val="333333"/>
                </a:solidFill>
                <a:ea typeface="Pretendard Bold"/>
              </a:rPr>
              <a:t>여신일자</a:t>
            </a:r>
            <a:r>
              <a:rPr lang="en-US" sz="1600" b="1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ea typeface="Pretendard Bold"/>
              </a:rPr>
              <a:t>기준</a:t>
            </a:r>
            <a:r>
              <a:rPr lang="en-US" sz="1600" b="1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ea typeface="Pretendard Bold"/>
              </a:rPr>
              <a:t>초과</a:t>
            </a:r>
            <a:r>
              <a:rPr lang="en-US" sz="1600" b="1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ea typeface="Pretendard Bold"/>
              </a:rPr>
              <a:t>채권에</a:t>
            </a:r>
            <a:r>
              <a:rPr lang="en-US" sz="1600" b="1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ea typeface="Pretendard Bold"/>
              </a:rPr>
              <a:t>대한</a:t>
            </a:r>
            <a:r>
              <a:rPr lang="en-US" sz="1600" b="1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ea typeface="Pretendard Bold"/>
              </a:rPr>
              <a:t>통제</a:t>
            </a:r>
            <a:r>
              <a:rPr lang="en-US" sz="1600" b="1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ea typeface="Pretendard Bold"/>
              </a:rPr>
              <a:t>프로그램</a:t>
            </a:r>
            <a:r>
              <a:rPr lang="en-US" sz="1600" b="1">
                <a:solidFill>
                  <a:srgbClr val="333333"/>
                </a:solidFill>
                <a:latin typeface="Pretendard Bold"/>
              </a:rPr>
              <a:t> </a:t>
            </a:r>
            <a:r>
              <a:rPr lang="ko-KR" altLang="en-US" sz="1600" b="1">
                <a:solidFill>
                  <a:srgbClr val="333333"/>
                </a:solidFill>
                <a:ea typeface="Pretendard Bold"/>
              </a:rPr>
              <a:t>구축</a:t>
            </a:r>
            <a:r>
              <a:rPr lang="en-US" altLang="ko-KR" sz="1600" b="1">
                <a:solidFill>
                  <a:srgbClr val="333333"/>
                </a:solidFill>
                <a:ea typeface="Pretendard Bold"/>
              </a:rPr>
              <a:t>. </a:t>
            </a:r>
            <a:r>
              <a:rPr lang="ko-KR" altLang="en-US" sz="1600" b="1">
                <a:solidFill>
                  <a:srgbClr val="333333"/>
                </a:solidFill>
                <a:ea typeface="Pretendard Bold"/>
              </a:rPr>
              <a:t>기일 초과시 수주 입력 불가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B34334-CA02-416D-9824-1527CC2D2B6A}"/>
              </a:ext>
            </a:extLst>
          </p:cNvPr>
          <p:cNvSpPr txBox="1"/>
          <p:nvPr/>
        </p:nvSpPr>
        <p:spPr>
          <a:xfrm>
            <a:off x="284676" y="1171287"/>
            <a:ext cx="8940287" cy="379420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50000"/>
              </a:lnSpc>
            </a:pP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1) </a:t>
            </a:r>
            <a:r>
              <a:rPr lang="ko-KR" altLang="en-US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채권회수기일 </a:t>
            </a: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+ 10</a:t>
            </a:r>
            <a:r>
              <a:rPr lang="ko-KR" altLang="en-US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일 초과시</a:t>
            </a: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, </a:t>
            </a:r>
            <a:r>
              <a:rPr lang="ko-KR" altLang="en-US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수주 입력 불가</a:t>
            </a: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. (</a:t>
            </a:r>
            <a:r>
              <a:rPr lang="ko-KR" altLang="en-US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매달 </a:t>
            </a: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10</a:t>
            </a:r>
            <a:r>
              <a:rPr lang="ko-KR" altLang="en-US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일</a:t>
            </a: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, </a:t>
            </a:r>
            <a:r>
              <a:rPr lang="ko-KR" altLang="en-US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자동 알람메일 발송中</a:t>
            </a: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)</a:t>
            </a:r>
          </a:p>
          <a:p>
            <a:pPr lvl="0" algn="l">
              <a:lnSpc>
                <a:spcPct val="150000"/>
              </a:lnSpc>
            </a:pP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2) </a:t>
            </a:r>
            <a:r>
              <a:rPr lang="ko-KR" altLang="en-US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전자결재 </a:t>
            </a: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(G/W) </a:t>
            </a:r>
            <a:r>
              <a:rPr lang="ko-KR" altLang="en-US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를 통한 품의 완료시</a:t>
            </a: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, </a:t>
            </a:r>
            <a:r>
              <a:rPr lang="ko-KR" altLang="en-US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수주통제 해제</a:t>
            </a: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. (</a:t>
            </a:r>
            <a:r>
              <a:rPr lang="ko-KR" altLang="en-US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부문장 결재</a:t>
            </a: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/ </a:t>
            </a:r>
            <a:r>
              <a:rPr lang="ko-KR" altLang="en-US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재무팀 합의</a:t>
            </a:r>
            <a:r>
              <a:rPr lang="en-US" altLang="ko-KR" sz="1400" b="1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)</a:t>
            </a:r>
          </a:p>
          <a:p>
            <a:pPr lvl="0" algn="l"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3)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영업부서 인터뷰를 통한 업체별 회수기일 현실화</a:t>
            </a:r>
            <a:endParaRPr lang="en-US" altLang="ko-KR" sz="14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   -.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국내 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: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세금계산서 기준 마감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회수기일 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+10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일 기준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적용</a:t>
            </a:r>
            <a:endParaRPr lang="en-US" altLang="ko-KR" sz="14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   -.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해외 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: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첨단 제품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선적기준  ≠ 고객사 정산기준 차이 발생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최대 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40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일</a:t>
            </a:r>
            <a:endParaRPr lang="en-US" altLang="ko-KR" sz="14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  <a:p>
            <a:pPr lvl="0" algn="l"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4)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채권연령표 메뉴를 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ESS)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를 통해 영업부서와 공유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,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영업사원들의 채권회수에 대한 관심 유도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.</a:t>
            </a:r>
          </a:p>
          <a:p>
            <a:pPr lvl="0" algn="l">
              <a:lnSpc>
                <a:spcPct val="150000"/>
              </a:lnSpc>
            </a:pP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5) 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시스템 개발에 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2~3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개월 소요 예상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. (</a:t>
            </a:r>
            <a:r>
              <a:rPr lang="ko-KR" altLang="en-US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기간 단축을 위한 협의</a:t>
            </a:r>
            <a:r>
              <a:rPr lang="en-US" altLang="ko-KR" sz="1400">
                <a:solidFill>
                  <a:srgbClr val="000000"/>
                </a:solidFill>
                <a:latin typeface="Pretendard Light" panose="020B0600000101010101" charset="-127"/>
                <a:ea typeface="Pretendard Light" panose="020B0600000101010101" charset="-127"/>
              </a:rPr>
              <a:t>)</a:t>
            </a:r>
            <a:endParaRPr lang="ko-KR" altLang="en-US" sz="1400">
              <a:solidFill>
                <a:srgbClr val="000000"/>
              </a:solidFill>
              <a:latin typeface="Pretendard Light" panose="020B0600000101010101" charset="-127"/>
              <a:ea typeface="Pretendard Light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2698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C89DE-1EB6-4A1D-827D-C3DE3C021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수주통제 시스템 구축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A86BDD-7347-4E47-910A-8490A7051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2896-C2C2-4CE2-99DC-2B9375ACDD46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31D825-4FBE-4E58-AE48-59DAD58578E4}"/>
              </a:ext>
            </a:extLst>
          </p:cNvPr>
          <p:cNvSpPr txBox="1"/>
          <p:nvPr/>
        </p:nvSpPr>
        <p:spPr>
          <a:xfrm>
            <a:off x="228600" y="994057"/>
            <a:ext cx="7147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latin typeface="+mn-ea"/>
              </a:rPr>
              <a:t>Phase 1. </a:t>
            </a:r>
            <a:r>
              <a:rPr lang="ko-KR" altLang="en-US">
                <a:latin typeface="+mn-ea"/>
              </a:rPr>
              <a:t>여신일자 초과 출하통제 </a:t>
            </a:r>
            <a:r>
              <a:rPr lang="en-US" altLang="ko-KR">
                <a:latin typeface="+mn-ea"/>
              </a:rPr>
              <a:t>(’25.xx</a:t>
            </a:r>
            <a:r>
              <a:rPr lang="ko-KR" altLang="en-US">
                <a:latin typeface="+mn-ea"/>
              </a:rPr>
              <a:t>월</a:t>
            </a:r>
            <a:r>
              <a:rPr lang="en-US" altLang="ko-KR">
                <a:latin typeface="+mn-ea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72E54F-F940-42F4-BB84-99336769D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90" y="3429000"/>
            <a:ext cx="4686722" cy="31960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EAB7D0-D803-43BF-8759-70118363B434}"/>
              </a:ext>
            </a:extLst>
          </p:cNvPr>
          <p:cNvSpPr txBox="1"/>
          <p:nvPr/>
        </p:nvSpPr>
        <p:spPr>
          <a:xfrm>
            <a:off x="228600" y="1515693"/>
            <a:ext cx="8246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>
                <a:latin typeface="+mn-ea"/>
              </a:rPr>
              <a:t>여신일자 </a:t>
            </a:r>
            <a:r>
              <a:rPr lang="en-US" altLang="ko-KR" sz="1200">
                <a:latin typeface="+mn-ea"/>
              </a:rPr>
              <a:t>+10</a:t>
            </a:r>
            <a:r>
              <a:rPr lang="ko-KR" altLang="en-US" sz="1200">
                <a:latin typeface="+mn-ea"/>
              </a:rPr>
              <a:t>일 초과시 수주 입력 통제 </a:t>
            </a:r>
            <a:endParaRPr lang="ko-KR" altLang="en-US" sz="12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F88A9-B4C1-449F-8F54-4B77BC0C9358}"/>
              </a:ext>
            </a:extLst>
          </p:cNvPr>
          <p:cNvSpPr txBox="1"/>
          <p:nvPr/>
        </p:nvSpPr>
        <p:spPr>
          <a:xfrm>
            <a:off x="228600" y="1892914"/>
            <a:ext cx="8246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>
                <a:latin typeface="+mn-ea"/>
              </a:rPr>
              <a:t>수주통제기간일 별도 운영 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-. </a:t>
            </a:r>
            <a:r>
              <a:rPr lang="ko-KR" altLang="en-US" sz="1200">
                <a:latin typeface="+mn-ea"/>
              </a:rPr>
              <a:t>수출의 경우 고객사 입고 및 정산에 따라 최장 </a:t>
            </a:r>
            <a:r>
              <a:rPr lang="en-US" altLang="ko-KR" sz="1200">
                <a:latin typeface="+mn-ea"/>
              </a:rPr>
              <a:t>+40</a:t>
            </a:r>
            <a:r>
              <a:rPr lang="ko-KR" altLang="en-US" sz="1200">
                <a:latin typeface="+mn-ea"/>
              </a:rPr>
              <a:t>일 기일연장 필요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-. </a:t>
            </a:r>
            <a:r>
              <a:rPr lang="ko-KR" altLang="en-US" sz="1200">
                <a:latin typeface="+mn-ea"/>
              </a:rPr>
              <a:t>내수의 경우 별도 추가 기일 필요 없음 </a:t>
            </a:r>
            <a:endParaRPr lang="ko-KR" altLang="en-US" sz="1200" dirty="0"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471F8ED-9275-4833-B246-9A41BCC61FB7}"/>
              </a:ext>
            </a:extLst>
          </p:cNvPr>
          <p:cNvSpPr/>
          <p:nvPr/>
        </p:nvSpPr>
        <p:spPr>
          <a:xfrm>
            <a:off x="2097248" y="4177718"/>
            <a:ext cx="226502" cy="18120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E6CED-6C7C-4BED-98B6-E7E26AF89722}"/>
              </a:ext>
            </a:extLst>
          </p:cNvPr>
          <p:cNvSpPr txBox="1"/>
          <p:nvPr/>
        </p:nvSpPr>
        <p:spPr>
          <a:xfrm>
            <a:off x="2657362" y="4148119"/>
            <a:ext cx="18643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ko-KR" altLang="en-US">
                <a:latin typeface="+mn-ea"/>
              </a:rPr>
              <a:t>수주통제 기간일 별도 설정</a:t>
            </a:r>
            <a:endParaRPr lang="ko-KR" altLang="en-US" dirty="0">
              <a:latin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588E4F7-60C9-4027-8671-013AFD0B15B9}"/>
              </a:ext>
            </a:extLst>
          </p:cNvPr>
          <p:cNvSpPr/>
          <p:nvPr/>
        </p:nvSpPr>
        <p:spPr>
          <a:xfrm>
            <a:off x="2665600" y="6149130"/>
            <a:ext cx="203435" cy="4692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0D157B-EFEF-49EC-9D67-9E9620169487}"/>
              </a:ext>
            </a:extLst>
          </p:cNvPr>
          <p:cNvSpPr txBox="1"/>
          <p:nvPr/>
        </p:nvSpPr>
        <p:spPr>
          <a:xfrm>
            <a:off x="3088696" y="5323975"/>
            <a:ext cx="18643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ko-KR" altLang="en-US">
                <a:latin typeface="+mn-ea"/>
              </a:rPr>
              <a:t>수주통제 대상 별도 체크</a:t>
            </a:r>
            <a:endParaRPr lang="ko-KR" altLang="en-US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A205B3-1C2D-4C54-A825-B3005EC68293}"/>
              </a:ext>
            </a:extLst>
          </p:cNvPr>
          <p:cNvSpPr txBox="1"/>
          <p:nvPr/>
        </p:nvSpPr>
        <p:spPr>
          <a:xfrm>
            <a:off x="418712" y="2999697"/>
            <a:ext cx="8246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>
                <a:latin typeface="+mn-ea"/>
              </a:rPr>
              <a:t>채권연령표</a:t>
            </a:r>
            <a:r>
              <a:rPr lang="en-US" altLang="ko-KR" sz="1200">
                <a:latin typeface="+mn-ea"/>
              </a:rPr>
              <a:t>_iamc </a:t>
            </a:r>
            <a:r>
              <a:rPr lang="ko-KR" altLang="en-US" sz="1200">
                <a:latin typeface="+mn-ea"/>
              </a:rPr>
              <a:t>추가 개발</a:t>
            </a:r>
            <a:endParaRPr lang="ko-KR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489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1E3034-6A15-4C8F-9A2E-6BEB2E1B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수주통제 시스템 구축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868DDF-3F69-46B5-A07A-219B709CD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2896-C2C2-4CE2-99DC-2B9375ACDD46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1A89EA2-5652-44EF-AAEC-878917A82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9" y="4583027"/>
            <a:ext cx="4381132" cy="21502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2293DF-60E6-4E9E-911D-59099ADE735B}"/>
              </a:ext>
            </a:extLst>
          </p:cNvPr>
          <p:cNvSpPr txBox="1"/>
          <p:nvPr/>
        </p:nvSpPr>
        <p:spPr>
          <a:xfrm>
            <a:off x="228600" y="4255146"/>
            <a:ext cx="8246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2. </a:t>
            </a:r>
            <a:r>
              <a:rPr lang="ko-KR" altLang="en-US" sz="1200">
                <a:latin typeface="+mn-ea"/>
              </a:rPr>
              <a:t>청구처별매출회수조건입력</a:t>
            </a:r>
            <a:r>
              <a:rPr lang="en-US" altLang="ko-KR" sz="1200">
                <a:latin typeface="+mn-ea"/>
              </a:rPr>
              <a:t>_iamc </a:t>
            </a:r>
            <a:r>
              <a:rPr lang="ko-KR" altLang="en-US" sz="1200">
                <a:latin typeface="+mn-ea"/>
              </a:rPr>
              <a:t>개발</a:t>
            </a:r>
            <a:endParaRPr lang="ko-KR" altLang="en-US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B5EF5E-8333-4129-A602-A72941314D4C}"/>
              </a:ext>
            </a:extLst>
          </p:cNvPr>
          <p:cNvSpPr txBox="1"/>
          <p:nvPr/>
        </p:nvSpPr>
        <p:spPr>
          <a:xfrm>
            <a:off x="4541657" y="5535065"/>
            <a:ext cx="1095745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>
                <a:latin typeface="+mn-ea"/>
              </a:rPr>
              <a:t>수주통제기간일</a:t>
            </a:r>
            <a:endParaRPr lang="ko-KR" altLang="en-US" sz="9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60E07F-AD7E-4F61-9C76-776AF3A0FAAD}"/>
              </a:ext>
            </a:extLst>
          </p:cNvPr>
          <p:cNvSpPr txBox="1"/>
          <p:nvPr/>
        </p:nvSpPr>
        <p:spPr>
          <a:xfrm>
            <a:off x="5637402" y="5535065"/>
            <a:ext cx="1037021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>
                <a:latin typeface="+mn-ea"/>
              </a:rPr>
              <a:t>수주통제 시작일</a:t>
            </a:r>
            <a:endParaRPr lang="ko-KR" altLang="en-US" sz="900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DB0C87-1FE6-4C6D-804E-E25E508EA5C0}"/>
              </a:ext>
            </a:extLst>
          </p:cNvPr>
          <p:cNvSpPr txBox="1"/>
          <p:nvPr/>
        </p:nvSpPr>
        <p:spPr>
          <a:xfrm>
            <a:off x="6674423" y="5535065"/>
            <a:ext cx="1037021" cy="230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>
                <a:latin typeface="+mn-ea"/>
              </a:rPr>
              <a:t>수주통제 종료일</a:t>
            </a:r>
            <a:endParaRPr lang="ko-KR" altLang="en-US" sz="9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D78A5D-D263-47CC-85A6-8AA6A3FFAEDB}"/>
              </a:ext>
            </a:extLst>
          </p:cNvPr>
          <p:cNvSpPr txBox="1"/>
          <p:nvPr/>
        </p:nvSpPr>
        <p:spPr>
          <a:xfrm>
            <a:off x="4541657" y="5883050"/>
            <a:ext cx="44981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1.</a:t>
            </a:r>
            <a:r>
              <a:rPr lang="ko-KR" altLang="en-US" sz="1200">
                <a:latin typeface="+mn-ea"/>
              </a:rPr>
              <a:t>항목 추가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2.</a:t>
            </a:r>
            <a:r>
              <a:rPr lang="ko-KR" altLang="en-US" sz="1200">
                <a:latin typeface="+mn-ea"/>
              </a:rPr>
              <a:t>수주통제 설정시</a:t>
            </a:r>
            <a:endParaRPr lang="en-US" altLang="ko-KR" sz="1200">
              <a:latin typeface="+mn-ea"/>
            </a:endParaRPr>
          </a:p>
          <a:p>
            <a:pPr algn="l"/>
            <a:r>
              <a:rPr lang="ko-KR" altLang="en-US" sz="1200">
                <a:latin typeface="+mn-ea"/>
              </a:rPr>
              <a:t>시작일 </a:t>
            </a:r>
            <a:r>
              <a:rPr lang="en-US" altLang="ko-KR" sz="1200">
                <a:latin typeface="+mn-ea"/>
              </a:rPr>
              <a:t>1999-01-01 </a:t>
            </a:r>
            <a:r>
              <a:rPr lang="ko-KR" altLang="en-US" sz="1200">
                <a:latin typeface="+mn-ea"/>
              </a:rPr>
              <a:t>종료일 </a:t>
            </a:r>
            <a:r>
              <a:rPr lang="en-US" altLang="ko-KR" sz="1200">
                <a:latin typeface="+mn-ea"/>
              </a:rPr>
              <a:t>2099-12-31 </a:t>
            </a:r>
            <a:r>
              <a:rPr lang="ko-KR" altLang="en-US" sz="1200">
                <a:latin typeface="+mn-ea"/>
              </a:rPr>
              <a:t>로 자동 설정</a:t>
            </a:r>
            <a:endParaRPr lang="en-US" altLang="ko-KR" sz="1200">
              <a:latin typeface="+mn-ea"/>
            </a:endParaRPr>
          </a:p>
          <a:p>
            <a:pPr algn="l"/>
            <a:r>
              <a:rPr lang="ko-KR" altLang="en-US" sz="1200">
                <a:latin typeface="+mn-ea"/>
              </a:rPr>
              <a:t>관리자가 일정 삭제시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수주통제 해제</a:t>
            </a:r>
            <a:endParaRPr lang="ko-KR" altLang="en-US" sz="1200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7FB008D-9C16-4B9F-A1BF-B52336814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49" y="1004851"/>
            <a:ext cx="4686722" cy="319600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C13C33-6358-4E24-B240-BB08ECF95FDD}"/>
              </a:ext>
            </a:extLst>
          </p:cNvPr>
          <p:cNvSpPr/>
          <p:nvPr/>
        </p:nvSpPr>
        <p:spPr>
          <a:xfrm>
            <a:off x="2007407" y="1753569"/>
            <a:ext cx="226502" cy="18120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A3987C-E32C-4AC9-8928-F6C9EFD6ABFF}"/>
              </a:ext>
            </a:extLst>
          </p:cNvPr>
          <p:cNvSpPr txBox="1"/>
          <p:nvPr/>
        </p:nvSpPr>
        <p:spPr>
          <a:xfrm>
            <a:off x="2567521" y="1723970"/>
            <a:ext cx="18643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ko-KR" altLang="en-US">
                <a:latin typeface="+mn-ea"/>
              </a:rPr>
              <a:t>수주통제 기간일 별도 설정</a:t>
            </a:r>
            <a:endParaRPr lang="ko-KR" altLang="en-US" dirty="0">
              <a:latin typeface="+mn-ea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5240A5A-CCA3-4E4F-B580-78551CCABC2A}"/>
              </a:ext>
            </a:extLst>
          </p:cNvPr>
          <p:cNvSpPr/>
          <p:nvPr/>
        </p:nvSpPr>
        <p:spPr>
          <a:xfrm>
            <a:off x="2575759" y="3724981"/>
            <a:ext cx="203435" cy="4692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B3D5B0-5D23-465E-8939-B7FC3E7C4013}"/>
              </a:ext>
            </a:extLst>
          </p:cNvPr>
          <p:cNvSpPr txBox="1"/>
          <p:nvPr/>
        </p:nvSpPr>
        <p:spPr>
          <a:xfrm>
            <a:off x="2998855" y="2899826"/>
            <a:ext cx="18643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ko-KR" altLang="en-US">
                <a:latin typeface="+mn-ea"/>
              </a:rPr>
              <a:t>수주통제 대상 별도 체크</a:t>
            </a:r>
            <a:endParaRPr lang="ko-KR" altLang="en-US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95BF22-C925-4E9D-82CD-2D02F90865D7}"/>
              </a:ext>
            </a:extLst>
          </p:cNvPr>
          <p:cNvSpPr txBox="1"/>
          <p:nvPr/>
        </p:nvSpPr>
        <p:spPr>
          <a:xfrm>
            <a:off x="345649" y="764587"/>
            <a:ext cx="8246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1. </a:t>
            </a:r>
            <a:r>
              <a:rPr lang="ko-KR" altLang="en-US" sz="1200">
                <a:latin typeface="+mn-ea"/>
              </a:rPr>
              <a:t>채권연령표</a:t>
            </a:r>
            <a:r>
              <a:rPr lang="en-US" altLang="ko-KR" sz="1200">
                <a:latin typeface="+mn-ea"/>
              </a:rPr>
              <a:t>_iamc </a:t>
            </a:r>
            <a:r>
              <a:rPr lang="ko-KR" altLang="en-US" sz="1200">
                <a:latin typeface="+mn-ea"/>
              </a:rPr>
              <a:t>추가 개발</a:t>
            </a:r>
            <a:endParaRPr lang="ko-KR" altLang="en-US" sz="1200" dirty="0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723B87-E489-4176-8662-7828453BE0E4}"/>
              </a:ext>
            </a:extLst>
          </p:cNvPr>
          <p:cNvSpPr txBox="1"/>
          <p:nvPr/>
        </p:nvSpPr>
        <p:spPr>
          <a:xfrm>
            <a:off x="4863159" y="4510385"/>
            <a:ext cx="3830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400">
                <a:latin typeface="+mn-ea"/>
              </a:rPr>
              <a:t>청구처별 매출회수조건 화면을 채권회수에 대한 관리자 화면으로 사용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31236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183207-3E68-4C6D-8097-FB9FAEB06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수주통제 시스템 구축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01D317-6CB5-4D8F-826D-1294F4BB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2896-C2C2-4CE2-99DC-2B9375ACDD46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7DCB8A-2FB7-4AE3-B84F-C65201746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58509"/>
            <a:ext cx="7826928" cy="182246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8D27BB2-0070-49B3-BC00-45E40477F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013371"/>
            <a:ext cx="7798369" cy="22129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9CDDE3D-E2A8-4AA7-8468-346FBFFDDD3F}"/>
              </a:ext>
            </a:extLst>
          </p:cNvPr>
          <p:cNvSpPr txBox="1"/>
          <p:nvPr/>
        </p:nvSpPr>
        <p:spPr>
          <a:xfrm>
            <a:off x="4565009" y="1236405"/>
            <a:ext cx="1542177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 dirty="0">
                <a:latin typeface="+mn-ea"/>
              </a:rPr>
              <a:t>수주통제해제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B12C78-3D78-495C-96BA-3D7650FBAF7C}"/>
              </a:ext>
            </a:extLst>
          </p:cNvPr>
          <p:cNvSpPr txBox="1"/>
          <p:nvPr/>
        </p:nvSpPr>
        <p:spPr>
          <a:xfrm>
            <a:off x="5396917" y="3197366"/>
            <a:ext cx="1542177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 dirty="0">
                <a:latin typeface="+mn-ea"/>
              </a:rPr>
              <a:t>수주통제해제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79184E-8795-465F-A700-D68F7F4CAA16}"/>
              </a:ext>
            </a:extLst>
          </p:cNvPr>
          <p:cNvSpPr txBox="1"/>
          <p:nvPr/>
        </p:nvSpPr>
        <p:spPr>
          <a:xfrm>
            <a:off x="135924" y="763027"/>
            <a:ext cx="8246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3. </a:t>
            </a:r>
            <a:r>
              <a:rPr lang="ko-KR" altLang="en-US" sz="1200">
                <a:latin typeface="+mn-ea"/>
              </a:rPr>
              <a:t>수주입력 및 수출</a:t>
            </a:r>
            <a:r>
              <a:rPr lang="en-US" altLang="ko-KR" sz="1200">
                <a:latin typeface="+mn-ea"/>
              </a:rPr>
              <a:t>order </a:t>
            </a:r>
            <a:r>
              <a:rPr lang="ko-KR" altLang="en-US" sz="1200">
                <a:latin typeface="+mn-ea"/>
              </a:rPr>
              <a:t>입력 개발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39FE4F-B978-4F94-BDD0-D2810170EBFD}"/>
              </a:ext>
            </a:extLst>
          </p:cNvPr>
          <p:cNvSpPr txBox="1"/>
          <p:nvPr/>
        </p:nvSpPr>
        <p:spPr>
          <a:xfrm>
            <a:off x="8229599" y="2812645"/>
            <a:ext cx="16092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>
                <a:latin typeface="+mn-ea"/>
              </a:rPr>
              <a:t>여신초과시 수주입력</a:t>
            </a:r>
            <a:r>
              <a:rPr lang="en-US" altLang="ko-KR" sz="1200">
                <a:latin typeface="+mn-ea"/>
              </a:rPr>
              <a:t>&amp;</a:t>
            </a:r>
            <a:r>
              <a:rPr lang="ko-KR" altLang="en-US" sz="1200">
                <a:latin typeface="+mn-ea"/>
              </a:rPr>
              <a:t>수출</a:t>
            </a:r>
            <a:r>
              <a:rPr lang="en-US" altLang="ko-KR" sz="1200">
                <a:latin typeface="+mn-ea"/>
              </a:rPr>
              <a:t>order </a:t>
            </a:r>
            <a:r>
              <a:rPr lang="ko-KR" altLang="en-US" sz="1200">
                <a:latin typeface="+mn-ea"/>
              </a:rPr>
              <a:t>저장 안됨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92728C-AD8D-43D0-824A-1A5C35DC79B2}"/>
              </a:ext>
            </a:extLst>
          </p:cNvPr>
          <p:cNvSpPr txBox="1"/>
          <p:nvPr/>
        </p:nvSpPr>
        <p:spPr>
          <a:xfrm>
            <a:off x="8229599" y="3837208"/>
            <a:ext cx="1609287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>
                <a:latin typeface="+mn-ea"/>
              </a:rPr>
              <a:t>일자는 통제기준에 걸릴경우 </a:t>
            </a:r>
            <a:r>
              <a:rPr lang="en-US" altLang="ko-KR" sz="1200">
                <a:latin typeface="+mn-ea"/>
              </a:rPr>
              <a:t>1999-01-01 ~2099-12-31</a:t>
            </a:r>
            <a:r>
              <a:rPr lang="ko-KR" altLang="en-US" sz="1200">
                <a:latin typeface="+mn-ea"/>
              </a:rPr>
              <a:t>로 자동설정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매일 오전 </a:t>
            </a:r>
            <a:r>
              <a:rPr lang="en-US" altLang="ko-KR" sz="1200">
                <a:latin typeface="+mn-ea"/>
              </a:rPr>
              <a:t>8</a:t>
            </a:r>
            <a:r>
              <a:rPr lang="ko-KR" altLang="en-US" sz="1200">
                <a:latin typeface="+mn-ea"/>
              </a:rPr>
              <a:t>시 자동 스케쥴링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C363C12-C98D-44CC-819E-C781E8F66777}"/>
              </a:ext>
            </a:extLst>
          </p:cNvPr>
          <p:cNvCxnSpPr/>
          <p:nvPr/>
        </p:nvCxnSpPr>
        <p:spPr>
          <a:xfrm flipH="1">
            <a:off x="6165908" y="3458976"/>
            <a:ext cx="2097" cy="22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F2DC3E1-5E46-4296-907E-6A56B083D529}"/>
              </a:ext>
            </a:extLst>
          </p:cNvPr>
          <p:cNvCxnSpPr/>
          <p:nvPr/>
        </p:nvCxnSpPr>
        <p:spPr>
          <a:xfrm>
            <a:off x="6168005" y="3458976"/>
            <a:ext cx="0" cy="2195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A94FE53-E8CD-45A6-BB2A-18C35070940E}"/>
              </a:ext>
            </a:extLst>
          </p:cNvPr>
          <p:cNvCxnSpPr>
            <a:stCxn id="14" idx="2"/>
          </p:cNvCxnSpPr>
          <p:nvPr/>
        </p:nvCxnSpPr>
        <p:spPr>
          <a:xfrm>
            <a:off x="5336098" y="1498015"/>
            <a:ext cx="771088" cy="4089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C468502-A5B2-4735-9AFD-B6E87D38B8F0}"/>
              </a:ext>
            </a:extLst>
          </p:cNvPr>
          <p:cNvSpPr txBox="1"/>
          <p:nvPr/>
        </p:nvSpPr>
        <p:spPr>
          <a:xfrm>
            <a:off x="5856916" y="5636937"/>
            <a:ext cx="149905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+mn-ea"/>
              </a:rPr>
              <a:t>수주통제해제</a:t>
            </a:r>
            <a:endParaRPr lang="en-US" altLang="ko-KR" sz="1200" dirty="0">
              <a:latin typeface="+mn-ea"/>
            </a:endParaRPr>
          </a:p>
          <a:p>
            <a:pPr algn="l"/>
            <a:r>
              <a:rPr lang="ko-KR" altLang="en-US" sz="1200" dirty="0">
                <a:latin typeface="+mn-ea"/>
              </a:rPr>
              <a:t>프로그램 </a:t>
            </a:r>
            <a:r>
              <a:rPr lang="en-US" altLang="ko-KR" sz="1200" dirty="0">
                <a:latin typeface="+mn-ea"/>
              </a:rPr>
              <a:t>Jump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FD3AD9-2065-47B8-95FC-EED6AB27DA80}"/>
              </a:ext>
            </a:extLst>
          </p:cNvPr>
          <p:cNvSpPr txBox="1"/>
          <p:nvPr/>
        </p:nvSpPr>
        <p:spPr>
          <a:xfrm>
            <a:off x="7725906" y="5654180"/>
            <a:ext cx="1228313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ko-KR" altLang="en-US" sz="1200" dirty="0">
                <a:latin typeface="+mn-ea"/>
              </a:rPr>
              <a:t>그룹웨어 </a:t>
            </a:r>
            <a:endParaRPr lang="en-US" altLang="ko-KR" sz="1200" dirty="0">
              <a:latin typeface="+mn-ea"/>
            </a:endParaRPr>
          </a:p>
          <a:p>
            <a:pPr algn="l"/>
            <a:r>
              <a:rPr lang="ko-KR" altLang="en-US" sz="1200" dirty="0">
                <a:latin typeface="+mn-ea"/>
              </a:rPr>
              <a:t>전자결재 진행</a:t>
            </a:r>
          </a:p>
        </p:txBody>
      </p:sp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421DFE10-0840-48D5-8FFB-F8F9A990DDFB}"/>
              </a:ext>
            </a:extLst>
          </p:cNvPr>
          <p:cNvSpPr/>
          <p:nvPr/>
        </p:nvSpPr>
        <p:spPr>
          <a:xfrm>
            <a:off x="7527022" y="5790978"/>
            <a:ext cx="150487" cy="2388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462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CDD994-99A0-4173-B6E1-5A0A75CEF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수주통제 시스템 구축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8B8EB3-61B2-4390-87EA-E5D909113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22896-C2C2-4CE2-99DC-2B9375ACDD46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136D1D-4B99-422B-AA29-9A45A37E0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24" y="1557862"/>
            <a:ext cx="5025678" cy="44486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14D7B6-92F8-4AC7-ACFF-33838842A72A}"/>
              </a:ext>
            </a:extLst>
          </p:cNvPr>
          <p:cNvSpPr txBox="1"/>
          <p:nvPr/>
        </p:nvSpPr>
        <p:spPr>
          <a:xfrm>
            <a:off x="2105635" y="1661020"/>
            <a:ext cx="253347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ko-KR" altLang="en-US">
                <a:latin typeface="+mn-ea"/>
              </a:rPr>
              <a:t>수주통제 해제 신청서</a:t>
            </a:r>
            <a:endParaRPr lang="ko-KR" altLang="en-US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107B47-992D-476F-91A7-795E2B57D369}"/>
              </a:ext>
            </a:extLst>
          </p:cNvPr>
          <p:cNvSpPr txBox="1"/>
          <p:nvPr/>
        </p:nvSpPr>
        <p:spPr>
          <a:xfrm>
            <a:off x="696286" y="4060272"/>
            <a:ext cx="45468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>
                <a:latin typeface="+mn-ea"/>
              </a:rPr>
              <a:t>수주통제 해제를 아래와 같이 신청합니다</a:t>
            </a:r>
            <a:r>
              <a:rPr lang="en-US" altLang="ko-KR" sz="1100">
                <a:latin typeface="+mn-ea"/>
              </a:rPr>
              <a:t>.</a:t>
            </a:r>
            <a:endParaRPr lang="ko-KR" altLang="en-US" sz="1100" dirty="0">
              <a:latin typeface="+mn-ea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7757CA0-F5F4-436B-946B-CD7DD8B2B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18" y="4414226"/>
            <a:ext cx="4546833" cy="16954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DAED45-8C63-4839-9010-7D1DF0902855}"/>
              </a:ext>
            </a:extLst>
          </p:cNvPr>
          <p:cNvSpPr txBox="1"/>
          <p:nvPr/>
        </p:nvSpPr>
        <p:spPr>
          <a:xfrm>
            <a:off x="515921" y="1199350"/>
            <a:ext cx="82463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4. G/W </a:t>
            </a:r>
            <a:r>
              <a:rPr lang="ko-KR" altLang="en-US" sz="1200">
                <a:latin typeface="+mn-ea"/>
              </a:rPr>
              <a:t>수주해제 신청서 양식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144FE6-4876-445C-A4D8-AE0972BADF5B}"/>
              </a:ext>
            </a:extLst>
          </p:cNvPr>
          <p:cNvSpPr txBox="1"/>
          <p:nvPr/>
        </p:nvSpPr>
        <p:spPr>
          <a:xfrm>
            <a:off x="1830196" y="5261951"/>
            <a:ext cx="1180424" cy="2616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latin typeface="+mn-ea"/>
              </a:rPr>
              <a:t>자동기입</a:t>
            </a: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53B0BED2-3E95-4394-B869-89057A4918B3}"/>
              </a:ext>
            </a:extLst>
          </p:cNvPr>
          <p:cNvSpPr/>
          <p:nvPr/>
        </p:nvSpPr>
        <p:spPr>
          <a:xfrm rot="10800000">
            <a:off x="4209016" y="4254185"/>
            <a:ext cx="2810458" cy="17523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ACDD0-A252-4C62-BFA4-7352BF487D8D}"/>
              </a:ext>
            </a:extLst>
          </p:cNvPr>
          <p:cNvSpPr txBox="1"/>
          <p:nvPr/>
        </p:nvSpPr>
        <p:spPr>
          <a:xfrm>
            <a:off x="4953000" y="4945686"/>
            <a:ext cx="211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dirty="0">
                <a:solidFill>
                  <a:schemeClr val="bg1"/>
                </a:solidFill>
                <a:latin typeface="+mn-ea"/>
              </a:rPr>
              <a:t>ERP</a:t>
            </a:r>
            <a:r>
              <a:rPr lang="ko-KR" altLang="en-US" dirty="0">
                <a:solidFill>
                  <a:schemeClr val="bg1"/>
                </a:solidFill>
                <a:latin typeface="+mn-ea"/>
              </a:rPr>
              <a:t>연동 정보</a:t>
            </a:r>
          </a:p>
        </p:txBody>
      </p:sp>
    </p:spTree>
    <p:extLst>
      <p:ext uri="{BB962C8B-B14F-4D97-AF65-F5344CB8AC3E}">
        <p14:creationId xmlns:p14="http://schemas.microsoft.com/office/powerpoint/2010/main" val="330041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60777</TotalTime>
  <Words>453</Words>
  <Application>Microsoft Office PowerPoint</Application>
  <PresentationFormat>A4 용지(210x297mm)</PresentationFormat>
  <Paragraphs>75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Pretendard Bold</vt:lpstr>
      <vt:lpstr>Pretendard ExtraBold</vt:lpstr>
      <vt:lpstr>Pretendard Light</vt:lpstr>
      <vt:lpstr>Pretendard SemiBold</vt:lpstr>
      <vt:lpstr>맑은 고딕</vt:lpstr>
      <vt:lpstr>Arial</vt:lpstr>
      <vt:lpstr>Calibri</vt:lpstr>
      <vt:lpstr>Calibri Light</vt:lpstr>
      <vt:lpstr>Office 테마</vt:lpstr>
      <vt:lpstr>01 수주통제 시스템 구축 필요성</vt:lpstr>
      <vt:lpstr>02 수주통제 시스템 구축 계획</vt:lpstr>
      <vt:lpstr>수주통제 시스템 구축</vt:lpstr>
      <vt:lpstr>수주통제 시스템 구축</vt:lpstr>
      <vt:lpstr>수주통제 시스템 구축</vt:lpstr>
      <vt:lpstr>수주통제 시스템 구축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김철희</dc:creator>
  <cp:lastModifiedBy>임강택</cp:lastModifiedBy>
  <cp:revision>3027</cp:revision>
  <cp:lastPrinted>2025-08-19T02:03:05Z</cp:lastPrinted>
  <dcterms:created xsi:type="dcterms:W3CDTF">2020-11-09T00:14:21Z</dcterms:created>
  <dcterms:modified xsi:type="dcterms:W3CDTF">2025-08-26T02:34:28Z</dcterms:modified>
</cp:coreProperties>
</file>