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471" r:id="rId2"/>
    <p:sldId id="472" r:id="rId3"/>
    <p:sldId id="610" r:id="rId4"/>
    <p:sldId id="612" r:id="rId5"/>
    <p:sldId id="611" r:id="rId6"/>
    <p:sldId id="616" r:id="rId7"/>
    <p:sldId id="613" r:id="rId8"/>
    <p:sldId id="617" r:id="rId9"/>
    <p:sldId id="614" r:id="rId10"/>
    <p:sldId id="618" r:id="rId11"/>
    <p:sldId id="615" r:id="rId12"/>
    <p:sldId id="619" r:id="rId13"/>
    <p:sldId id="622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DFCC9-A626-4D44-B3DD-09CDFF7B1702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9A965-9970-471B-85F0-006B47D14D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803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다우오피스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고도화 후 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변경내역</a:t>
            </a:r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</a:p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연동양식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추가 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PMS : (PMS)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구매요청서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(PMS)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구매품의서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(PMS)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구매발주서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MFG :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외주발주서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수출주문서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수출출하의뢰서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연동서식관련 </a:t>
            </a:r>
            <a:r>
              <a:rPr lang="ko-KR" alt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개선내역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전표양식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기능개선 내역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회계전표번호 반영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최종결재완료 후 승인번호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전표양식에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표기하지 못함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변경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최종결재완료 후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회계전표번호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 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그룹웨어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최종결재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승인자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표기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전표기표자가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승인자로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조회됨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변경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 최종결재자가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승인자로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조회됨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 결재 시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관련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체크메세지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표시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ERP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상에서 확정하지 못하는 사유에 대해 그룹웨어에서 확인 가능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[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영림원소프트랩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"71001"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예산초과된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자료는 처리할 수 없습니다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전표행번호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계정과목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예산관리단위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영림원소프트랩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 "71001"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업무 마감이 되었습니다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전자결재문서가 이중으로 처리되지 못하도록 보완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en-US" altLang="ko-KR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연동설정관련 개선 내역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1) </a:t>
            </a:r>
            <a:r>
              <a:rPr lang="en-US" altLang="ko-K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SystemEver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포털을 통한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고객연동키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발급 및 그룹웨어에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설정내역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전송</a:t>
            </a: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2) 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그룹웨어에서 전자결재 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양식설정을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간편하게 할 수 있도록 기능개선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샘플양식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생성 후 수정할 수 있도록 함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3) ERP-</a:t>
            </a:r>
            <a:r>
              <a:rPr lang="ko-KR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그룹웨어 사원정보 매핑을 사원번호로만 할 수 있도록 개선	</a:t>
            </a:r>
          </a:p>
          <a:p>
            <a:pPr rtl="0"/>
            <a:endParaRPr lang="ko-KR" alt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672CF6-B181-46E1-BD97-36CD085B3B4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87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1CE7E-C0A0-93D0-21C5-287FC6A73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9BC3AD-1C55-BCE1-B72F-75AE90A25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520F8-B6D9-EFAD-453A-45B7BADA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3D4CF-E010-8CE9-FFBF-AD5366983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E17F9-CF6A-E276-FD68-A571DD69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752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13496-FD08-8E1C-EDB1-598650A1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8523E-4D27-A994-682B-EBDA8A5A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28C3E-3FE1-18B6-F4B8-99626DAC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3048D8-79B8-4B7D-45A5-CE57B340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13AF8-3A43-A3E7-725F-3ECE14F8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98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6A485-1167-676D-1D05-6061A24C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63D9A8-A114-AD1E-2CF0-F75A13B9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437E1-9290-594E-6B20-9D946663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32CCE9-4291-9674-8F7D-8506C895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301DF-BC09-D8C5-E36D-E52AE7BFF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536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3E4CA-0721-F212-D71B-BB55F2D56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55223F-10FD-6412-9479-6DC6E22CE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1FC9A4-FD4E-9DD1-1D0D-48EFAC086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58E68F-B033-A9EC-B9FF-E27659C5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664C30-1237-0BAD-5587-788DAAC4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7563B3-4EAE-8078-28A6-AA38C36C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3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CABCF-F5C7-9FF1-6BDF-765D3F08F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1413FA-2307-9B40-5E74-B1DDC2868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A18DDE-17CE-3679-C9C4-5ACA05F9C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C9BECD-A911-9B08-7D42-1B6197357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7029FC-7EA2-77D3-458B-9B165189F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13545E-8CD7-4F90-58DC-B5DB606C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0D6847-D441-5509-2B6F-4BCEF661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06C106-D10D-0290-32E2-390B2E6B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71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97996-002B-32FB-6DD3-CE96C9FA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6668BE-F435-D990-A6B9-361F73F1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423EE1-C51A-6C8B-6E92-674CFC9B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79F2A9-7768-25AD-944D-7419E32C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89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1A9606-FA48-0D0B-2A8A-DC6E0E13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7A2F0E-4C6D-E8EF-B10E-6F00AD47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5465BE-076D-238F-950A-C59A846E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070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49B29-4531-A80F-4B60-20E91786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3CB544-DC01-252A-C1D7-24BCFE84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E4C3A3-E54C-AE79-8CE8-798BBDF45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012207-A24F-F822-6240-63455800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957EE4-543F-92B7-BD68-1485DE3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46C998-0025-559C-7590-61246DAC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82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C598D1-42D9-3EDE-9A77-51AF45C86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A9B90E5-424F-9EEB-61DF-8F9A79ECB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94EC26-6AA2-89AF-EE0D-2A054C5C2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62813-C6A7-A3BE-CC0D-356FC2D0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4CED1C-9DC8-2F50-7A11-CEF80732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C7BBED-E461-7623-3753-BFAF852A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10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E63D1-91B5-0C5A-D200-109395803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AE33E3-7114-E216-1024-5625E250D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C0635-7755-F1CB-4E3C-EF6356FF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098088-A9FE-AF3A-7CC7-983B8D54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572B12-5B8E-0679-0E3E-B0D1BD3C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62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8BB681-987D-F34F-B5C7-ECCE905DE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AEB52A-F1A0-456C-B753-4F9A88DF8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800A2-851F-C4D3-9186-B68AD08D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3FEC8-5081-8767-45AC-28494959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6FD2D9-7D72-6267-0ABE-6DDF1793F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562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. 제목">
    <p:bg>
      <p:bgPr>
        <a:solidFill>
          <a:srgbClr val="0DB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3"/>
          <p:cNvSpPr>
            <a:spLocks noGrp="1"/>
          </p:cNvSpPr>
          <p:nvPr>
            <p:ph type="body" sz="quarter" idx="13" hasCustomPrompt="1"/>
          </p:nvPr>
        </p:nvSpPr>
        <p:spPr>
          <a:xfrm>
            <a:off x="743511" y="554400"/>
            <a:ext cx="10708800" cy="682190"/>
          </a:xfrm>
        </p:spPr>
        <p:txBody>
          <a:bodyPr lIns="108000" tIns="0" rIns="0" bIns="0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spc="-15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" name="텍스트 개체 틀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11" y="4549910"/>
            <a:ext cx="10708800" cy="3172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소속부서</a:t>
            </a:r>
            <a:r>
              <a:rPr lang="en-US" altLang="ko-KR" dirty="0"/>
              <a:t>, </a:t>
            </a:r>
            <a:r>
              <a:rPr lang="ko-KR" altLang="en-US"/>
              <a:t>작성자</a:t>
            </a:r>
            <a:endParaRPr lang="en-US" altLang="ko-KR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849111" y="4316651"/>
            <a:ext cx="35088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3"/>
          <p:cNvSpPr>
            <a:spLocks noGrp="1"/>
          </p:cNvSpPr>
          <p:nvPr>
            <p:ph type="body" sz="quarter" idx="17" hasCustomPrompt="1"/>
          </p:nvPr>
        </p:nvSpPr>
        <p:spPr>
          <a:xfrm>
            <a:off x="743511" y="1544206"/>
            <a:ext cx="10708800" cy="687795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1" hangingPunct="1">
              <a:lnSpc>
                <a:spcPts val="65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800" b="1" spc="-3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lnSpc>
                <a:spcPts val="6500"/>
              </a:lnSpc>
            </a:pPr>
            <a:r>
              <a:rPr lang="ko-KR" altLang="en-US" dirty="0"/>
              <a:t>제목</a:t>
            </a:r>
            <a:endParaRPr lang="en-US" altLang="ko-KR" sz="6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522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레이아웃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10955" y="214963"/>
            <a:ext cx="10049044" cy="549274"/>
          </a:xfrm>
        </p:spPr>
        <p:txBody>
          <a:bodyPr>
            <a:normAutofit/>
          </a:bodyPr>
          <a:lstStyle>
            <a:lvl1pPr marL="0" indent="0">
              <a:defRPr sz="2200" b="1" spc="-300">
                <a:solidFill>
                  <a:srgbClr val="5F5F5F"/>
                </a:solidFill>
              </a:defRPr>
            </a:lvl1pPr>
          </a:lstStyle>
          <a:p>
            <a:r>
              <a:rPr lang="ko-KR" altLang="en-US" dirty="0"/>
              <a:t>제목</a:t>
            </a:r>
            <a:endParaRPr lang="en-US" dirty="0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510955" y="710214"/>
            <a:ext cx="11681045" cy="0"/>
          </a:xfrm>
          <a:prstGeom prst="line">
            <a:avLst/>
          </a:prstGeom>
          <a:ln w="28575">
            <a:solidFill>
              <a:srgbClr val="00963E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텍스트 개체 틀 18"/>
          <p:cNvSpPr>
            <a:spLocks noGrp="1"/>
          </p:cNvSpPr>
          <p:nvPr>
            <p:ph type="body" sz="quarter" idx="16" hasCustomPrompt="1"/>
          </p:nvPr>
        </p:nvSpPr>
        <p:spPr>
          <a:xfrm>
            <a:off x="510955" y="1536796"/>
            <a:ext cx="11114644" cy="45256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ts val="2500"/>
              </a:lnSpc>
              <a:buNone/>
              <a:defRPr sz="1400" b="0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</a:t>
            </a:r>
          </a:p>
        </p:txBody>
      </p:sp>
      <p:sp>
        <p:nvSpPr>
          <p:cNvPr id="7" name="텍스트 개체 틀 18"/>
          <p:cNvSpPr>
            <a:spLocks noGrp="1"/>
          </p:cNvSpPr>
          <p:nvPr>
            <p:ph type="body" sz="quarter" idx="17" hasCustomPrompt="1"/>
          </p:nvPr>
        </p:nvSpPr>
        <p:spPr>
          <a:xfrm>
            <a:off x="510954" y="1007453"/>
            <a:ext cx="6278899" cy="3960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1500"/>
              </a:lnSpc>
              <a:buNone/>
              <a:defRPr sz="1200" b="1" spc="-70" baseline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042184" y="6612820"/>
            <a:ext cx="989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63F9F94-0DD2-4D1A-94AC-D2F8E17589FC}" type="slidenum">
              <a:rPr lang="en-US" altLang="ko-KR" sz="800" spc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rPr>
              <a:pPr algn="r"/>
              <a:t>‹#›</a:t>
            </a:fld>
            <a:endParaRPr lang="en-US" altLang="ko-KR" sz="800" spc="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3842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2"/>
          <p:cNvSpPr>
            <a:spLocks noGrp="1"/>
          </p:cNvSpPr>
          <p:nvPr>
            <p:ph type="body" idx="11" hasCustomPrompt="1"/>
          </p:nvPr>
        </p:nvSpPr>
        <p:spPr>
          <a:xfrm>
            <a:off x="651776" y="70579"/>
            <a:ext cx="1647763" cy="18929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844083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ko-KR" altLang="en-US" sz="900" b="0" kern="1200" spc="-92" baseline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22041" indent="0">
              <a:buNone/>
              <a:defRPr sz="1662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 fontAlgn="auto" latinLnBrk="0">
              <a:defRPr/>
            </a:pPr>
            <a:r>
              <a:rPr lang="ko-KR" altLang="en-US" dirty="0" err="1"/>
              <a:t>대분류</a:t>
            </a:r>
            <a:endParaRPr lang="ko-KR" altLang="en-US" dirty="0"/>
          </a:p>
        </p:txBody>
      </p:sp>
      <p:cxnSp>
        <p:nvCxnSpPr>
          <p:cNvPr id="40" name="직선 연결선 39"/>
          <p:cNvCxnSpPr/>
          <p:nvPr userDrawn="1"/>
        </p:nvCxnSpPr>
        <p:spPr>
          <a:xfrm>
            <a:off x="95542" y="174196"/>
            <a:ext cx="556233" cy="0"/>
          </a:xfrm>
          <a:prstGeom prst="line">
            <a:avLst/>
          </a:prstGeom>
          <a:ln w="38100">
            <a:solidFill>
              <a:srgbClr val="18AF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>
            <a:endCxn id="42" idx="0"/>
          </p:cNvCxnSpPr>
          <p:nvPr userDrawn="1"/>
        </p:nvCxnSpPr>
        <p:spPr>
          <a:xfrm>
            <a:off x="1" y="747712"/>
            <a:ext cx="12191999" cy="0"/>
          </a:xfrm>
          <a:prstGeom prst="line">
            <a:avLst/>
          </a:prstGeom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부제목 2"/>
          <p:cNvSpPr txBox="1">
            <a:spLocks/>
          </p:cNvSpPr>
          <p:nvPr userDrawn="1"/>
        </p:nvSpPr>
        <p:spPr>
          <a:xfrm>
            <a:off x="80142" y="324513"/>
            <a:ext cx="10716916" cy="396282"/>
          </a:xfrm>
          <a:prstGeom prst="rect">
            <a:avLst/>
          </a:prstGeom>
        </p:spPr>
        <p:txBody>
          <a:bodyPr vert="horz" lIns="84406" tIns="42203" rIns="84406" bIns="42203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kern="1200" spc="-5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800" b="1" i="0" u="none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Revision History</a:t>
            </a:r>
          </a:p>
        </p:txBody>
      </p:sp>
    </p:spTree>
    <p:extLst>
      <p:ext uri="{BB962C8B-B14F-4D97-AF65-F5344CB8AC3E}">
        <p14:creationId xmlns:p14="http://schemas.microsoft.com/office/powerpoint/2010/main" val="362747883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18F411-8512-95B0-827E-7DC93222B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6F07DB-6065-232C-B3C5-3DD46F88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95EF7-7EFF-3793-710A-36D12FB9D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A0020-A76E-4000-83DA-0C46D27B80A5}" type="datetimeFigureOut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F968A-71FF-95A6-02CC-5C0A068E4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4055C-5E88-0027-E1AC-9C70AC68A4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32008-4BE0-41D4-B30F-ADE33B6AE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89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826638" y="997745"/>
            <a:ext cx="10708800" cy="682190"/>
          </a:xfrm>
        </p:spPr>
        <p:txBody>
          <a:bodyPr/>
          <a:lstStyle/>
          <a:p>
            <a:r>
              <a:rPr lang="en-US" altLang="ko-KR" dirty="0"/>
              <a:t>ODC- </a:t>
            </a:r>
            <a:r>
              <a:rPr lang="ko-KR" altLang="en-US" dirty="0"/>
              <a:t>고객추가개발  프로세스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2025.08.06 </a:t>
            </a:r>
            <a:r>
              <a:rPr lang="ko-KR" altLang="en-US" dirty="0" err="1"/>
              <a:t>아시아클라우드사업팀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77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ctrTitle"/>
          </p:nvPr>
        </p:nvSpPr>
        <p:spPr>
          <a:xfrm>
            <a:off x="2085600" y="979200"/>
            <a:ext cx="2865600" cy="1004363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b="1" spc="-200" dirty="0">
                <a:solidFill>
                  <a:srgbClr val="00963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Contents</a:t>
            </a:r>
            <a:endParaRPr lang="ko-KR" altLang="en-US" sz="4800" b="1" spc="-200" dirty="0">
              <a:solidFill>
                <a:srgbClr val="00963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부제목 2"/>
          <p:cNvSpPr>
            <a:spLocks noGrp="1"/>
          </p:cNvSpPr>
          <p:nvPr>
            <p:ph type="subTitle" idx="1"/>
          </p:nvPr>
        </p:nvSpPr>
        <p:spPr>
          <a:xfrm>
            <a:off x="2085600" y="2229357"/>
            <a:ext cx="5724000" cy="3468362"/>
          </a:xfrm>
        </p:spPr>
        <p:txBody>
          <a:bodyPr>
            <a:normAutofit/>
          </a:bodyPr>
          <a:lstStyle/>
          <a:p>
            <a:pPr algn="l"/>
            <a:r>
              <a:rPr lang="en-US" altLang="ko-KR" dirty="0"/>
              <a:t>1. ODC</a:t>
            </a:r>
            <a:r>
              <a:rPr lang="ko-KR" altLang="en-US" dirty="0"/>
              <a:t> 전체 프로세스</a:t>
            </a:r>
            <a:endParaRPr lang="en-US" altLang="ko-KR" dirty="0"/>
          </a:p>
          <a:p>
            <a:pPr algn="l"/>
            <a:r>
              <a:rPr lang="en-US" altLang="ko-KR" dirty="0"/>
              <a:t>2. </a:t>
            </a:r>
            <a:r>
              <a:rPr lang="ko-KR" altLang="en-US" dirty="0"/>
              <a:t>고객 계약 프로세스</a:t>
            </a:r>
            <a:endParaRPr lang="en-US" altLang="ko-KR" dirty="0">
              <a:latin typeface="+mn-lt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algn="l"/>
            <a:r>
              <a:rPr lang="en-US" altLang="ko-KR" dirty="0"/>
              <a:t>3. </a:t>
            </a:r>
            <a:r>
              <a:rPr lang="ko-KR" altLang="en-US" dirty="0"/>
              <a:t>개발 프로세스 </a:t>
            </a:r>
            <a:r>
              <a:rPr lang="en-US" altLang="ko-KR" dirty="0"/>
              <a:t> </a:t>
            </a:r>
          </a:p>
          <a:p>
            <a:pPr algn="l"/>
            <a:r>
              <a:rPr lang="en-US" altLang="ko-KR" dirty="0"/>
              <a:t>4. </a:t>
            </a:r>
            <a:r>
              <a:rPr lang="ko-KR" altLang="en-US" dirty="0"/>
              <a:t>사업팀 </a:t>
            </a:r>
            <a:r>
              <a:rPr lang="en-US" altLang="ko-KR" dirty="0"/>
              <a:t>SEI </a:t>
            </a:r>
            <a:r>
              <a:rPr lang="ko-KR" altLang="en-US" dirty="0"/>
              <a:t>계약 </a:t>
            </a:r>
            <a:endParaRPr lang="en-US" altLang="ko-KR" dirty="0"/>
          </a:p>
          <a:p>
            <a:pPr algn="l"/>
            <a:r>
              <a:rPr lang="en-US" altLang="ko-KR" dirty="0"/>
              <a:t>5. </a:t>
            </a:r>
            <a:r>
              <a:rPr lang="ko-KR" altLang="en-US" dirty="0"/>
              <a:t>프로젝트 산출물</a:t>
            </a:r>
            <a:endParaRPr lang="en-US" altLang="ko-KR" dirty="0"/>
          </a:p>
          <a:p>
            <a:pPr algn="l"/>
            <a:r>
              <a:rPr lang="en-US" altLang="ko-KR" dirty="0"/>
              <a:t>6. </a:t>
            </a:r>
            <a:r>
              <a:rPr lang="ko-KR" altLang="en-US" dirty="0"/>
              <a:t>인수인계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8041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351730"/>
              </p:ext>
            </p:extLst>
          </p:nvPr>
        </p:nvGraphicFramePr>
        <p:xfrm>
          <a:off x="326018" y="859437"/>
          <a:ext cx="8732109" cy="5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27">
                  <a:extLst>
                    <a:ext uri="{9D8B030D-6E8A-4147-A177-3AD203B41FA5}">
                      <a16:colId xmlns:a16="http://schemas.microsoft.com/office/drawing/2014/main" val="1581350603"/>
                    </a:ext>
                  </a:extLst>
                </a:gridCol>
                <a:gridCol w="1039528">
                  <a:extLst>
                    <a:ext uri="{9D8B030D-6E8A-4147-A177-3AD203B41FA5}">
                      <a16:colId xmlns:a16="http://schemas.microsoft.com/office/drawing/2014/main" val="668356081"/>
                    </a:ext>
                  </a:extLst>
                </a:gridCol>
                <a:gridCol w="847023">
                  <a:extLst>
                    <a:ext uri="{9D8B030D-6E8A-4147-A177-3AD203B41FA5}">
                      <a16:colId xmlns:a16="http://schemas.microsoft.com/office/drawing/2014/main" val="457659344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803576337"/>
                    </a:ext>
                  </a:extLst>
                </a:gridCol>
                <a:gridCol w="997211">
                  <a:extLst>
                    <a:ext uri="{9D8B030D-6E8A-4147-A177-3AD203B41FA5}">
                      <a16:colId xmlns:a16="http://schemas.microsoft.com/office/drawing/2014/main" val="217435393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변경사유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02844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kern="120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85004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148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06086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7286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17838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05021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8230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21464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55038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14144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4255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709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48184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409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963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FA554-2DE0-B474-B8EF-7F130A7A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2B62A-EAA4-900F-D48D-B14641869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1. </a:t>
            </a:r>
            <a:r>
              <a:rPr lang="en-US" altLang="ko-KR" dirty="0"/>
              <a:t>ODC</a:t>
            </a:r>
            <a:r>
              <a:rPr lang="ko-KR" altLang="en-US" dirty="0"/>
              <a:t>  전체 프로세스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96C8F3-84CA-EC31-48F3-79E13953E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44" y="975838"/>
            <a:ext cx="10784912" cy="445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83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5B94B-2E4C-D693-6803-03BD1A8D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1. </a:t>
            </a:r>
            <a:r>
              <a:rPr lang="en-US" altLang="ko-KR" dirty="0"/>
              <a:t>ODC</a:t>
            </a:r>
            <a:r>
              <a:rPr lang="ko-KR" altLang="en-US" dirty="0"/>
              <a:t>  계약 프로세스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4A355538-8ADA-2963-F8F3-83A68A06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12" y="721411"/>
            <a:ext cx="9236240" cy="4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91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DEB5-406F-842F-2500-E0C8E602F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altLang="ko-KR" dirty="0"/>
              <a:t>Role </a:t>
            </a:r>
            <a:r>
              <a:rPr lang="ko-KR" altLang="en-US" dirty="0"/>
              <a:t>정의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353674F-A48F-CAE1-A5FA-905C752B2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29933"/>
              </p:ext>
            </p:extLst>
          </p:nvPr>
        </p:nvGraphicFramePr>
        <p:xfrm>
          <a:off x="695960" y="1690688"/>
          <a:ext cx="10515602" cy="4126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180">
                  <a:extLst>
                    <a:ext uri="{9D8B030D-6E8A-4147-A177-3AD203B41FA5}">
                      <a16:colId xmlns:a16="http://schemas.microsoft.com/office/drawing/2014/main" val="2528929426"/>
                    </a:ext>
                  </a:extLst>
                </a:gridCol>
                <a:gridCol w="4270485">
                  <a:extLst>
                    <a:ext uri="{9D8B030D-6E8A-4147-A177-3AD203B41FA5}">
                      <a16:colId xmlns:a16="http://schemas.microsoft.com/office/drawing/2014/main" val="1531432779"/>
                    </a:ext>
                  </a:extLst>
                </a:gridCol>
                <a:gridCol w="1641514">
                  <a:extLst>
                    <a:ext uri="{9D8B030D-6E8A-4147-A177-3AD203B41FA5}">
                      <a16:colId xmlns:a16="http://schemas.microsoft.com/office/drawing/2014/main" val="2890053750"/>
                    </a:ext>
                  </a:extLst>
                </a:gridCol>
                <a:gridCol w="2424985">
                  <a:extLst>
                    <a:ext uri="{9D8B030D-6E8A-4147-A177-3AD203B41FA5}">
                      <a16:colId xmlns:a16="http://schemas.microsoft.com/office/drawing/2014/main" val="2777133831"/>
                    </a:ext>
                  </a:extLst>
                </a:gridCol>
                <a:gridCol w="952438">
                  <a:extLst>
                    <a:ext uri="{9D8B030D-6E8A-4147-A177-3AD203B41FA5}">
                      <a16:colId xmlns:a16="http://schemas.microsoft.com/office/drawing/2014/main" val="1424353078"/>
                    </a:ext>
                  </a:extLst>
                </a:gridCol>
              </a:tblGrid>
              <a:tr h="3892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순서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 dirty="0">
                          <a:effectLst/>
                        </a:rPr>
                        <a:t>업무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고객사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ylw-</a:t>
                      </a:r>
                      <a:r>
                        <a:rPr lang="ko-KR" altLang="en-US" sz="2000" u="none" strike="noStrike">
                          <a:effectLst/>
                        </a:rPr>
                        <a:t>사업부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아시아팀</a:t>
                      </a:r>
                      <a:endParaRPr lang="en-US" sz="20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2388927911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1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요구사항 수집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2646950620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2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요구사항 정제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1316053591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3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As-Is / To-Be </a:t>
                      </a:r>
                      <a:r>
                        <a:rPr lang="ko-KR" altLang="en-US" sz="2000" u="none" strike="noStrike">
                          <a:effectLst/>
                        </a:rPr>
                        <a:t>분석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3259743088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4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GAP </a:t>
                      </a:r>
                      <a:r>
                        <a:rPr lang="ko-KR" altLang="en-US" sz="2000" u="none" strike="noStrike">
                          <a:effectLst/>
                        </a:rPr>
                        <a:t>분석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3208565933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5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구현 방안 및 설계안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3538913807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6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고객 </a:t>
                      </a:r>
                      <a:r>
                        <a:rPr lang="en-US" sz="2000" u="none" strike="noStrike">
                          <a:effectLst/>
                        </a:rPr>
                        <a:t>PJT </a:t>
                      </a:r>
                      <a:r>
                        <a:rPr lang="ko-KR" altLang="en-US" sz="2000" u="none" strike="noStrike">
                          <a:effectLst/>
                        </a:rPr>
                        <a:t>미팅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3576983089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7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견적 작성 및 </a:t>
                      </a:r>
                      <a:r>
                        <a:rPr lang="en-US" altLang="ko-KR" sz="2000" u="none" strike="noStrike">
                          <a:effectLst/>
                        </a:rPr>
                        <a:t>WBS </a:t>
                      </a:r>
                      <a:r>
                        <a:rPr lang="ko-KR" altLang="en-US" sz="2000" u="none" strike="noStrike">
                          <a:effectLst/>
                        </a:rPr>
                        <a:t>일정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1135533579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8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견적 검토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296995235"/>
                  </a:ext>
                </a:extLst>
              </a:tr>
              <a:tr h="389245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2000" u="none" strike="noStrike">
                          <a:effectLst/>
                        </a:rPr>
                        <a:t>9</a:t>
                      </a:r>
                      <a:endParaRPr lang="en-US" altLang="ko-KR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최종 계약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>
                          <a:effectLst/>
                        </a:rPr>
                        <a:t>　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000" u="none" strike="noStrike" dirty="0">
                          <a:effectLst/>
                        </a:rPr>
                        <a:t>　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02" marR="14002" marT="14002" marB="0" anchor="b"/>
                </a:tc>
                <a:extLst>
                  <a:ext uri="{0D108BD9-81ED-4DB2-BD59-A6C34878D82A}">
                    <a16:rowId xmlns:a16="http://schemas.microsoft.com/office/drawing/2014/main" val="860808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231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1AF5-5404-470D-C24B-FAC5A8F0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47EAB-0D23-26A6-BE73-91703DE3E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2. </a:t>
            </a:r>
            <a:r>
              <a:rPr lang="en-US" altLang="ko-KR" dirty="0"/>
              <a:t>ODC</a:t>
            </a:r>
            <a:r>
              <a:rPr lang="ko-KR" altLang="en-US" dirty="0"/>
              <a:t>  개발 프로세스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C94E2D3-CF65-5245-B3F6-AB6DB94D9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42" y="917352"/>
            <a:ext cx="8935042" cy="565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58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416633A-B048-072C-D9CC-4C9EEA4B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93" y="-42422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Role </a:t>
            </a:r>
            <a:r>
              <a:rPr lang="ko-KR" altLang="en-US" sz="2000" dirty="0"/>
              <a:t>정의</a:t>
            </a:r>
            <a:endParaRPr lang="en-US" sz="20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12D6103-DC25-7188-C766-2C96823B1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95494"/>
              </p:ext>
            </p:extLst>
          </p:nvPr>
        </p:nvGraphicFramePr>
        <p:xfrm>
          <a:off x="368593" y="464700"/>
          <a:ext cx="11317161" cy="6303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763">
                  <a:extLst>
                    <a:ext uri="{9D8B030D-6E8A-4147-A177-3AD203B41FA5}">
                      <a16:colId xmlns:a16="http://schemas.microsoft.com/office/drawing/2014/main" val="1419089760"/>
                    </a:ext>
                  </a:extLst>
                </a:gridCol>
                <a:gridCol w="3297690">
                  <a:extLst>
                    <a:ext uri="{9D8B030D-6E8A-4147-A177-3AD203B41FA5}">
                      <a16:colId xmlns:a16="http://schemas.microsoft.com/office/drawing/2014/main" val="574418492"/>
                    </a:ext>
                  </a:extLst>
                </a:gridCol>
                <a:gridCol w="843785">
                  <a:extLst>
                    <a:ext uri="{9D8B030D-6E8A-4147-A177-3AD203B41FA5}">
                      <a16:colId xmlns:a16="http://schemas.microsoft.com/office/drawing/2014/main" val="372335305"/>
                    </a:ext>
                  </a:extLst>
                </a:gridCol>
                <a:gridCol w="1790396">
                  <a:extLst>
                    <a:ext uri="{9D8B030D-6E8A-4147-A177-3AD203B41FA5}">
                      <a16:colId xmlns:a16="http://schemas.microsoft.com/office/drawing/2014/main" val="3687011169"/>
                    </a:ext>
                  </a:extLst>
                </a:gridCol>
                <a:gridCol w="1790396">
                  <a:extLst>
                    <a:ext uri="{9D8B030D-6E8A-4147-A177-3AD203B41FA5}">
                      <a16:colId xmlns:a16="http://schemas.microsoft.com/office/drawing/2014/main" val="3317409598"/>
                    </a:ext>
                  </a:extLst>
                </a:gridCol>
                <a:gridCol w="1919339">
                  <a:extLst>
                    <a:ext uri="{9D8B030D-6E8A-4147-A177-3AD203B41FA5}">
                      <a16:colId xmlns:a16="http://schemas.microsoft.com/office/drawing/2014/main" val="3671736805"/>
                    </a:ext>
                  </a:extLst>
                </a:gridCol>
                <a:gridCol w="1136792">
                  <a:extLst>
                    <a:ext uri="{9D8B030D-6E8A-4147-A177-3AD203B41FA5}">
                      <a16:colId xmlns:a16="http://schemas.microsoft.com/office/drawing/2014/main" val="857975000"/>
                    </a:ext>
                  </a:extLst>
                </a:gridCol>
              </a:tblGrid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순서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업무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고객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아시아팀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>
                          <a:effectLst/>
                        </a:rPr>
                        <a:t>컨설턴트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아시아팀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>
                          <a:effectLst/>
                        </a:rPr>
                        <a:t>개발총괄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SEI - </a:t>
                      </a:r>
                      <a:r>
                        <a:rPr lang="ko-KR" altLang="en-US" sz="1400" u="none" strike="noStrike" dirty="0">
                          <a:effectLst/>
                        </a:rPr>
                        <a:t>컨설턴트</a:t>
                      </a:r>
                      <a:r>
                        <a:rPr lang="en-US" altLang="ko-KR" sz="1400" u="none" strike="noStrike" dirty="0">
                          <a:effectLst/>
                        </a:rPr>
                        <a:t>/</a:t>
                      </a:r>
                      <a:r>
                        <a:rPr lang="ko-KR" altLang="en-US" sz="1400" u="none" strike="noStrike" dirty="0">
                          <a:effectLst/>
                        </a:rPr>
                        <a:t>개발자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SEI - </a:t>
                      </a:r>
                      <a:r>
                        <a:rPr lang="ko-KR" altLang="en-US" sz="1400" u="none" strike="noStrike" dirty="0">
                          <a:effectLst/>
                        </a:rPr>
                        <a:t>개발자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4229633410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1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프로젝트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진행율</a:t>
                      </a:r>
                      <a:r>
                        <a:rPr lang="ko-KR" altLang="en-US" sz="1400" u="none" strike="noStrike" dirty="0">
                          <a:effectLst/>
                        </a:rPr>
                        <a:t> 공유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975334461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프로젝트 전체 일정 관리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2685494215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확정된 요구사항 정리 및 우선순위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719460668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Proas </a:t>
                      </a:r>
                      <a:r>
                        <a:rPr lang="ko-KR" altLang="en-US" sz="1400" u="none" strike="noStrike" dirty="0">
                          <a:effectLst/>
                        </a:rPr>
                        <a:t>프로그램 개발 리스트 등록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2128805774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Proas </a:t>
                      </a:r>
                      <a:r>
                        <a:rPr lang="ko-KR" altLang="en-US" sz="1400" u="none" strike="noStrike" dirty="0">
                          <a:effectLst/>
                        </a:rPr>
                        <a:t>스펙 작성 및 등록 </a:t>
                      </a:r>
                      <a:r>
                        <a:rPr lang="en-US" altLang="ko-KR" sz="1400" u="none" strike="noStrike" dirty="0">
                          <a:effectLst/>
                        </a:rPr>
                        <a:t>(UI+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업무로직</a:t>
                      </a:r>
                      <a:r>
                        <a:rPr lang="en-US" altLang="ko-KR" sz="1400" u="none" strike="noStrike" dirty="0">
                          <a:effectLst/>
                        </a:rPr>
                        <a:t>)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24001215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Proas </a:t>
                      </a:r>
                      <a:r>
                        <a:rPr lang="ko-KR" altLang="en-US" sz="1400" u="none" strike="noStrike">
                          <a:effectLst/>
                        </a:rPr>
                        <a:t>스펙 검토 </a:t>
                      </a:r>
                      <a:r>
                        <a:rPr lang="en-US" altLang="ko-KR" sz="1400" u="none" strike="noStrike">
                          <a:effectLst/>
                        </a:rPr>
                        <a:t>- </a:t>
                      </a:r>
                      <a:r>
                        <a:rPr lang="ko-KR" altLang="en-US" sz="1400" u="none" strike="noStrike">
                          <a:effectLst/>
                        </a:rPr>
                        <a:t>구현 관련 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925796927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상세 설계 및 고객 협의 및 소통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320022782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Proas </a:t>
                      </a:r>
                      <a:r>
                        <a:rPr lang="ko-KR" altLang="en-US" sz="1400" u="none" strike="noStrike" dirty="0">
                          <a:effectLst/>
                        </a:rPr>
                        <a:t>스펙 개발 관련 등록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647903219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개발 담당자 지정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373856558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개발 일정 지정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4233121747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스펙 번역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757877008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스펙 전달 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2394867981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개발자 업무 전달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686622078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개발자 구현 방법 전달 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217720663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프로그램 개발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4244657957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개발 내역 체크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972805832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QC </a:t>
                      </a:r>
                      <a:r>
                        <a:rPr lang="ko-KR" altLang="en-US" sz="1400" u="none" strike="noStrike" dirty="0">
                          <a:effectLst/>
                        </a:rPr>
                        <a:t>배포 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680260927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19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QC </a:t>
                      </a:r>
                      <a:r>
                        <a:rPr lang="ko-KR" altLang="en-US" sz="1400" u="none" strike="noStrike">
                          <a:effectLst/>
                        </a:rPr>
                        <a:t>테스트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972626984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고객 </a:t>
                      </a:r>
                      <a:r>
                        <a:rPr lang="en-US" sz="1400" u="none" strike="noStrike" dirty="0">
                          <a:effectLst/>
                        </a:rPr>
                        <a:t>QC </a:t>
                      </a:r>
                      <a:r>
                        <a:rPr lang="ko-KR" altLang="en-US" sz="1400" u="none" strike="noStrike" dirty="0">
                          <a:effectLst/>
                        </a:rPr>
                        <a:t>테스트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2278891841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시스템 안정화 및 오류 수정 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264316818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22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F1 </a:t>
                      </a:r>
                      <a:r>
                        <a:rPr lang="ko-KR" altLang="en-US" sz="1400" u="none" strike="noStrike" dirty="0">
                          <a:effectLst/>
                        </a:rPr>
                        <a:t>도움말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317016781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23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테스트 결과 보고서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626211668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24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사용자 매뉴얼 및 교육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2997147867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25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프로세스메뉴 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361979389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26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Live </a:t>
                      </a:r>
                      <a:r>
                        <a:rPr lang="ko-KR" altLang="en-US" sz="1400" u="none" strike="noStrike" dirty="0">
                          <a:effectLst/>
                        </a:rPr>
                        <a:t>배포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284701060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27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권한 체크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533030126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28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live </a:t>
                      </a:r>
                      <a:r>
                        <a:rPr lang="ko-KR" altLang="en-US" sz="1400" u="none" strike="noStrike" dirty="0">
                          <a:effectLst/>
                        </a:rPr>
                        <a:t>확인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82129389"/>
                  </a:ext>
                </a:extLst>
              </a:tr>
              <a:tr h="2028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29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고객 확인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　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99" marR="3999" marT="3999" marB="0" anchor="b"/>
                </a:tc>
                <a:extLst>
                  <a:ext uri="{0D108BD9-81ED-4DB2-BD59-A6C34878D82A}">
                    <a16:rowId xmlns:a16="http://schemas.microsoft.com/office/drawing/2014/main" val="1608406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348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521D-A0B3-230E-DD11-FB45445C8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C7336-E1DE-3B8C-2BCD-A8D696F7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3. </a:t>
            </a:r>
            <a:r>
              <a:rPr lang="en-US" altLang="ko-KR" dirty="0"/>
              <a:t>ODC</a:t>
            </a:r>
            <a:r>
              <a:rPr lang="ko-KR" altLang="en-US" dirty="0"/>
              <a:t>  내부 계약 프로세스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81FD661-5FB6-1B61-9CA0-C916FA7C7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982" y="1226629"/>
            <a:ext cx="8718035" cy="440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02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8368F04-0E71-0E8A-25F8-573191CD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96" y="0"/>
            <a:ext cx="10515600" cy="1325563"/>
          </a:xfrm>
        </p:spPr>
        <p:txBody>
          <a:bodyPr/>
          <a:lstStyle/>
          <a:p>
            <a:r>
              <a:rPr lang="en-US" dirty="0"/>
              <a:t>Role </a:t>
            </a:r>
            <a:r>
              <a:rPr lang="ko-KR" altLang="en-US" dirty="0"/>
              <a:t>정의</a:t>
            </a:r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DB07B3-36B7-5604-5A3F-3FDFDB73F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712179"/>
              </p:ext>
            </p:extLst>
          </p:nvPr>
        </p:nvGraphicFramePr>
        <p:xfrm>
          <a:off x="496296" y="1185648"/>
          <a:ext cx="11548221" cy="368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322">
                  <a:extLst>
                    <a:ext uri="{9D8B030D-6E8A-4147-A177-3AD203B41FA5}">
                      <a16:colId xmlns:a16="http://schemas.microsoft.com/office/drawing/2014/main" val="1247335982"/>
                    </a:ext>
                  </a:extLst>
                </a:gridCol>
                <a:gridCol w="5214766">
                  <a:extLst>
                    <a:ext uri="{9D8B030D-6E8A-4147-A177-3AD203B41FA5}">
                      <a16:colId xmlns:a16="http://schemas.microsoft.com/office/drawing/2014/main" val="1939202678"/>
                    </a:ext>
                  </a:extLst>
                </a:gridCol>
                <a:gridCol w="2385577">
                  <a:extLst>
                    <a:ext uri="{9D8B030D-6E8A-4147-A177-3AD203B41FA5}">
                      <a16:colId xmlns:a16="http://schemas.microsoft.com/office/drawing/2014/main" val="3118315218"/>
                    </a:ext>
                  </a:extLst>
                </a:gridCol>
                <a:gridCol w="1465007">
                  <a:extLst>
                    <a:ext uri="{9D8B030D-6E8A-4147-A177-3AD203B41FA5}">
                      <a16:colId xmlns:a16="http://schemas.microsoft.com/office/drawing/2014/main" val="3661636050"/>
                    </a:ext>
                  </a:extLst>
                </a:gridCol>
                <a:gridCol w="1081549">
                  <a:extLst>
                    <a:ext uri="{9D8B030D-6E8A-4147-A177-3AD203B41FA5}">
                      <a16:colId xmlns:a16="http://schemas.microsoft.com/office/drawing/2014/main" val="311339626"/>
                    </a:ext>
                  </a:extLst>
                </a:gridCol>
              </a:tblGrid>
              <a:tr h="11384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 dirty="0">
                          <a:effectLst/>
                        </a:rPr>
                        <a:t>순서</a:t>
                      </a:r>
                      <a:endParaRPr lang="ko-KR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 dirty="0">
                          <a:effectLst/>
                        </a:rPr>
                        <a:t>업무</a:t>
                      </a:r>
                      <a:endParaRPr lang="ko-KR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 dirty="0" err="1">
                          <a:effectLst/>
                        </a:rPr>
                        <a:t>ylw</a:t>
                      </a:r>
                      <a:r>
                        <a:rPr lang="en-US" sz="3300" u="none" strike="noStrike" dirty="0">
                          <a:effectLst/>
                        </a:rPr>
                        <a:t>-</a:t>
                      </a:r>
                      <a:r>
                        <a:rPr lang="ko-KR" altLang="en-US" sz="3300" u="none" strike="noStrike" dirty="0">
                          <a:effectLst/>
                        </a:rPr>
                        <a:t>사업부</a:t>
                      </a:r>
                      <a:endParaRPr lang="ko-KR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 dirty="0" err="1">
                          <a:effectLst/>
                        </a:rPr>
                        <a:t>재무팀</a:t>
                      </a:r>
                      <a:endParaRPr lang="ko-KR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b="0" i="0" u="none" strike="noStrike" dirty="0">
                          <a:solidFill>
                            <a:schemeClr val="bg1"/>
                          </a:solidFill>
                          <a:effectLst/>
                          <a:latin typeface="Helvetica" panose="020B0604020202020204" pitchFamily="34" charset="0"/>
                          <a:ea typeface="맑은 고딕" panose="020B0503020000020004" pitchFamily="50" charset="-127"/>
                        </a:rPr>
                        <a:t>아시아팀</a:t>
                      </a:r>
                      <a:endParaRPr lang="en-US" sz="3300" b="0" i="0" u="none" strike="noStrike" dirty="0">
                        <a:solidFill>
                          <a:schemeClr val="bg1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325791874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1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PJT </a:t>
                      </a:r>
                      <a:r>
                        <a:rPr lang="ko-KR" altLang="en-US" sz="3300" u="none" strike="noStrike">
                          <a:effectLst/>
                        </a:rPr>
                        <a:t>기안서 작성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120187865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2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PJT </a:t>
                      </a:r>
                      <a:r>
                        <a:rPr lang="ko-KR" altLang="en-US" sz="3300" u="none" strike="noStrike">
                          <a:effectLst/>
                        </a:rPr>
                        <a:t>승인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3991560366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3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SEI - </a:t>
                      </a:r>
                      <a:r>
                        <a:rPr lang="ko-KR" altLang="en-US" sz="3300" u="none" strike="noStrike">
                          <a:effectLst/>
                        </a:rPr>
                        <a:t>기안서 작성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567405947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4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SEI - </a:t>
                      </a:r>
                      <a:r>
                        <a:rPr lang="ko-KR" altLang="en-US" sz="3300" u="none" strike="noStrike">
                          <a:effectLst/>
                        </a:rPr>
                        <a:t>기안서 작성 승인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 dirty="0">
                          <a:effectLst/>
                        </a:rPr>
                        <a:t>　</a:t>
                      </a:r>
                      <a:endParaRPr lang="ko-KR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365693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691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D0CA3-62A0-9976-3491-3C0A3B7C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33851-879B-1498-A95D-4C65371C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</a:rPr>
              <a:t>4. </a:t>
            </a:r>
            <a:r>
              <a:rPr lang="ko-KR" altLang="en-US" spc="0" dirty="0">
                <a:latin typeface="+mn-ea"/>
              </a:rPr>
              <a:t>인수인계</a:t>
            </a:r>
            <a:r>
              <a:rPr lang="ko-KR" altLang="en-US" dirty="0"/>
              <a:t> 프로세스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16A643B-AA08-DCC6-C942-6F386448B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91" y="1556629"/>
            <a:ext cx="9198137" cy="31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16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4370AE4-6F75-988D-2599-378B2057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989"/>
            <a:ext cx="10515600" cy="1325563"/>
          </a:xfrm>
        </p:spPr>
        <p:txBody>
          <a:bodyPr/>
          <a:lstStyle/>
          <a:p>
            <a:r>
              <a:rPr lang="en-US" altLang="ko-KR" dirty="0"/>
              <a:t>Role </a:t>
            </a:r>
            <a:r>
              <a:rPr lang="ko-KR" altLang="en-US" dirty="0"/>
              <a:t>정의</a:t>
            </a:r>
            <a:endParaRPr 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DE94201-688B-9142-C5A6-6F5AA5386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10630"/>
              </p:ext>
            </p:extLst>
          </p:nvPr>
        </p:nvGraphicFramePr>
        <p:xfrm>
          <a:off x="838200" y="1210966"/>
          <a:ext cx="11109960" cy="3177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224">
                  <a:extLst>
                    <a:ext uri="{9D8B030D-6E8A-4147-A177-3AD203B41FA5}">
                      <a16:colId xmlns:a16="http://schemas.microsoft.com/office/drawing/2014/main" val="873095157"/>
                    </a:ext>
                  </a:extLst>
                </a:gridCol>
                <a:gridCol w="5881736">
                  <a:extLst>
                    <a:ext uri="{9D8B030D-6E8A-4147-A177-3AD203B41FA5}">
                      <a16:colId xmlns:a16="http://schemas.microsoft.com/office/drawing/2014/main" val="2818669029"/>
                    </a:ext>
                  </a:extLst>
                </a:gridCol>
                <a:gridCol w="2096995">
                  <a:extLst>
                    <a:ext uri="{9D8B030D-6E8A-4147-A177-3AD203B41FA5}">
                      <a16:colId xmlns:a16="http://schemas.microsoft.com/office/drawing/2014/main" val="489004767"/>
                    </a:ext>
                  </a:extLst>
                </a:gridCol>
                <a:gridCol w="1713005">
                  <a:extLst>
                    <a:ext uri="{9D8B030D-6E8A-4147-A177-3AD203B41FA5}">
                      <a16:colId xmlns:a16="http://schemas.microsoft.com/office/drawing/2014/main" val="1554631956"/>
                    </a:ext>
                  </a:extLst>
                </a:gridCol>
              </a:tblGrid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순서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 dirty="0">
                          <a:effectLst/>
                        </a:rPr>
                        <a:t>업무</a:t>
                      </a:r>
                      <a:endParaRPr lang="ko-KR" alt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b="0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아시아팀</a:t>
                      </a:r>
                      <a:endParaRPr lang="en-US" sz="3300" b="0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AS </a:t>
                      </a:r>
                      <a:r>
                        <a:rPr lang="ko-KR" altLang="en-US" sz="3300" u="none" strike="noStrike">
                          <a:effectLst/>
                        </a:rPr>
                        <a:t>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87872791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1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산출물 등록 및 인수인계 신청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2896115130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2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인수인계 내용 확인 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1679207633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3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인수인계 자료 보완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>
                          <a:effectLst/>
                        </a:rPr>
                        <a:t>R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1465252004"/>
                  </a:ext>
                </a:extLst>
              </a:tr>
              <a:tr h="6355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3300" u="none" strike="noStrike">
                          <a:effectLst/>
                        </a:rPr>
                        <a:t>4</a:t>
                      </a:r>
                      <a:endParaRPr lang="en-US" altLang="ko-KR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승인 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3300" u="none" strike="noStrike">
                          <a:effectLst/>
                        </a:rPr>
                        <a:t>　</a:t>
                      </a:r>
                      <a:endParaRPr lang="ko-KR" altLang="en-US" sz="3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300" u="none" strike="noStrike" dirty="0">
                          <a:effectLst/>
                        </a:rPr>
                        <a:t>R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60" marR="22860" marT="22860" marB="0" anchor="b"/>
                </a:tc>
                <a:extLst>
                  <a:ext uri="{0D108BD9-81ED-4DB2-BD59-A6C34878D82A}">
                    <a16:rowId xmlns:a16="http://schemas.microsoft.com/office/drawing/2014/main" val="489251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46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7F823-5F7B-3F7B-B1C1-0E01FFB4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119318"/>
            <a:ext cx="10515600" cy="1325563"/>
          </a:xfrm>
        </p:spPr>
        <p:txBody>
          <a:bodyPr/>
          <a:lstStyle/>
          <a:p>
            <a:r>
              <a:rPr lang="en-US" altLang="ko-KR" dirty="0"/>
              <a:t>Role </a:t>
            </a:r>
            <a:r>
              <a:rPr lang="ko-KR" altLang="en-US" dirty="0"/>
              <a:t>정의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8FE64BA-F8B2-D315-B260-BEFB18389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370293"/>
              </p:ext>
            </p:extLst>
          </p:nvPr>
        </p:nvGraphicFramePr>
        <p:xfrm>
          <a:off x="643465" y="1620054"/>
          <a:ext cx="10905069" cy="3914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934">
                  <a:extLst>
                    <a:ext uri="{9D8B030D-6E8A-4147-A177-3AD203B41FA5}">
                      <a16:colId xmlns:a16="http://schemas.microsoft.com/office/drawing/2014/main" val="4071332509"/>
                    </a:ext>
                  </a:extLst>
                </a:gridCol>
                <a:gridCol w="3883512">
                  <a:extLst>
                    <a:ext uri="{9D8B030D-6E8A-4147-A177-3AD203B41FA5}">
                      <a16:colId xmlns:a16="http://schemas.microsoft.com/office/drawing/2014/main" val="4169269622"/>
                    </a:ext>
                  </a:extLst>
                </a:gridCol>
                <a:gridCol w="2862413">
                  <a:extLst>
                    <a:ext uri="{9D8B030D-6E8A-4147-A177-3AD203B41FA5}">
                      <a16:colId xmlns:a16="http://schemas.microsoft.com/office/drawing/2014/main" val="2961767539"/>
                    </a:ext>
                  </a:extLst>
                </a:gridCol>
                <a:gridCol w="1607731">
                  <a:extLst>
                    <a:ext uri="{9D8B030D-6E8A-4147-A177-3AD203B41FA5}">
                      <a16:colId xmlns:a16="http://schemas.microsoft.com/office/drawing/2014/main" val="2794773849"/>
                    </a:ext>
                  </a:extLst>
                </a:gridCol>
                <a:gridCol w="1684479">
                  <a:extLst>
                    <a:ext uri="{9D8B030D-6E8A-4147-A177-3AD203B41FA5}">
                      <a16:colId xmlns:a16="http://schemas.microsoft.com/office/drawing/2014/main" val="2645952260"/>
                    </a:ext>
                  </a:extLst>
                </a:gridCol>
              </a:tblGrid>
              <a:tr h="7976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순서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업무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 dirty="0">
                          <a:effectLst/>
                        </a:rPr>
                        <a:t>아시아팀 </a:t>
                      </a:r>
                      <a:r>
                        <a:rPr lang="en-US" altLang="ko-KR" sz="2300" u="none" strike="noStrike" dirty="0">
                          <a:effectLst/>
                        </a:rPr>
                        <a:t>- </a:t>
                      </a:r>
                      <a:r>
                        <a:rPr lang="ko-KR" altLang="en-US" sz="2300" u="none" strike="noStrike" dirty="0">
                          <a:effectLst/>
                        </a:rPr>
                        <a:t>컨설턴트</a:t>
                      </a:r>
                      <a:endParaRPr lang="ko-KR" alt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아시아팀 </a:t>
                      </a:r>
                      <a:r>
                        <a:rPr lang="en-US" altLang="ko-KR" sz="2300" u="none" strike="noStrike">
                          <a:effectLst/>
                        </a:rPr>
                        <a:t>- </a:t>
                      </a:r>
                      <a:r>
                        <a:rPr lang="ko-KR" altLang="en-US" sz="2300" u="none" strike="noStrike">
                          <a:effectLst/>
                        </a:rPr>
                        <a:t>개발총괄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 err="1">
                          <a:effectLst/>
                        </a:rPr>
                        <a:t>ylw</a:t>
                      </a:r>
                      <a:r>
                        <a:rPr lang="en-US" sz="2300" u="none" strike="noStrike">
                          <a:effectLst/>
                        </a:rPr>
                        <a:t>-</a:t>
                      </a:r>
                      <a:r>
                        <a:rPr lang="ko-KR" altLang="en-US" sz="2300" u="none" strike="noStrike">
                          <a:effectLst/>
                        </a:rPr>
                        <a:t>사업부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1910647946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1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요구사항 </a:t>
                      </a:r>
                      <a:r>
                        <a:rPr lang="en-US" sz="2300" u="none" strike="noStrike">
                          <a:effectLst/>
                        </a:rPr>
                        <a:t>as is -&gt; to be </a:t>
                      </a:r>
                      <a:r>
                        <a:rPr lang="ko-KR" altLang="en-US" sz="2300" u="none" strike="noStrike">
                          <a:effectLst/>
                        </a:rPr>
                        <a:t>정의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82261907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2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스펙 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288483071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3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개발 관련 정리건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2515983128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4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테스트 결과 보고서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4085573303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5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사용자 교육 매뉴얼 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1184331692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6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F1 </a:t>
                      </a:r>
                      <a:r>
                        <a:rPr lang="ko-KR" altLang="en-US" sz="2300" u="none" strike="noStrike">
                          <a:effectLst/>
                        </a:rPr>
                        <a:t>도움말 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748875494"/>
                  </a:ext>
                </a:extLst>
              </a:tr>
              <a:tr h="4452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2300" u="none" strike="noStrike">
                          <a:effectLst/>
                        </a:rPr>
                        <a:t>7</a:t>
                      </a:r>
                      <a:endParaRPr lang="en-US" altLang="ko-KR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프로세스메뉴 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>
                          <a:effectLst/>
                        </a:rPr>
                        <a:t>　</a:t>
                      </a:r>
                      <a:endParaRPr lang="ko-KR" alt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300" u="none" strike="noStrike">
                          <a:effectLst/>
                        </a:rPr>
                        <a:t>R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2300" u="none" strike="noStrike" dirty="0">
                          <a:effectLst/>
                        </a:rPr>
                        <a:t>　</a:t>
                      </a:r>
                      <a:endParaRPr lang="ko-KR" alt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017" marR="16017" marT="16017" marB="0" anchor="b"/>
                </a:tc>
                <a:extLst>
                  <a:ext uri="{0D108BD9-81ED-4DB2-BD59-A6C34878D82A}">
                    <a16:rowId xmlns:a16="http://schemas.microsoft.com/office/drawing/2014/main" val="2894847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971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758</Words>
  <Application>Microsoft Office PowerPoint</Application>
  <PresentationFormat>와이드스크린</PresentationFormat>
  <Paragraphs>388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나눔고딕</vt:lpstr>
      <vt:lpstr>맑은 고딕</vt:lpstr>
      <vt:lpstr>Arial</vt:lpstr>
      <vt:lpstr>Helvetica</vt:lpstr>
      <vt:lpstr>Office 테마</vt:lpstr>
      <vt:lpstr>PowerPoint 프레젠테이션</vt:lpstr>
      <vt:lpstr>Contents</vt:lpstr>
      <vt:lpstr>PowerPoint 프레젠테이션</vt:lpstr>
      <vt:lpstr>1. ODC  전체 프로세스</vt:lpstr>
      <vt:lpstr>1. ODC  계약 프로세스</vt:lpstr>
      <vt:lpstr>Role 정의</vt:lpstr>
      <vt:lpstr>2. ODC  개발 프로세스 </vt:lpstr>
      <vt:lpstr>Role 정의</vt:lpstr>
      <vt:lpstr>3. ODC  내부 계약 프로세스 </vt:lpstr>
      <vt:lpstr>Role 정의</vt:lpstr>
      <vt:lpstr>4. 인수인계 프로세스 </vt:lpstr>
      <vt:lpstr>Role 정의</vt:lpstr>
      <vt:lpstr>Role 정의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명남</dc:creator>
  <cp:lastModifiedBy>김 명남</cp:lastModifiedBy>
  <cp:revision>29</cp:revision>
  <dcterms:created xsi:type="dcterms:W3CDTF">2025-08-06T04:42:46Z</dcterms:created>
  <dcterms:modified xsi:type="dcterms:W3CDTF">2025-08-06T09:23:26Z</dcterms:modified>
</cp:coreProperties>
</file>