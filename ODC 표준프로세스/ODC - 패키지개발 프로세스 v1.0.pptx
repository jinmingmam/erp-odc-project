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471" r:id="rId2"/>
    <p:sldId id="472" r:id="rId3"/>
    <p:sldId id="610" r:id="rId4"/>
    <p:sldId id="612" r:id="rId5"/>
    <p:sldId id="611" r:id="rId6"/>
    <p:sldId id="616" r:id="rId7"/>
    <p:sldId id="613" r:id="rId8"/>
    <p:sldId id="617" r:id="rId9"/>
    <p:sldId id="614" r:id="rId10"/>
    <p:sldId id="618" r:id="rId11"/>
    <p:sldId id="615" r:id="rId12"/>
    <p:sldId id="619" r:id="rId13"/>
    <p:sldId id="623" r:id="rId14"/>
    <p:sldId id="622" r:id="rId15"/>
    <p:sldId id="624" r:id="rId16"/>
    <p:sldId id="625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DDFCC9-A626-4D44-B3DD-09CDFF7B1702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B9A965-9970-471B-85F0-006B47D14D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803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altLang="ko-K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ko-KR" altLang="en-US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다우오피스</a:t>
            </a:r>
            <a:r>
              <a:rPr lang="ko-KR" alt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고도화 후 </a:t>
            </a:r>
            <a:r>
              <a:rPr lang="ko-KR" altLang="en-US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변경내역</a:t>
            </a:r>
            <a:r>
              <a:rPr lang="en-US" altLang="ko-K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</a:p>
          <a:p>
            <a:pPr rtl="0"/>
            <a:r>
              <a:rPr lang="en-US" altLang="ko-K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</a:t>
            </a:r>
            <a:r>
              <a:rPr lang="ko-KR" altLang="en-US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연동양식</a:t>
            </a:r>
            <a:r>
              <a:rPr lang="ko-KR" alt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추가 </a:t>
            </a: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PMS : (PMS)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구매요청서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(PMS)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구매품의서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(PMS)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구매발주서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endParaRPr lang="ko-KR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MFG :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외주발주서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수출주문서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수출출하의뢰서</a:t>
            </a:r>
          </a:p>
          <a:p>
            <a:pPr rtl="0"/>
            <a:endParaRPr lang="ko-KR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altLang="ko-K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</a:t>
            </a:r>
            <a:r>
              <a:rPr lang="ko-KR" alt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연동서식관련 </a:t>
            </a:r>
            <a:r>
              <a:rPr lang="ko-KR" altLang="en-US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개선내역</a:t>
            </a:r>
            <a:r>
              <a:rPr lang="ko-KR" alt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1)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전표양식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기능개선 내역</a:t>
            </a: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회계전표번호 반영</a:t>
            </a: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기존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최종결재완료 후 승인번호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전표양식에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표기하지 못함</a:t>
            </a: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변경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최종결재완료 후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회계전표번호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 </a:t>
            </a:r>
            <a:endParaRPr lang="ko-KR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ERP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 그룹웨어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최종결재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승인자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로 표기</a:t>
            </a: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기존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ERP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에서 전표기표자가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승인자로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조회됨</a:t>
            </a: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변경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그룹웨어 최종결재자가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승인자로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조회됨</a:t>
            </a:r>
          </a:p>
          <a:p>
            <a:pPr rtl="0"/>
            <a:endParaRPr lang="ko-KR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2) 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그룹웨어 결재 시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ERP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관련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체크메세지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표시</a:t>
            </a: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ERP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상에서 확정하지 못하는 사유에 대해 그룹웨어에서 확인 가능</a:t>
            </a: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예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[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영림원소프트랩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 "71001"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예산초과된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자료는 처리할 수 없습니다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(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전표행번호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계정과목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예산관리단위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ko-KR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영림원소프트랩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 "71001" 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업무 마감이 되었습니다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ko-KR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3) 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전자결재문서가 이중으로 처리되지 못하도록 보완</a:t>
            </a:r>
          </a:p>
          <a:p>
            <a:pPr rtl="0"/>
            <a:endParaRPr lang="ko-KR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altLang="ko-K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</a:t>
            </a:r>
            <a:r>
              <a:rPr lang="ko-KR" alt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연동설정관련 개선 내역</a:t>
            </a: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1) </a:t>
            </a:r>
            <a:r>
              <a:rPr lang="en-US" altLang="ko-K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SystemEver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포털을 통한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고객연동키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발급 및 그룹웨어에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설정내역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전송</a:t>
            </a: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2) 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그룹웨어에서 전자결재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양식설정을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간편하게 할 수 있도록 기능개선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샘플양식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생성 후 수정할 수 있도록 함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ko-KR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3) ERP-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그룹웨어 사원정보 매핑을 사원번호로만 할 수 있도록 개선	</a:t>
            </a:r>
          </a:p>
          <a:p>
            <a:pPr rtl="0"/>
            <a:endParaRPr lang="ko-KR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672CF6-B181-46E1-BD97-36CD085B3B4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87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B1CE7E-C0A0-93D0-21C5-287FC6A73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9BC3AD-1C55-BCE1-B72F-75AE90A25E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1520F8-B6D9-EFAD-453A-45B7BADA3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0020-A76E-4000-83DA-0C46D27B80A5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53D4CF-E010-8CE9-FFBF-AD5366983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CE17F9-CF6A-E276-FD68-A571DD69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752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713496-FD08-8E1C-EDB1-598650A1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48523E-4D27-A994-682B-EBDA8A5A3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728C3E-3FE1-18B6-F4B8-99626DAC9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0020-A76E-4000-83DA-0C46D27B80A5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3048D8-79B8-4B7D-45A5-CE57B340E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313AF8-3A43-A3E7-725F-3ECE14F82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989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C6A485-1167-676D-1D05-6061A24C9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63D9A8-A114-AD1E-2CF0-F75A13B9A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C437E1-9290-594E-6B20-9D9466635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0020-A76E-4000-83DA-0C46D27B80A5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32CCE9-4291-9674-8F7D-8506C8954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E301DF-BC09-D8C5-E36D-E52AE7BFF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2536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3E4CA-0721-F212-D71B-BB55F2D56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55223F-10FD-6412-9479-6DC6E22CE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1FC9A4-FD4E-9DD1-1D0D-48EFAC086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58E68F-B033-A9EC-B9FF-E27659C54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0020-A76E-4000-83DA-0C46D27B80A5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664C30-1237-0BAD-5587-788DAAC4B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7563B3-4EAE-8078-28A6-AA38C36C0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35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CABCF-F5C7-9FF1-6BDF-765D3F08F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1413FA-2307-9B40-5E74-B1DDC2868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A18DDE-17CE-3679-C9C4-5ACA05F9C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DC9BECD-A911-9B08-7D42-1B6197357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7029FC-7EA2-77D3-458B-9B165189F9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913545E-8CD7-4F90-58DC-B5DB606C4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0020-A76E-4000-83DA-0C46D27B80A5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A0D6847-D441-5509-2B6F-4BCEF661D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06C106-D10D-0290-32E2-390B2E6BD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717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697996-002B-32FB-6DD3-CE96C9FA1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6668BE-F435-D990-A6B9-361F73F1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0020-A76E-4000-83DA-0C46D27B80A5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423EE1-C51A-6C8B-6E92-674CFC9BF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79F2A9-7768-25AD-944D-7419E32C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1890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1A9606-FA48-0D0B-2A8A-DC6E0E13E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0020-A76E-4000-83DA-0C46D27B80A5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7A2F0E-4C6D-E8EF-B10E-6F00AD471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5465BE-076D-238F-950A-C59A846EF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070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949B29-4531-A80F-4B60-20E917860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3CB544-DC01-252A-C1D7-24BCFE846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E4C3A3-E54C-AE79-8CE8-798BBDF45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012207-A24F-F822-6240-63455800D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0020-A76E-4000-83DA-0C46D27B80A5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957EE4-543F-92B7-BD68-1485DE396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46C998-0025-559C-7590-61246DACB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826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C598D1-42D9-3EDE-9A77-51AF45C86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9B90E5-424F-9EEB-61DF-8F9A79ECBF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94EC26-6AA2-89AF-EE0D-2A054C5C2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A62813-C6A7-A3BE-CC0D-356FC2D04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0020-A76E-4000-83DA-0C46D27B80A5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4CED1C-9DC8-2F50-7A11-CEF807323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C7BBED-E461-7623-3753-BFAF852A5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101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E63D1-91B5-0C5A-D200-109395803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AE33E3-7114-E216-1024-5625E250D0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6C0635-7755-F1CB-4E3C-EF6356FFC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0020-A76E-4000-83DA-0C46D27B80A5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098088-A9FE-AF3A-7CC7-983B8D543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572B12-5B8E-0679-0E3E-B0D1BD3C5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620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88BB681-987D-F34F-B5C7-ECCE905DE8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AEB52A-F1A0-456C-B753-4F9A88DF8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8800A2-851F-C4D3-9186-B68AD08D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0020-A76E-4000-83DA-0C46D27B80A5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F3FEC8-5081-8767-45AC-284949591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6FD2D9-7D72-6267-0ABE-6DDF1793F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562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. 제목">
    <p:bg>
      <p:bgPr>
        <a:solidFill>
          <a:srgbClr val="0DB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743511" y="554400"/>
            <a:ext cx="10708800" cy="682190"/>
          </a:xfrm>
        </p:spPr>
        <p:txBody>
          <a:bodyPr lIns="108000" tIns="0" rIns="0" bIns="0">
            <a:noAutofit/>
          </a:bodyPr>
          <a:lstStyle>
            <a:lvl1pPr marL="0" marR="0" indent="0" algn="l" defTabSz="914400" rtl="0" eaLnBrk="1" fontAlgn="auto" latinLnBrk="1" hangingPunct="1">
              <a:lnSpc>
                <a:spcPts val="6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1" spc="-1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ts val="6500"/>
              </a:lnSpc>
            </a:pP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제목</a:t>
            </a:r>
            <a:endParaRPr lang="en-US" altLang="ko-KR" sz="64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텍스트 개체 틀 5"/>
          <p:cNvSpPr>
            <a:spLocks noGrp="1"/>
          </p:cNvSpPr>
          <p:nvPr>
            <p:ph type="body" sz="quarter" idx="15" hasCustomPrompt="1"/>
          </p:nvPr>
        </p:nvSpPr>
        <p:spPr>
          <a:xfrm>
            <a:off x="743511" y="4549910"/>
            <a:ext cx="10708800" cy="31729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날짜</a:t>
            </a:r>
            <a:r>
              <a:rPr lang="en-US" altLang="ko-KR" dirty="0"/>
              <a:t>, </a:t>
            </a:r>
            <a:r>
              <a:rPr lang="ko-KR" altLang="en-US" dirty="0"/>
              <a:t>소속부서</a:t>
            </a:r>
            <a:r>
              <a:rPr lang="en-US" altLang="ko-KR" dirty="0"/>
              <a:t>, </a:t>
            </a:r>
            <a:r>
              <a:rPr lang="ko-KR" altLang="en-US"/>
              <a:t>작성자</a:t>
            </a:r>
            <a:endParaRPr lang="en-US" altLang="ko-KR" dirty="0"/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849111" y="4316651"/>
            <a:ext cx="35088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3"/>
          <p:cNvSpPr>
            <a:spLocks noGrp="1"/>
          </p:cNvSpPr>
          <p:nvPr>
            <p:ph type="body" sz="quarter" idx="17" hasCustomPrompt="1"/>
          </p:nvPr>
        </p:nvSpPr>
        <p:spPr>
          <a:xfrm>
            <a:off x="743511" y="1544206"/>
            <a:ext cx="10708800" cy="687795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1" hangingPunct="1">
              <a:lnSpc>
                <a:spcPts val="6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800" b="1" spc="-3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ts val="6500"/>
              </a:lnSpc>
            </a:pPr>
            <a:r>
              <a:rPr lang="ko-KR" altLang="en-US" dirty="0"/>
              <a:t>제목</a:t>
            </a:r>
            <a:endParaRPr lang="en-US" altLang="ko-KR" sz="6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5228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레이아웃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10955" y="214963"/>
            <a:ext cx="10049044" cy="549274"/>
          </a:xfrm>
        </p:spPr>
        <p:txBody>
          <a:bodyPr>
            <a:normAutofit/>
          </a:bodyPr>
          <a:lstStyle>
            <a:lvl1pPr marL="0" indent="0">
              <a:defRPr sz="2200" b="1" spc="-300">
                <a:solidFill>
                  <a:srgbClr val="5F5F5F"/>
                </a:solidFill>
              </a:defRPr>
            </a:lvl1pPr>
          </a:lstStyle>
          <a:p>
            <a:r>
              <a:rPr lang="ko-KR" altLang="en-US" dirty="0"/>
              <a:t>제목</a:t>
            </a:r>
            <a:endParaRPr 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510955" y="710214"/>
            <a:ext cx="11681045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텍스트 개체 틀 18"/>
          <p:cNvSpPr>
            <a:spLocks noGrp="1"/>
          </p:cNvSpPr>
          <p:nvPr>
            <p:ph type="body" sz="quarter" idx="16" hasCustomPrompt="1"/>
          </p:nvPr>
        </p:nvSpPr>
        <p:spPr>
          <a:xfrm>
            <a:off x="510955" y="1536796"/>
            <a:ext cx="11114644" cy="452560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ts val="2500"/>
              </a:lnSpc>
              <a:buNone/>
              <a:defRPr sz="1400" b="0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</a:t>
            </a:r>
          </a:p>
        </p:txBody>
      </p:sp>
      <p:sp>
        <p:nvSpPr>
          <p:cNvPr id="7" name="텍스트 개체 틀 18"/>
          <p:cNvSpPr>
            <a:spLocks noGrp="1"/>
          </p:cNvSpPr>
          <p:nvPr>
            <p:ph type="body" sz="quarter" idx="17" hasCustomPrompt="1"/>
          </p:nvPr>
        </p:nvSpPr>
        <p:spPr>
          <a:xfrm>
            <a:off x="510954" y="1007453"/>
            <a:ext cx="6278899" cy="3960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ts val="1500"/>
              </a:lnSpc>
              <a:buNone/>
              <a:defRPr sz="1200" b="1" spc="-70" baseline="0">
                <a:solidFill>
                  <a:srgbClr val="009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63F9F94-0DD2-4D1A-94AC-D2F8E17589FC}" type="slidenum">
              <a:rPr lang="en-US" altLang="ko-KR" sz="800" spc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pPr algn="r"/>
              <a:t>‹#›</a:t>
            </a:fld>
            <a:endParaRPr lang="en-US" altLang="ko-KR" sz="800" spc="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13842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텍스트 개체 틀 2"/>
          <p:cNvSpPr>
            <a:spLocks noGrp="1"/>
          </p:cNvSpPr>
          <p:nvPr>
            <p:ph type="body" idx="11" hasCustomPrompt="1"/>
          </p:nvPr>
        </p:nvSpPr>
        <p:spPr>
          <a:xfrm>
            <a:off x="651776" y="70579"/>
            <a:ext cx="1647763" cy="18929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844083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ko-KR" altLang="en-US" sz="900" b="0" kern="1200" spc="-92" baseline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22041" indent="0">
              <a:buNone/>
              <a:defRPr sz="1662"/>
            </a:lvl2pPr>
            <a:lvl3pPr marL="844083" indent="0">
              <a:buNone/>
              <a:defRPr sz="1477"/>
            </a:lvl3pPr>
            <a:lvl4pPr marL="1266124" indent="0">
              <a:buNone/>
              <a:defRPr sz="1292"/>
            </a:lvl4pPr>
            <a:lvl5pPr marL="1688165" indent="0">
              <a:buNone/>
              <a:defRPr sz="1292"/>
            </a:lvl5pPr>
            <a:lvl6pPr marL="2110207" indent="0">
              <a:buNone/>
              <a:defRPr sz="1292"/>
            </a:lvl6pPr>
            <a:lvl7pPr marL="2532248" indent="0">
              <a:buNone/>
              <a:defRPr sz="1292"/>
            </a:lvl7pPr>
            <a:lvl8pPr marL="2954289" indent="0">
              <a:buNone/>
              <a:defRPr sz="1292"/>
            </a:lvl8pPr>
            <a:lvl9pPr marL="3376331" indent="0">
              <a:buNone/>
              <a:defRPr sz="1292"/>
            </a:lvl9pPr>
          </a:lstStyle>
          <a:p>
            <a:pPr lvl="0" fontAlgn="auto" latinLnBrk="0">
              <a:defRPr/>
            </a:pPr>
            <a:r>
              <a:rPr lang="ko-KR" altLang="en-US" dirty="0" err="1"/>
              <a:t>대분류</a:t>
            </a:r>
            <a:endParaRPr lang="ko-KR" altLang="en-US" dirty="0"/>
          </a:p>
        </p:txBody>
      </p:sp>
      <p:cxnSp>
        <p:nvCxnSpPr>
          <p:cNvPr id="40" name="직선 연결선 39"/>
          <p:cNvCxnSpPr/>
          <p:nvPr userDrawn="1"/>
        </p:nvCxnSpPr>
        <p:spPr>
          <a:xfrm>
            <a:off x="95542" y="174196"/>
            <a:ext cx="556233" cy="0"/>
          </a:xfrm>
          <a:prstGeom prst="line">
            <a:avLst/>
          </a:prstGeom>
          <a:ln w="38100">
            <a:solidFill>
              <a:srgbClr val="18AF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>
            <a:endCxn id="42" idx="0"/>
          </p:cNvCxnSpPr>
          <p:nvPr userDrawn="1"/>
        </p:nvCxnSpPr>
        <p:spPr>
          <a:xfrm>
            <a:off x="1" y="747712"/>
            <a:ext cx="12191999" cy="0"/>
          </a:xfrm>
          <a:prstGeom prst="line">
            <a:avLst/>
          </a:prstGeom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부제목 2"/>
          <p:cNvSpPr txBox="1">
            <a:spLocks/>
          </p:cNvSpPr>
          <p:nvPr userDrawn="1"/>
        </p:nvSpPr>
        <p:spPr>
          <a:xfrm>
            <a:off x="80142" y="324513"/>
            <a:ext cx="10716916" cy="396282"/>
          </a:xfrm>
          <a:prstGeom prst="rect">
            <a:avLst/>
          </a:prstGeom>
        </p:spPr>
        <p:txBody>
          <a:bodyPr vert="horz" lIns="84406" tIns="42203" rIns="84406" bIns="42203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 spc="-5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4408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Revision History</a:t>
            </a:r>
          </a:p>
        </p:txBody>
      </p:sp>
    </p:spTree>
    <p:extLst>
      <p:ext uri="{BB962C8B-B14F-4D97-AF65-F5344CB8AC3E}">
        <p14:creationId xmlns:p14="http://schemas.microsoft.com/office/powerpoint/2010/main" val="362747883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D18F411-8512-95B0-827E-7DC93222B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6F07DB-6065-232C-B3C5-3DD46F884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C95EF7-7EFF-3793-710A-36D12FB9DE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4A0020-A76E-4000-83DA-0C46D27B80A5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4F968A-71FF-95A6-02CC-5C0A068E4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4055C-5E88-0027-E1AC-9C70AC68A4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89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826638" y="997745"/>
            <a:ext cx="10708800" cy="682190"/>
          </a:xfrm>
        </p:spPr>
        <p:txBody>
          <a:bodyPr/>
          <a:lstStyle/>
          <a:p>
            <a:r>
              <a:rPr lang="en-US" altLang="ko-KR" dirty="0"/>
              <a:t>ODC-</a:t>
            </a:r>
            <a:r>
              <a:rPr lang="ko-KR" altLang="en-US" dirty="0"/>
              <a:t>패키지개발  프로세스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2025.08.06 </a:t>
            </a:r>
            <a:r>
              <a:rPr lang="ko-KR" altLang="en-US" dirty="0" err="1"/>
              <a:t>아시아클라우드사업팀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0770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ctrTitle"/>
          </p:nvPr>
        </p:nvSpPr>
        <p:spPr>
          <a:xfrm>
            <a:off x="2085600" y="979200"/>
            <a:ext cx="2865600" cy="1004363"/>
          </a:xfrm>
        </p:spPr>
        <p:txBody>
          <a:bodyPr>
            <a:normAutofit/>
          </a:bodyPr>
          <a:lstStyle/>
          <a:p>
            <a:pPr algn="l"/>
            <a:r>
              <a:rPr lang="en-US" altLang="ko-KR" sz="4800" b="1" spc="-200" dirty="0">
                <a:solidFill>
                  <a:srgbClr val="00963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Contents</a:t>
            </a:r>
            <a:endParaRPr lang="ko-KR" altLang="en-US" sz="4800" b="1" spc="-200" dirty="0">
              <a:solidFill>
                <a:srgbClr val="00963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부제목 2"/>
          <p:cNvSpPr>
            <a:spLocks noGrp="1"/>
          </p:cNvSpPr>
          <p:nvPr>
            <p:ph type="subTitle" idx="1"/>
          </p:nvPr>
        </p:nvSpPr>
        <p:spPr>
          <a:xfrm>
            <a:off x="2085600" y="2229357"/>
            <a:ext cx="5724000" cy="3468362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1.</a:t>
            </a:r>
            <a:r>
              <a:rPr lang="ko-KR" altLang="en-US" dirty="0"/>
              <a:t>전체 프로세스</a:t>
            </a:r>
            <a:endParaRPr lang="en-US" altLang="ko-KR" dirty="0"/>
          </a:p>
          <a:p>
            <a:pPr algn="l"/>
            <a:r>
              <a:rPr lang="en-US" altLang="ko-KR" dirty="0"/>
              <a:t>2.</a:t>
            </a:r>
            <a:r>
              <a:rPr lang="ko-KR" altLang="en-US" dirty="0"/>
              <a:t>스펙 작성 및 전달</a:t>
            </a:r>
            <a:r>
              <a:rPr lang="en-US" altLang="ko-KR" dirty="0"/>
              <a:t> </a:t>
            </a:r>
          </a:p>
          <a:p>
            <a:pPr algn="l"/>
            <a:r>
              <a:rPr lang="en-US" altLang="ko-KR" dirty="0"/>
              <a:t>3.</a:t>
            </a:r>
            <a:r>
              <a:rPr lang="ko-KR" altLang="en-US" dirty="0"/>
              <a:t>개발 및 테스트 </a:t>
            </a:r>
            <a:endParaRPr lang="en-US" altLang="ko-KR" dirty="0"/>
          </a:p>
          <a:p>
            <a:pPr algn="l"/>
            <a:r>
              <a:rPr lang="en-US" altLang="ko-KR" dirty="0"/>
              <a:t>4.QA </a:t>
            </a:r>
            <a:r>
              <a:rPr lang="ko-KR" altLang="en-US" dirty="0"/>
              <a:t>준비 </a:t>
            </a:r>
            <a:endParaRPr lang="en-US" altLang="ko-KR" dirty="0"/>
          </a:p>
          <a:p>
            <a:pPr algn="l"/>
            <a:r>
              <a:rPr lang="en-US" altLang="ko-KR" dirty="0"/>
              <a:t>5.QA</a:t>
            </a:r>
            <a:r>
              <a:rPr lang="ko-KR" altLang="en-US" dirty="0"/>
              <a:t> 진행 </a:t>
            </a:r>
            <a:endParaRPr lang="en-US" altLang="ko-KR" dirty="0"/>
          </a:p>
          <a:p>
            <a:pPr algn="l"/>
            <a:r>
              <a:rPr lang="en-US" altLang="ko-KR" dirty="0"/>
              <a:t>6.</a:t>
            </a:r>
            <a:r>
              <a:rPr lang="ko-KR" altLang="en-US" dirty="0"/>
              <a:t>출력물 개발 </a:t>
            </a:r>
            <a:endParaRPr lang="en-US" altLang="ko-KR" dirty="0"/>
          </a:p>
          <a:p>
            <a:pPr algn="l"/>
            <a:r>
              <a:rPr lang="en-US" altLang="ko-KR" dirty="0"/>
              <a:t>7.</a:t>
            </a:r>
            <a:r>
              <a:rPr lang="ko-KR" altLang="en-US" dirty="0"/>
              <a:t>산출물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38041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351730"/>
              </p:ext>
            </p:extLst>
          </p:nvPr>
        </p:nvGraphicFramePr>
        <p:xfrm>
          <a:off x="326018" y="859437"/>
          <a:ext cx="8732109" cy="5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827">
                  <a:extLst>
                    <a:ext uri="{9D8B030D-6E8A-4147-A177-3AD203B41FA5}">
                      <a16:colId xmlns:a16="http://schemas.microsoft.com/office/drawing/2014/main" val="1581350603"/>
                    </a:ext>
                  </a:extLst>
                </a:gridCol>
                <a:gridCol w="1039528">
                  <a:extLst>
                    <a:ext uri="{9D8B030D-6E8A-4147-A177-3AD203B41FA5}">
                      <a16:colId xmlns:a16="http://schemas.microsoft.com/office/drawing/2014/main" val="668356081"/>
                    </a:ext>
                  </a:extLst>
                </a:gridCol>
                <a:gridCol w="847023">
                  <a:extLst>
                    <a:ext uri="{9D8B030D-6E8A-4147-A177-3AD203B41FA5}">
                      <a16:colId xmlns:a16="http://schemas.microsoft.com/office/drawing/2014/main" val="457659344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803576337"/>
                    </a:ext>
                  </a:extLst>
                </a:gridCol>
                <a:gridCol w="997211">
                  <a:extLst>
                    <a:ext uri="{9D8B030D-6E8A-4147-A177-3AD203B41FA5}">
                      <a16:colId xmlns:a16="http://schemas.microsoft.com/office/drawing/2014/main" val="217435393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변경사유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0284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kern="12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8500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2148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6086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72867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1783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0502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8230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721464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5503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14144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42555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270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48184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409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6963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FA554-2DE0-B474-B8EF-7F130A7A7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62B62A-EAA4-900F-D48D-B14641869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0" dirty="0">
                <a:latin typeface="+mn-ea"/>
              </a:rPr>
              <a:t>1. </a:t>
            </a:r>
            <a:r>
              <a:rPr lang="ko-KR" altLang="en-US" dirty="0"/>
              <a:t>전체 프로세스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ED1EBC-F6B8-6812-BA21-400E04B44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088" y="1489636"/>
            <a:ext cx="9226887" cy="262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839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75B94B-2E4C-D693-6803-03BD1A8D8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0" dirty="0">
                <a:latin typeface="+mn-ea"/>
              </a:rPr>
              <a:t>2. </a:t>
            </a:r>
            <a:r>
              <a:rPr lang="ko-KR" altLang="en-US" dirty="0"/>
              <a:t>스펙 작성 및 전달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8CA4DBF-4B98-59A7-1321-B66EE83CB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06" y="1053507"/>
            <a:ext cx="9845893" cy="303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991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DEB5-406F-842F-2500-E0C8E602F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Role </a:t>
            </a:r>
            <a:r>
              <a:rPr lang="ko-KR" altLang="en-US" dirty="0"/>
              <a:t>정의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18E66EC-E1FD-C883-7667-197B2CF70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042" y="1802742"/>
            <a:ext cx="9129551" cy="186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231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A1AF5-5404-470D-C24B-FAC5A8F00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47EAB-0D23-26A6-BE73-91703DE3E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0" dirty="0">
                <a:latin typeface="+mn-ea"/>
              </a:rPr>
              <a:t>3. </a:t>
            </a:r>
            <a:r>
              <a:rPr lang="ko-KR" altLang="en-US" dirty="0"/>
              <a:t>개발 및 테스트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A6537D9-536B-8994-6D36-DC6BF3E7A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55" y="956190"/>
            <a:ext cx="8397968" cy="542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582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416633A-B048-072C-D9CC-4C9EEA4BC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93" y="-42422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Role </a:t>
            </a:r>
            <a:r>
              <a:rPr lang="ko-KR" altLang="en-US" sz="2000" dirty="0"/>
              <a:t>정의</a:t>
            </a:r>
            <a:endParaRPr lang="en-US" sz="2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068D199-609C-4887-62AC-FCE8FDBCD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95" y="901342"/>
            <a:ext cx="11210938" cy="386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480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B521D-A0B3-230E-DD11-FB45445C8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C7336-E1DE-3B8C-2BCD-A8D696F76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0" dirty="0">
                <a:latin typeface="+mn-ea"/>
              </a:rPr>
              <a:t>4. QA </a:t>
            </a:r>
            <a:r>
              <a:rPr lang="ko-KR" altLang="en-US" spc="0" dirty="0">
                <a:latin typeface="+mn-ea"/>
              </a:rPr>
              <a:t>준비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DFFAD09-32C3-8F41-A296-D6E84EBBA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873" y="694162"/>
            <a:ext cx="6721422" cy="602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002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8368F04-0E71-0E8A-25F8-573191CD4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96" y="0"/>
            <a:ext cx="10515600" cy="1325563"/>
          </a:xfrm>
        </p:spPr>
        <p:txBody>
          <a:bodyPr/>
          <a:lstStyle/>
          <a:p>
            <a:r>
              <a:rPr lang="en-US" dirty="0"/>
              <a:t>Role </a:t>
            </a:r>
            <a:r>
              <a:rPr lang="ko-KR" altLang="en-US" dirty="0"/>
              <a:t>정의</a:t>
            </a:r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7772A3A-CBFD-A041-DB14-168F31AEF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45" y="1325563"/>
            <a:ext cx="10333251" cy="237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91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D0CA3-62A0-9976-3491-3C0A3B7C4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033851-879B-1498-A95D-4C65371C7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5.QA</a:t>
            </a:r>
            <a:r>
              <a:rPr lang="ko-KR" altLang="en-US" dirty="0"/>
              <a:t> 진행 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5CD030F-0A68-D729-3A5C-93688882F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291" y="856084"/>
            <a:ext cx="8436071" cy="557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216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4370AE4-6F75-988D-2599-378B2057C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989"/>
            <a:ext cx="10515600" cy="1325563"/>
          </a:xfrm>
        </p:spPr>
        <p:txBody>
          <a:bodyPr/>
          <a:lstStyle/>
          <a:p>
            <a:r>
              <a:rPr lang="en-US" altLang="ko-KR" dirty="0"/>
              <a:t>Role </a:t>
            </a:r>
            <a:r>
              <a:rPr lang="ko-KR" altLang="en-US" dirty="0"/>
              <a:t>정의</a:t>
            </a:r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5381D3F-8DE9-C0A6-B4D5-45E30B231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97" y="1405552"/>
            <a:ext cx="11849503" cy="347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462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4F5E8D-439A-B214-8BD7-32DE1A50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</a:t>
            </a:r>
            <a:r>
              <a:rPr lang="ko-KR" altLang="en-US" dirty="0"/>
              <a:t>출력물 개발 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B589143-B11B-53B6-EF31-E838ACBBD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31" y="1459974"/>
            <a:ext cx="6736664" cy="41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092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7F823-5F7B-3F7B-B1C1-0E01FFB4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119318"/>
            <a:ext cx="10515600" cy="1325563"/>
          </a:xfrm>
        </p:spPr>
        <p:txBody>
          <a:bodyPr/>
          <a:lstStyle/>
          <a:p>
            <a:r>
              <a:rPr lang="en-US" altLang="ko-KR" dirty="0"/>
              <a:t>Role </a:t>
            </a:r>
            <a:r>
              <a:rPr lang="ko-KR" altLang="en-US" dirty="0"/>
              <a:t>정의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88F6A3D-A9CC-8436-F0A3-32E615E4D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01" y="1501928"/>
            <a:ext cx="10963663" cy="169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971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BA652E-27EC-8F11-0419-486393C3A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산출물 </a:t>
            </a:r>
            <a:r>
              <a:rPr lang="en-US" altLang="ko-KR" dirty="0"/>
              <a:t>Role </a:t>
            </a:r>
            <a:r>
              <a:rPr lang="ko-KR" altLang="en-US" dirty="0"/>
              <a:t>정의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672E7D-7289-9CA9-D1C6-BDE84A222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791" y="2021183"/>
            <a:ext cx="9114310" cy="183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027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9F93B-1BC6-E66F-A698-7C36BD7B1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C00438-E22F-9709-2739-01208F991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</a:t>
            </a:r>
            <a:r>
              <a:rPr lang="en-US" altLang="ko-KR" dirty="0"/>
              <a:t>Role </a:t>
            </a:r>
            <a:r>
              <a:rPr lang="ko-KR" altLang="en-US" dirty="0"/>
              <a:t>정의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836E98-89A8-98B7-F071-B83521F3B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91" y="1972375"/>
            <a:ext cx="9000159" cy="201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161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</TotalTime>
  <Words>298</Words>
  <Application>Microsoft Office PowerPoint</Application>
  <PresentationFormat>와이드스크린</PresentationFormat>
  <Paragraphs>54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나눔고딕</vt:lpstr>
      <vt:lpstr>맑은 고딕</vt:lpstr>
      <vt:lpstr>Arial</vt:lpstr>
      <vt:lpstr>Office 테마</vt:lpstr>
      <vt:lpstr>PowerPoint 프레젠테이션</vt:lpstr>
      <vt:lpstr>Contents</vt:lpstr>
      <vt:lpstr>PowerPoint 프레젠테이션</vt:lpstr>
      <vt:lpstr>1. 전체 프로세스</vt:lpstr>
      <vt:lpstr>2. 스펙 작성 및 전달 </vt:lpstr>
      <vt:lpstr>Role 정의</vt:lpstr>
      <vt:lpstr>3. 개발 및 테스트 </vt:lpstr>
      <vt:lpstr>Role 정의</vt:lpstr>
      <vt:lpstr>4. QA 준비</vt:lpstr>
      <vt:lpstr>Role 정의</vt:lpstr>
      <vt:lpstr>5.QA 진행 </vt:lpstr>
      <vt:lpstr>Role 정의</vt:lpstr>
      <vt:lpstr>6.출력물 개발  </vt:lpstr>
      <vt:lpstr>Role 정의</vt:lpstr>
      <vt:lpstr>산출물 Role 정의</vt:lpstr>
      <vt:lpstr>기타 Role 정의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 명남</dc:creator>
  <cp:lastModifiedBy>김 명남</cp:lastModifiedBy>
  <cp:revision>39</cp:revision>
  <dcterms:created xsi:type="dcterms:W3CDTF">2025-08-06T04:42:46Z</dcterms:created>
  <dcterms:modified xsi:type="dcterms:W3CDTF">2025-08-12T06:10:17Z</dcterms:modified>
</cp:coreProperties>
</file>